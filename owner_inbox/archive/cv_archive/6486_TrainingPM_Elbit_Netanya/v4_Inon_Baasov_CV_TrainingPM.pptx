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5DF29-EEDA-4695-8AD7-D679D952D93F}" v="6" dt="2026-01-25T09:42:30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172" y="90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25T09:42:29.749" v="906" actId="1038"/>
      <pc:docMkLst>
        <pc:docMk/>
      </pc:docMkLst>
      <pc:sldChg chg="addSp delSp modSp mod modClrScheme chgLayout">
        <pc:chgData name="Inon Baasov" userId="675f8575db202d33" providerId="LiveId" clId="{6535A8C2-D6D1-40A6-B57B-6CAB1510FB70}" dt="2026-01-25T09:42:29.749" v="906" actId="1038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3" creationId="{550F18B5-1245-2B4C-AA47-F39938FA615F}"/>
          </ac:spMkLst>
        </pc:spChg>
        <pc:spChg chg="mod">
          <ac:chgData name="Inon Baasov" userId="675f8575db202d33" providerId="LiveId" clId="{6535A8C2-D6D1-40A6-B57B-6CAB1510FB70}" dt="2026-01-01T17:05:44.588" v="778" actId="3064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01T17:11:30.676" v="871" actId="6549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01T17:11:47.326" v="875" actId="6549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01T17:11:50.164" v="876" actId="6549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01T17:12:00.015" v="879" actId="20577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25T09:42:29.749" v="906" actId="1038"/>
          <ac:spMkLst>
            <pc:docMk/>
            <pc:sldMk cId="1945325877" sldId="260"/>
            <ac:spMk id="13" creationId="{4249E103-E362-6B04-7D88-6E8B0D33FDDF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3" creationId="{2FD50699-45B5-88EC-1B42-E5597AB067CD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4" creationId="{132E1DF2-8DF7-6940-4374-52DB65EC3761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5" creationId="{23DA089B-1D05-556D-253C-262F0FA50B68}"/>
          </ac:spMkLst>
        </pc:spChg>
        <pc:spChg chg="mod">
          <ac:chgData name="Inon Baasov" userId="675f8575db202d33" providerId="LiveId" clId="{6535A8C2-D6D1-40A6-B57B-6CAB1510FB70}" dt="2026-01-01T17:11:41.287" v="874" actId="20577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174" creationId="{67D1E309-1ED9-E676-89A4-61C198105A9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231" creationId="{341669B1-8344-D7A4-D12E-8D04FAB5F455}"/>
          </ac:spMkLst>
        </pc:spChg>
        <pc:grpChg chg="mod">
          <ac:chgData name="Inon Baasov" userId="675f8575db202d33" providerId="LiveId" clId="{6535A8C2-D6D1-40A6-B57B-6CAB1510FB70}" dt="2026-01-01T17:03:48.633" v="745" actId="1035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01T17:06:55.329" v="819" actId="1037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01T17:07:35.375" v="852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921338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21204" y="922732"/>
            <a:ext cx="1451313" cy="207705"/>
          </a:xfrm>
        </p:spPr>
        <p:txBody>
          <a:bodyPr/>
          <a:lstStyle/>
          <a:p>
            <a:r>
              <a:rPr lang="en-US" dirty="0">
                <a:solidFill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513374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922284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466520" y="9225307"/>
            <a:ext cx="6645792" cy="936311"/>
            <a:chOff x="93673" y="1854031"/>
            <a:chExt cx="2936874" cy="349897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893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446088" y="1303882"/>
            <a:ext cx="6666225" cy="1631423"/>
            <a:chOff x="2730795" y="1315393"/>
            <a:chExt cx="4090720" cy="2269810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6"/>
              <a:ext cx="4090720" cy="1934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Principal Product Owner </a:t>
              </a:r>
              <a:r>
                <a:rPr lang="en-US" sz="1100" dirty="0">
                  <a:latin typeface="Overpass" pitchFamily="2" charset="0"/>
                </a:rPr>
                <a:t>with 10+ years leading cross-functional teams to deliver SaaS and cloud-based solutions. Proven record in translating complex </a:t>
              </a:r>
              <a:r>
                <a:rPr lang="en-US" sz="1100" b="1" dirty="0">
                  <a:latin typeface="Overpass" pitchFamily="2" charset="0"/>
                </a:rPr>
                <a:t>system architecture </a:t>
              </a:r>
              <a:r>
                <a:rPr lang="en-US" sz="1100" dirty="0">
                  <a:latin typeface="Overpass" pitchFamily="2" charset="0"/>
                </a:rPr>
                <a:t>requirements into actionable product roadmaps for high-availability platforms. Experienced in bridging business, engineering, and algorithm teams to prioritize </a:t>
              </a:r>
              <a:r>
                <a:rPr lang="en-US" sz="1100" b="1" dirty="0">
                  <a:latin typeface="Overpass" pitchFamily="2" charset="0"/>
                </a:rPr>
                <a:t>backend services, microservices</a:t>
              </a:r>
              <a:r>
                <a:rPr lang="en-US" sz="1100" dirty="0">
                  <a:latin typeface="Overpass" pitchFamily="2" charset="0"/>
                </a:rPr>
                <a:t>, and data distribution mechanisms. Passionate about building robust infrastructure for </a:t>
              </a:r>
              <a:r>
                <a:rPr lang="en-US" sz="1100" b="1" dirty="0">
                  <a:latin typeface="Overpass" pitchFamily="2" charset="0"/>
                </a:rPr>
                <a:t>regulated, mission-critical</a:t>
              </a:r>
              <a:r>
                <a:rPr lang="en-US" sz="1100" dirty="0">
                  <a:latin typeface="Overpass" pitchFamily="2" charset="0"/>
                </a:rPr>
                <a:t> ecosystems.</a:t>
              </a:r>
            </a:p>
            <a:p>
              <a:r>
                <a:rPr lang="en-US" sz="1100" dirty="0">
                  <a:latin typeface="Overpass" pitchFamily="2" charset="0"/>
                </a:rPr>
                <a:t>Key Skills: Technical Product Management | API Lifecycle Management | Cloud Infrastructure (AWS) | System Architecture Alignment | Microservices Strategy | Backend Roadmap Prioritization | Identity Management (IAM)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359504" y="2882612"/>
            <a:ext cx="6726870" cy="6434491"/>
            <a:chOff x="161926" y="3425452"/>
            <a:chExt cx="6590843" cy="47176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52"/>
              <a:ext cx="6590843" cy="4717636"/>
              <a:chOff x="78398" y="3403413"/>
              <a:chExt cx="6718755" cy="354245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3"/>
                <a:ext cx="6718755" cy="3542452"/>
                <a:chOff x="-24741" y="2575123"/>
                <a:chExt cx="6949855" cy="2747394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212460"/>
                  <a:ext cx="6943718" cy="6654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050" b="1" i="1" dirty="0">
                      <a:latin typeface="Overpass" pitchFamily="2" charset="0"/>
                    </a:rPr>
                    <a:t>Senior Product/Project Manager 	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         </a:t>
                  </a:r>
                  <a:r>
                    <a:rPr lang="en-US" sz="1200" b="1" dirty="0">
                      <a:latin typeface="Overpass" pitchFamily="2" charset="0"/>
                    </a:rPr>
                    <a:t> 2013 - 2018 </a:t>
                  </a:r>
                  <a:endParaRPr lang="en-US" sz="1100" b="1" dirty="0">
                    <a:latin typeface="Overpass" pitchFamily="2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from Product Manager (2013-2015) to Senior PM (2015-2018)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secure financial platform projects, introducing Agile frameworks that cut time-to-market by 20%.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Oversaw global development and external UX teams, ensuring roadmap execution and stakeholder alignment for high-volume transaction systems.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Monitored budgets and risks while delivering measurable performance improvements (+22% quarterly usage, +15% revenue expansion).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843238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	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2011 - 2013</a:t>
                  </a:r>
                  <a:endPara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QA processes for medical devices, ensuring compliance (ISO standards) under strict deadlines.</a:t>
                  </a:r>
                  <a:endParaRPr lang="it-IT" sz="1600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086051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Regulatory Affairs Consultant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2009 - 2011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Advised pharma companies on regulatory project documentation and compliance affairs</a:t>
                  </a: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28406"/>
                <a:ext cx="6713716" cy="1140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 interactive video SaaS</a:t>
                </a:r>
                <a:r>
                  <a:rPr lang="en-US" sz="1050" b="1" i="1" dirty="0">
                    <a:latin typeface="Overpass" pitchFamily="2" charset="0"/>
                  </a:rPr>
                  <a:t>  </a:t>
                </a:r>
                <a:r>
                  <a:rPr lang="en-US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en-US" sz="1050" b="1" i="1" dirty="0">
                    <a:latin typeface="Overpass" pitchFamily="2" charset="0"/>
                  </a:rPr>
                  <a:t>Co-Founder &amp; Product/Project Lead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2018 - 2024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Backend Strategy</a:t>
                </a:r>
                <a:r>
                  <a:rPr lang="en-US" sz="1100" dirty="0">
                    <a:latin typeface="Overpass" pitchFamily="2" charset="0"/>
                  </a:rPr>
                  <a:t>: Led the product strategy for a high-throughput video PaaS. Defined roadmap for core infrastructure, </a:t>
                </a:r>
                <a:r>
                  <a:rPr lang="en-US" sz="1100" b="1" dirty="0">
                    <a:latin typeface="Overpass" pitchFamily="2" charset="0"/>
                  </a:rPr>
                  <a:t>API distribution</a:t>
                </a:r>
                <a:r>
                  <a:rPr lang="en-US" sz="1100" dirty="0">
                    <a:latin typeface="Overpass" pitchFamily="2" charset="0"/>
                  </a:rPr>
                  <a:t>, and cloud scalability (AWS) to support real-time streaming, securing $2.5M in funding.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Architecture &amp; Microservices</a:t>
                </a:r>
                <a:r>
                  <a:rPr lang="en-US" sz="1100" dirty="0">
                    <a:latin typeface="Overpass" pitchFamily="2" charset="0"/>
                  </a:rPr>
                  <a:t>: Managed prioritization of </a:t>
                </a:r>
                <a:r>
                  <a:rPr lang="en-US" sz="1100" b="1" dirty="0">
                    <a:latin typeface="Overpass" pitchFamily="2" charset="0"/>
                  </a:rPr>
                  <a:t>microservices</a:t>
                </a:r>
                <a:r>
                  <a:rPr lang="en-US" sz="1100" dirty="0">
                    <a:latin typeface="Overpass" pitchFamily="2" charset="0"/>
                  </a:rPr>
                  <a:t> and data pipelines for Web, Mobile, and Smart-TV endpoints. Collaborated with System Architects to define </a:t>
                </a:r>
                <a:r>
                  <a:rPr lang="en-US" sz="1100" b="1" dirty="0">
                    <a:latin typeface="Overpass" pitchFamily="2" charset="0"/>
                  </a:rPr>
                  <a:t>API contracts </a:t>
                </a:r>
                <a:r>
                  <a:rPr lang="en-US" sz="1100" dirty="0">
                    <a:latin typeface="Overpass" pitchFamily="2" charset="0"/>
                  </a:rPr>
                  <a:t>and data flow requirements.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Security &amp; Identity</a:t>
                </a:r>
                <a:r>
                  <a:rPr lang="en-US" sz="1100" dirty="0">
                    <a:latin typeface="Overpass" pitchFamily="2" charset="0"/>
                  </a:rPr>
                  <a:t>: Directed complex 3rd-party integrations and </a:t>
                </a:r>
                <a:r>
                  <a:rPr lang="en-US" sz="1100" b="1" dirty="0">
                    <a:latin typeface="Overpass" pitchFamily="2" charset="0"/>
                  </a:rPr>
                  <a:t>Identity Management (IAM) </a:t>
                </a:r>
                <a:r>
                  <a:rPr lang="en-US" sz="1100" dirty="0">
                    <a:latin typeface="Overpass" pitchFamily="2" charset="0"/>
                  </a:rPr>
                  <a:t>workflows (SSO/Auth) for enterprise partners, ensuring secure data distribution.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Agile Leadership: </a:t>
                </a:r>
                <a:r>
                  <a:rPr lang="en-US" sz="1100" dirty="0">
                    <a:latin typeface="Overpass" pitchFamily="2" charset="0"/>
                  </a:rPr>
                  <a:t>Led development processes, defining user stories and acceptance criteria in collaboration with engineering and algorithm teams, boosting efficiency by 38%.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2181"/>
              <a:ext cx="6568161" cy="12166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it-IT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it-IT" sz="105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 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            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Designing </a:t>
              </a:r>
              <a:r>
                <a:rPr lang="en-US" sz="1100" b="1" dirty="0">
                  <a:latin typeface="Overpass" pitchFamily="2" charset="0"/>
                </a:rPr>
                <a:t>model orchestration layers </a:t>
              </a:r>
              <a:r>
                <a:rPr lang="en-US" sz="1100" dirty="0">
                  <a:latin typeface="Overpass" pitchFamily="2" charset="0"/>
                </a:rPr>
                <a:t>and data pipelines for AI startups, focusing on latency, cost-optimization, and backend stability.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technical product strategy for GenAI models, including </a:t>
              </a:r>
              <a:r>
                <a:rPr lang="en-US" sz="1100" b="1" dirty="0">
                  <a:latin typeface="Overpass" pitchFamily="2" charset="0"/>
                </a:rPr>
                <a:t>API usage patterns </a:t>
              </a:r>
              <a:r>
                <a:rPr lang="en-US" sz="1100" dirty="0">
                  <a:latin typeface="Overpass" pitchFamily="2" charset="0"/>
                </a:rPr>
                <a:t>and data evaluation loops to ensure system quality and performance.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Leading project delivery for digital ventures (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), translating complex operational needs into scalable </a:t>
              </a:r>
              <a:r>
                <a:rPr lang="en-US" sz="1100" b="1" dirty="0">
                  <a:latin typeface="Overpass" pitchFamily="2" charset="0"/>
                </a:rPr>
                <a:t>backend architectures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project milestones and resource allocation for </a:t>
              </a:r>
              <a:r>
                <a:rPr lang="en-US" sz="1100" b="1" dirty="0">
                  <a:latin typeface="Overpass" pitchFamily="2" charset="0"/>
                </a:rPr>
                <a:t>cloud-based solutions</a:t>
              </a:r>
              <a:r>
                <a:rPr lang="en-US" sz="1100" dirty="0">
                  <a:latin typeface="Overpass" pitchFamily="2" charset="0"/>
                </a:rPr>
                <a:t>, ensuring alignment with regulatory and security standards.</a:t>
              </a:r>
              <a:endParaRPr lang="it-IT" sz="1100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43" name="TextBox 242"/>
          <p:cNvSpPr txBox="1"/>
          <p:nvPr/>
        </p:nvSpPr>
        <p:spPr>
          <a:xfrm>
            <a:off x="365760" y="1176157"/>
            <a:ext cx="682815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latin typeface="Overpass"/>
              </a:rPr>
              <a:t>Portfolio  </a:t>
            </a:r>
            <a:r>
              <a:rPr sz="1100" dirty="0">
                <a:latin typeface="Overpass"/>
              </a:rPr>
              <a:t>inon</a:t>
            </a:r>
            <a:r>
              <a:rPr lang="en-US" sz="1100" dirty="0">
                <a:latin typeface="Overpass"/>
              </a:rPr>
              <a:t>-</a:t>
            </a:r>
            <a:r>
              <a:rPr sz="1100" dirty="0">
                <a:latin typeface="Overpass"/>
              </a:rPr>
              <a:t>baasov-website.base44.app</a:t>
            </a: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131413</TotalTime>
  <Words>557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16</cp:revision>
  <dcterms:created xsi:type="dcterms:W3CDTF">2024-07-25T09:15:15Z</dcterms:created>
  <dcterms:modified xsi:type="dcterms:W3CDTF">2026-05-06T13:09:27Z</dcterms:modified>
</cp:coreProperties>
</file>