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 varScale="1">
        <p:scale>
          <a:sx n="70" d="100"/>
          <a:sy n="70" d="100"/>
        </p:scale>
        <p:origin x="648" y="288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custSel modSld">
      <pc:chgData name="Inon Baasov" userId="675f8575db202d33" providerId="LiveId" clId="{6535A8C2-D6D1-40A6-B57B-6CAB1510FB70}" dt="2025-10-16T09:30:20.824" v="37" actId="478"/>
      <pc:docMkLst>
        <pc:docMk/>
      </pc:docMkLst>
      <pc:sldChg chg="addSp delSp modSp mod">
        <pc:chgData name="Inon Baasov" userId="675f8575db202d33" providerId="LiveId" clId="{6535A8C2-D6D1-40A6-B57B-6CAB1510FB70}" dt="2025-10-16T09:30:20.824" v="37" actId="478"/>
        <pc:sldMkLst>
          <pc:docMk/>
          <pc:sldMk cId="1945325877" sldId="260"/>
        </pc:sldMkLst>
        <pc:spChg chg="add del mod">
          <ac:chgData name="Inon Baasov" userId="675f8575db202d33" providerId="LiveId" clId="{6535A8C2-D6D1-40A6-B57B-6CAB1510FB70}" dt="2025-10-16T09:30:20.824" v="37" actId="478"/>
          <ac:spMkLst>
            <pc:docMk/>
            <pc:sldMk cId="1945325877" sldId="260"/>
            <ac:spMk id="14" creationId="{8D62B733-32CD-CEF3-B4AA-576CDF7BF75C}"/>
          </ac:spMkLst>
        </pc:spChg>
      </pc:sldChg>
    </pc:docChg>
  </pc:docChgLst>
  <pc:docChgLst>
    <pc:chgData name="Inon Baasov" userId="675f8575db202d33" providerId="LiveId" clId="{95487ABC-A2DD-41F7-97A3-F61E78069232}"/>
    <pc:docChg chg="undo custSel modSld">
      <pc:chgData name="Inon Baasov" userId="675f8575db202d33" providerId="LiveId" clId="{95487ABC-A2DD-41F7-97A3-F61E78069232}" dt="2025-07-12T15:05:05.873" v="954" actId="113"/>
      <pc:docMkLst>
        <pc:docMk/>
      </pc:docMkLst>
      <pc:sldChg chg="addSp modSp mod">
        <pc:chgData name="Inon Baasov" userId="675f8575db202d33" providerId="LiveId" clId="{95487ABC-A2DD-41F7-97A3-F61E78069232}" dt="2025-07-12T15:05:05.873" v="954" actId="113"/>
        <pc:sldMkLst>
          <pc:docMk/>
          <pc:sldMk cId="1945325877" sldId="260"/>
        </pc:sldMkLst>
      </pc:sldChg>
    </pc:docChg>
  </pc:docChgLst>
  <pc:docChgLst>
    <pc:chgData name="Inon Baasov" userId="675f8575db202d33" providerId="LiveId" clId="{5B169338-06AD-45C9-A04B-8210E0B1F0F6}"/>
    <pc:docChg chg="modSld">
      <pc:chgData name="Inon Baasov" userId="675f8575db202d33" providerId="LiveId" clId="{5B169338-06AD-45C9-A04B-8210E0B1F0F6}" dt="2025-07-29T09:10:23.808" v="9" actId="20577"/>
      <pc:docMkLst>
        <pc:docMk/>
      </pc:docMkLst>
      <pc:sldChg chg="modSp mod">
        <pc:chgData name="Inon Baasov" userId="675f8575db202d33" providerId="LiveId" clId="{5B169338-06AD-45C9-A04B-8210E0B1F0F6}" dt="2025-07-29T09:10:23.808" v="9" actId="20577"/>
        <pc:sldMkLst>
          <pc:docMk/>
          <pc:sldMk cId="1945325877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ouchetv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161051" y="2327815"/>
            <a:ext cx="6585022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</a:t>
              </a:r>
              <a:b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161052" y="933654"/>
            <a:ext cx="6586775" cy="1509420"/>
            <a:chOff x="2730795" y="1315393"/>
            <a:chExt cx="4090720" cy="2100067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90720" cy="1777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Senior product leader </a:t>
              </a:r>
              <a:r>
                <a:rPr lang="en-US" sz="1100" dirty="0">
                  <a:latin typeface="Overpass" pitchFamily="2" charset="0"/>
                </a:rPr>
                <a:t>with 10+ years driving B2B2C SaaS, AdTech, and E-commerce products. As </a:t>
              </a:r>
              <a:r>
                <a:rPr lang="en-US" sz="1100" b="1" dirty="0">
                  <a:latin typeface="Overpass" pitchFamily="2" charset="0"/>
                </a:rPr>
                <a:t>CPO</a:t>
              </a:r>
              <a:r>
                <a:rPr lang="en-US" sz="1100" dirty="0">
                  <a:latin typeface="Overpass" pitchFamily="2" charset="0"/>
                </a:rPr>
                <a:t> and </a:t>
              </a:r>
              <a:r>
                <a:rPr lang="en-US" sz="1100" b="1" dirty="0">
                  <a:latin typeface="Overpass" pitchFamily="2" charset="0"/>
                </a:rPr>
                <a:t>co-founder</a:t>
              </a:r>
              <a:r>
                <a:rPr lang="en-US" sz="1100" dirty="0">
                  <a:latin typeface="Overpass" pitchFamily="2" charset="0"/>
                </a:rPr>
                <a:t>, I led strategy, product, and GTM, raising </a:t>
              </a:r>
              <a:r>
                <a:rPr lang="en-US" sz="1100" b="1" dirty="0">
                  <a:latin typeface="Overpass" pitchFamily="2" charset="0"/>
                </a:rPr>
                <a:t>$2.5M </a:t>
              </a:r>
              <a:r>
                <a:rPr lang="en-US" sz="1100" dirty="0">
                  <a:latin typeface="Overpass" pitchFamily="2" charset="0"/>
                </a:rPr>
                <a:t>in seed funding. Proven track record as a </a:t>
              </a:r>
              <a:r>
                <a:rPr lang="it-IT" sz="1100" b="1" dirty="0">
                  <a:latin typeface="Overpass" pitchFamily="2" charset="0"/>
                </a:rPr>
                <a:t>senior product owner/manager </a:t>
              </a:r>
              <a:r>
                <a:rPr lang="en-US" sz="1100" dirty="0">
                  <a:latin typeface="Overpass" pitchFamily="2" charset="0"/>
                </a:rPr>
                <a:t>in defining product vision, pricing, and ROI, </a:t>
              </a:r>
              <a:r>
                <a:rPr lang="it-IT" sz="1100" dirty="0">
                  <a:latin typeface="Overpass" pitchFamily="2" charset="0"/>
                </a:rPr>
                <a:t>achieving +22% quarterly adoption, </a:t>
              </a:r>
              <a:r>
                <a:rPr lang="en-US" sz="1100" dirty="0">
                  <a:latin typeface="Overpass" pitchFamily="2" charset="0"/>
                </a:rPr>
                <a:t>and executing data-driven roadmaps. Expert in scaling cloud platforms, applying AI insights, and shaping product-market fit. Passionate about building high-performing teams, mentoring talent, solving complex challenges, and delivering user-centric, revenue-generating solutions.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61926" y="3469003"/>
            <a:ext cx="6590843" cy="5418002"/>
            <a:chOff x="161926" y="3469003"/>
            <a:chExt cx="6590843" cy="541800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69003"/>
              <a:ext cx="6590843" cy="5418002"/>
              <a:chOff x="78398" y="3436114"/>
              <a:chExt cx="6718755" cy="4068361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36114"/>
                <a:ext cx="6718755" cy="4068361"/>
                <a:chOff x="-24741" y="2600483"/>
                <a:chExt cx="6949855" cy="3155264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327939"/>
                  <a:ext cx="6943718" cy="86190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Arena Plus Financial Services Ltd.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 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 </a:t>
                  </a: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Senior Product Manager		        2015–2018</a:t>
                  </a:r>
                  <a:br>
                    <a:rPr lang="en-US" sz="1100" dirty="0">
                      <a:latin typeface="Overpass" pitchFamily="2" charset="0"/>
                    </a:rPr>
                  </a:br>
                  <a:r>
                    <a:rPr lang="en-US" sz="1100" dirty="0">
                      <a:latin typeface="Overpass" pitchFamily="2" charset="0"/>
                    </a:rPr>
                    <a:t>Led cross-functional initiatives and introduced Agile practices, reducing time-to-market by 20%. Managed global dev teams and external UX partners. Built and executed data-driven roadmaps to enhance product performance and engagement.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Product Manager			        2013–2015</a:t>
                  </a:r>
                  <a:br>
                    <a:rPr lang="en-US" sz="1100" dirty="0">
                      <a:latin typeface="Overpass" pitchFamily="2" charset="0"/>
                    </a:rPr>
                  </a:br>
                  <a:r>
                    <a:rPr lang="en-US" sz="1100" dirty="0">
                      <a:latin typeface="Overpass" pitchFamily="2" charset="0"/>
                    </a:rPr>
                    <a:t>Drove 15% business growth and +22% quarterly adoption through hands-on product execution. Progressed to Senior PM by leading strategic planning and cross-team coordination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60048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5143237"/>
                  <a:ext cx="6943717" cy="3046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	        2011 - 2013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– </a:t>
                  </a:r>
                  <a:r>
                    <a:rPr lang="en-US" sz="900" dirty="0">
                      <a:latin typeface="Overpass" pitchFamily="2" charset="0"/>
                    </a:rPr>
                    <a:t>"Quality means doing it right when no one is looking“, H. Ford. QA manager in the fields of Medical food for neonates and Medical devices.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451083"/>
                  <a:ext cx="6931149" cy="3046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5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 2009 - 2011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Affairs Consultant – </a:t>
                  </a:r>
                  <a:r>
                    <a:rPr lang="it-IT" sz="9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Consulting and providing regulatory services to major Pharma players in Israel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086131"/>
                <a:ext cx="6713716" cy="1637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TouchE TV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	        		      2018 - 2024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200" b="1" dirty="0">
                    <a:latin typeface="Overpass" pitchFamily="2" charset="0"/>
                  </a:rPr>
                  <a:t>Co-Founder &amp; Chief Product Officer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Led the product vision for an </a:t>
                </a:r>
                <a:r>
                  <a:rPr lang="en-US" sz="1100" b="1" dirty="0">
                    <a:latin typeface="Overpass" pitchFamily="2" charset="0"/>
                  </a:rPr>
                  <a:t>AI</a:t>
                </a:r>
                <a:r>
                  <a:rPr lang="en-US" sz="1100" dirty="0">
                    <a:latin typeface="Overpass" pitchFamily="2" charset="0"/>
                  </a:rPr>
                  <a:t>-powered interactive video platform, securing $2.5M in seed funding by articulating to investors a strong roadmap and strategy in a high-uncertainty startup env.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Built and scaled cross-functional teams (design, engineering, product, QA, data), recruiting, mentoring, and empowering team leads to drive delivery and outcomes.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Oversaw product strategy and development across Web, Mobile, and Smart‑TV under Agile, unifying UX and ensuring cohesive and consistent, platform-wide experiences.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Formed strategic alliances with enterprise clients and tech vendors, accelerating GTM, broadening platform reach, and supporting seamless integration with optimized cloud infrastructure.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Ensured platform scalability and resilience while driving continuous improvements in engagement, retention, and monetization through a clear, data-driven roadmap.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707745"/>
              <a:ext cx="6568161" cy="62042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Product Strategy Consultant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	      2024 - Present</a:t>
              </a:r>
            </a:p>
            <a:p>
              <a:pPr marL="171450" indent="-171450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Overpass" pitchFamily="2" charset="0"/>
                </a:rPr>
                <a:t>Advising early-stage and pre-seed startups on product vision, strategy, and execution—specializing in AI integration and scalable digital experiences.</a:t>
              </a:r>
              <a:endParaRPr lang="it-IT" sz="1200" i="1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115476</TotalTime>
  <Words>534</Words>
  <Application>Microsoft Office PowerPoint</Application>
  <PresentationFormat>Letter Paper (8.5x11 in)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11</cp:revision>
  <dcterms:created xsi:type="dcterms:W3CDTF">2024-07-25T09:15:15Z</dcterms:created>
  <dcterms:modified xsi:type="dcterms:W3CDTF">2025-10-16T09:30:22Z</dcterms:modified>
</cp:coreProperties>
</file>