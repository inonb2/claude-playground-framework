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31F871-72DA-4FF4-9818-AFE5418EFCB4}" v="16" dt="2025-02-12T10:46:51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1128" y="-2945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BA31F871-72DA-4FF4-9818-AFE5418EFCB4}"/>
    <pc:docChg chg="modSld">
      <pc:chgData name="Inon Baasov" userId="675f8575db202d33" providerId="LiveId" clId="{BA31F871-72DA-4FF4-9818-AFE5418EFCB4}" dt="2025-02-12T11:04:48.674" v="153" actId="20577"/>
      <pc:docMkLst>
        <pc:docMk/>
      </pc:docMkLst>
      <pc:sldChg chg="addSp modSp mod">
        <pc:chgData name="Inon Baasov" userId="675f8575db202d33" providerId="LiveId" clId="{BA31F871-72DA-4FF4-9818-AFE5418EFCB4}" dt="2025-02-12T11:04:48.674" v="153" actId="20577"/>
        <pc:sldMkLst>
          <pc:docMk/>
          <pc:sldMk cId="1945325877" sldId="260"/>
        </pc:sldMkLst>
        <pc:spChg chg="mod">
          <ac:chgData name="Inon Baasov" userId="675f8575db202d33" providerId="LiveId" clId="{BA31F871-72DA-4FF4-9818-AFE5418EFCB4}" dt="2025-02-12T10:22:56.443" v="1" actId="2711"/>
          <ac:spMkLst>
            <pc:docMk/>
            <pc:sldMk cId="1945325877" sldId="260"/>
            <ac:spMk id="5" creationId="{CD85A639-1B8A-878B-04BB-3EE82339007A}"/>
          </ac:spMkLst>
        </pc:spChg>
        <pc:spChg chg="add">
          <ac:chgData name="Inon Baasov" userId="675f8575db202d33" providerId="LiveId" clId="{BA31F871-72DA-4FF4-9818-AFE5418EFCB4}" dt="2025-02-12T10:44:26.958" v="42"/>
          <ac:spMkLst>
            <pc:docMk/>
            <pc:sldMk cId="1945325877" sldId="260"/>
            <ac:spMk id="7" creationId="{CC1DF321-D484-2E5E-68FC-BE4D59DA9F3B}"/>
          </ac:spMkLst>
        </pc:spChg>
        <pc:spChg chg="add mod">
          <ac:chgData name="Inon Baasov" userId="675f8575db202d33" providerId="LiveId" clId="{BA31F871-72DA-4FF4-9818-AFE5418EFCB4}" dt="2025-02-12T10:44:36.312" v="44"/>
          <ac:spMkLst>
            <pc:docMk/>
            <pc:sldMk cId="1945325877" sldId="260"/>
            <ac:spMk id="8" creationId="{15DBF847-8B5D-AFDE-82D2-EA28AAB62D31}"/>
          </ac:spMkLst>
        </pc:spChg>
        <pc:spChg chg="mod">
          <ac:chgData name="Inon Baasov" userId="675f8575db202d33" providerId="LiveId" clId="{BA31F871-72DA-4FF4-9818-AFE5418EFCB4}" dt="2025-02-12T11:04:43.634" v="152" actId="20577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BA31F871-72DA-4FF4-9818-AFE5418EFCB4}" dt="2025-02-12T11:04:39.548" v="150" actId="20577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BA31F871-72DA-4FF4-9818-AFE5418EFCB4}" dt="2025-02-12T10:57:54.547" v="149" actId="6549"/>
          <ac:spMkLst>
            <pc:docMk/>
            <pc:sldMk cId="1945325877" sldId="260"/>
            <ac:spMk id="11" creationId="{D6C75DF8-197B-BFD3-34D2-297D5EA3D213}"/>
          </ac:spMkLst>
        </pc:spChg>
        <pc:spChg chg="add">
          <ac:chgData name="Inon Baasov" userId="675f8575db202d33" providerId="LiveId" clId="{BA31F871-72DA-4FF4-9818-AFE5418EFCB4}" dt="2025-02-12T10:44:49.614" v="45"/>
          <ac:spMkLst>
            <pc:docMk/>
            <pc:sldMk cId="1945325877" sldId="260"/>
            <ac:spMk id="13" creationId="{FE9260B8-3957-2D64-40B0-07E6EC4FAEFC}"/>
          </ac:spMkLst>
        </pc:spChg>
        <pc:spChg chg="add">
          <ac:chgData name="Inon Baasov" userId="675f8575db202d33" providerId="LiveId" clId="{BA31F871-72DA-4FF4-9818-AFE5418EFCB4}" dt="2025-02-12T10:44:58.286" v="46"/>
          <ac:spMkLst>
            <pc:docMk/>
            <pc:sldMk cId="1945325877" sldId="260"/>
            <ac:spMk id="14" creationId="{583A9CA0-37AB-7F8D-C776-6137C3DAB3E7}"/>
          </ac:spMkLst>
        </pc:spChg>
        <pc:spChg chg="add">
          <ac:chgData name="Inon Baasov" userId="675f8575db202d33" providerId="LiveId" clId="{BA31F871-72DA-4FF4-9818-AFE5418EFCB4}" dt="2025-02-12T10:45:43.587" v="48"/>
          <ac:spMkLst>
            <pc:docMk/>
            <pc:sldMk cId="1945325877" sldId="260"/>
            <ac:spMk id="15" creationId="{F04BA7E6-23A8-7A63-58FF-DD97CDFA8194}"/>
          </ac:spMkLst>
        </pc:spChg>
        <pc:spChg chg="add">
          <ac:chgData name="Inon Baasov" userId="675f8575db202d33" providerId="LiveId" clId="{BA31F871-72DA-4FF4-9818-AFE5418EFCB4}" dt="2025-02-12T10:46:07.455" v="49"/>
          <ac:spMkLst>
            <pc:docMk/>
            <pc:sldMk cId="1945325877" sldId="260"/>
            <ac:spMk id="16" creationId="{1F3FC245-0E54-10B6-9F19-FCBA6FEAE8F5}"/>
          </ac:spMkLst>
        </pc:spChg>
        <pc:spChg chg="add">
          <ac:chgData name="Inon Baasov" userId="675f8575db202d33" providerId="LiveId" clId="{BA31F871-72DA-4FF4-9818-AFE5418EFCB4}" dt="2025-02-12T10:46:20.946" v="50"/>
          <ac:spMkLst>
            <pc:docMk/>
            <pc:sldMk cId="1945325877" sldId="260"/>
            <ac:spMk id="17" creationId="{7D70CCD2-0031-3D93-104D-24EF0189458E}"/>
          </ac:spMkLst>
        </pc:spChg>
        <pc:spChg chg="add">
          <ac:chgData name="Inon Baasov" userId="675f8575db202d33" providerId="LiveId" clId="{BA31F871-72DA-4FF4-9818-AFE5418EFCB4}" dt="2025-02-12T10:46:49.945" v="54"/>
          <ac:spMkLst>
            <pc:docMk/>
            <pc:sldMk cId="1945325877" sldId="260"/>
            <ac:spMk id="18" creationId="{DAAC0E72-4C73-7445-E5E1-A7525275386E}"/>
          </ac:spMkLst>
        </pc:spChg>
        <pc:spChg chg="mod">
          <ac:chgData name="Inon Baasov" userId="675f8575db202d33" providerId="LiveId" clId="{BA31F871-72DA-4FF4-9818-AFE5418EFCB4}" dt="2025-02-12T10:50:40.653" v="120" actId="1036"/>
          <ac:spMkLst>
            <pc:docMk/>
            <pc:sldMk cId="1945325877" sldId="260"/>
            <ac:spMk id="19" creationId="{51D7DC8D-2F99-AB46-78E2-B5E0C0325BF4}"/>
          </ac:spMkLst>
        </pc:spChg>
        <pc:spChg chg="mod">
          <ac:chgData name="Inon Baasov" userId="675f8575db202d33" providerId="LiveId" clId="{BA31F871-72DA-4FF4-9818-AFE5418EFCB4}" dt="2025-02-12T11:04:48.674" v="153" actId="20577"/>
          <ac:spMkLst>
            <pc:docMk/>
            <pc:sldMk cId="1945325877" sldId="260"/>
            <ac:spMk id="154" creationId="{7B120799-BCC3-8E46-2EA5-CFAE368C1FC7}"/>
          </ac:spMkLst>
        </pc:spChg>
        <pc:grpChg chg="mod">
          <ac:chgData name="Inon Baasov" userId="675f8575db202d33" providerId="LiveId" clId="{BA31F871-72DA-4FF4-9818-AFE5418EFCB4}" dt="2025-02-12T10:23:13.606" v="4" actId="1035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BA31F871-72DA-4FF4-9818-AFE5418EFCB4}" dt="2025-02-12T10:50:44.122" v="124" actId="1036"/>
          <ac:grpSpMkLst>
            <pc:docMk/>
            <pc:sldMk cId="1945325877" sldId="260"/>
            <ac:grpSpMk id="12" creationId="{CA96F9C5-B4EE-2CE6-5E39-6D2B06DDBAA4}"/>
          </ac:grpSpMkLst>
        </pc:grpChg>
        <pc:grpChg chg="mod">
          <ac:chgData name="Inon Baasov" userId="675f8575db202d33" providerId="LiveId" clId="{BA31F871-72DA-4FF4-9818-AFE5418EFCB4}" dt="2025-02-12T10:24:18.211" v="41" actId="1036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7" Type="http://schemas.openxmlformats.org/officeDocument/2006/relationships/hyperlink" Target="https://www.touchetv.com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rotalix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65833" y="2702487"/>
            <a:ext cx="6430240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65834" y="933654"/>
            <a:ext cx="6430241" cy="1847974"/>
            <a:chOff x="2730795" y="1315393"/>
            <a:chExt cx="4054967" cy="2571101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54967" cy="224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Overpass" pitchFamily="2" charset="0"/>
                </a:rPr>
                <a:t>Results-driven </a:t>
              </a:r>
              <a:r>
                <a:rPr lang="en-US" sz="1100" b="1" dirty="0">
                  <a:latin typeface="Overpass" pitchFamily="2" charset="0"/>
                </a:rPr>
                <a:t>Senior Product Manager</a:t>
              </a:r>
              <a:r>
                <a:rPr lang="en-US" sz="1100" dirty="0">
                  <a:latin typeface="Overpass" pitchFamily="2" charset="0"/>
                </a:rPr>
                <a:t> with </a:t>
              </a:r>
              <a:r>
                <a:rPr lang="en-US" sz="1100" b="1" dirty="0">
                  <a:latin typeface="Overpass" pitchFamily="2" charset="0"/>
                </a:rPr>
                <a:t>10+ years of experience</a:t>
              </a:r>
              <a:r>
                <a:rPr lang="en-US" sz="1100" dirty="0">
                  <a:latin typeface="Overpass" pitchFamily="2" charset="0"/>
                </a:rPr>
                <a:t> leading digital products in </a:t>
              </a:r>
              <a:r>
                <a:rPr lang="en-US" sz="1100" b="1" dirty="0">
                  <a:latin typeface="Overpass" pitchFamily="2" charset="0"/>
                </a:rPr>
                <a:t>B2B SaaS, AdTech, and E-commerce</a:t>
              </a:r>
              <a:r>
                <a:rPr lang="en-US" sz="1100" dirty="0">
                  <a:latin typeface="Overpass" pitchFamily="2" charset="0"/>
                </a:rPr>
                <a:t>. Proven ability to </a:t>
              </a:r>
              <a:r>
                <a:rPr lang="en-US" sz="1100" b="1" dirty="0">
                  <a:latin typeface="Overpass" pitchFamily="2" charset="0"/>
                </a:rPr>
                <a:t>define product strategy, execute data-driven roadmaps, and drive user engagement</a:t>
              </a:r>
              <a:r>
                <a:rPr lang="en-US" sz="1100" dirty="0">
                  <a:latin typeface="Overpass" pitchFamily="2" charset="0"/>
                </a:rPr>
                <a:t>. Adept at working in </a:t>
              </a:r>
              <a:r>
                <a:rPr lang="en-US" sz="1100" b="1" dirty="0">
                  <a:latin typeface="Overpass" pitchFamily="2" charset="0"/>
                </a:rPr>
                <a:t>fast-paced startups</a:t>
              </a:r>
              <a:r>
                <a:rPr lang="en-US" sz="1100" dirty="0">
                  <a:latin typeface="Overpass" pitchFamily="2" charset="0"/>
                </a:rPr>
                <a:t>, scaling cloud-based platforms, and leveraging </a:t>
              </a:r>
              <a:r>
                <a:rPr lang="en-US" sz="1100" b="1" dirty="0">
                  <a:latin typeface="Overpass" pitchFamily="2" charset="0"/>
                </a:rPr>
                <a:t>AI-powered analytics</a:t>
              </a:r>
              <a:r>
                <a:rPr lang="en-US" sz="1100" dirty="0">
                  <a:latin typeface="Overpass" pitchFamily="2" charset="0"/>
                </a:rPr>
                <a:t> to optimize user experiences. Hands-on expertise in </a:t>
              </a:r>
              <a:r>
                <a:rPr lang="en-US" sz="1100" b="1" dirty="0">
                  <a:latin typeface="Overpass" pitchFamily="2" charset="0"/>
                </a:rPr>
                <a:t>UX/UI (Figma, Adobe XD), Agile methodologies, and A/B testing</a:t>
              </a:r>
              <a:r>
                <a:rPr lang="en-US" sz="1100" dirty="0">
                  <a:latin typeface="Overpass" pitchFamily="2" charset="0"/>
                </a:rPr>
                <a:t>, with a track record of leading </a:t>
              </a:r>
              <a:r>
                <a:rPr lang="en-US" sz="1100" b="1" dirty="0">
                  <a:latin typeface="Overpass" pitchFamily="2" charset="0"/>
                </a:rPr>
                <a:t>cross-functional teams</a:t>
              </a:r>
              <a:r>
                <a:rPr lang="en-US" sz="1100" dirty="0">
                  <a:latin typeface="Overpass" pitchFamily="2" charset="0"/>
                </a:rPr>
                <a:t> to deliver impactful digital solutions. Successfully launched </a:t>
              </a:r>
              <a:r>
                <a:rPr lang="en-US" sz="1100" b="1" dirty="0">
                  <a:latin typeface="Overpass" pitchFamily="2" charset="0"/>
                </a:rPr>
                <a:t>customer-facing and enterprise SaaS products</a:t>
              </a:r>
              <a:r>
                <a:rPr lang="en-US" sz="1100" dirty="0">
                  <a:latin typeface="Overpass" pitchFamily="2" charset="0"/>
                </a:rPr>
                <a:t>, achieving </a:t>
              </a:r>
              <a:r>
                <a:rPr lang="en-US" sz="1100" b="1" dirty="0">
                  <a:latin typeface="Overpass" pitchFamily="2" charset="0"/>
                </a:rPr>
                <a:t>+22% adoption growth</a:t>
              </a:r>
              <a:r>
                <a:rPr lang="en-US" sz="1100" dirty="0">
                  <a:latin typeface="Overpass" pitchFamily="2" charset="0"/>
                </a:rPr>
                <a:t> and securing </a:t>
              </a:r>
              <a:r>
                <a:rPr lang="en-US" sz="1100" b="1" dirty="0">
                  <a:latin typeface="Overpass" pitchFamily="2" charset="0"/>
                </a:rPr>
                <a:t>$2.5M in funding</a:t>
              </a:r>
              <a:r>
                <a:rPr lang="en-US" sz="1100" dirty="0">
                  <a:latin typeface="Overpass" pitchFamily="2" charset="0"/>
                </a:rPr>
                <a:t>. Passionate about </a:t>
              </a:r>
              <a:r>
                <a:rPr lang="en-US" sz="1100" b="1" dirty="0">
                  <a:latin typeface="Overpass" pitchFamily="2" charset="0"/>
                </a:rPr>
                <a:t>solving complex problems, building user-centric experiences, and driving product-led growth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96F9C5-B4EE-2CE6-5E39-6D2B06DDBAA4}"/>
              </a:ext>
            </a:extLst>
          </p:cNvPr>
          <p:cNvGrpSpPr/>
          <p:nvPr/>
        </p:nvGrpSpPr>
        <p:grpSpPr>
          <a:xfrm>
            <a:off x="265833" y="3879049"/>
            <a:ext cx="6413072" cy="4981717"/>
            <a:chOff x="78398" y="3474258"/>
            <a:chExt cx="6718755" cy="459126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3FD8F-B645-F5DD-0443-9670451D8FB5}"/>
                </a:ext>
              </a:extLst>
            </p:cNvPr>
            <p:cNvGrpSpPr/>
            <p:nvPr/>
          </p:nvGrpSpPr>
          <p:grpSpPr>
            <a:xfrm>
              <a:off x="78398" y="3474258"/>
              <a:ext cx="6718755" cy="4591261"/>
              <a:chOff x="-24741" y="2630067"/>
              <a:chExt cx="6949855" cy="3560807"/>
            </a:xfrm>
          </p:grpSpPr>
          <p:sp>
            <p:nvSpPr>
              <p:cNvPr id="154" name="Text Placeholder 52">
                <a:extLst>
                  <a:ext uri="{FF2B5EF4-FFF2-40B4-BE49-F238E27FC236}">
                    <a16:creationId xmlns:a16="http://schemas.microsoft.com/office/drawing/2014/main" id="{7B120799-BCC3-8E46-2EA5-CFAE368C1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741" y="4617370"/>
                <a:ext cx="6943718" cy="6781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Arena Plus Financial Services Ltd.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2013 - 2018</a:t>
                </a:r>
                <a:endPara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IL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 Manager</a:t>
                </a:r>
                <a:endParaRPr lang="en-US" sz="1200" i="1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Established an Agile culture, cutting product rollout </a:t>
                </a:r>
                <a:r>
                  <a:rPr lang="en-US" sz="1100" b="1" dirty="0">
                    <a:latin typeface="Overpass" pitchFamily="2" charset="0"/>
                  </a:rPr>
                  <a:t>TTM</a:t>
                </a:r>
                <a:r>
                  <a:rPr lang="en-US" sz="1100" dirty="0">
                    <a:latin typeface="Overpass" pitchFamily="2" charset="0"/>
                  </a:rPr>
                  <a:t> by 20%. Managed lifecycles, global development teams, and 3rd-party UI/UX via JIRA while driving 15% business </a:t>
                </a:r>
                <a:r>
                  <a:rPr lang="en-US" sz="1100" b="1" dirty="0">
                    <a:latin typeface="Overpass" pitchFamily="2" charset="0"/>
                  </a:rPr>
                  <a:t>growth</a:t>
                </a:r>
                <a:r>
                  <a:rPr lang="en-US" sz="1100" dirty="0">
                    <a:latin typeface="Overpass" pitchFamily="2" charset="0"/>
                  </a:rPr>
                  <a:t> and +22% adoption through strategic roadmaps.</a:t>
                </a:r>
                <a:endPara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Text Placeholder 45">
                <a:extLst>
                  <a:ext uri="{FF2B5EF4-FFF2-40B4-BE49-F238E27FC236}">
                    <a16:creationId xmlns:a16="http://schemas.microsoft.com/office/drawing/2014/main" id="{736313EA-3C2D-C5A9-2ED3-22681A16B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2630067"/>
                <a:ext cx="2719751" cy="199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experience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6871FAD5-DAC9-2E88-43EE-71DE2313B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603" y="5260068"/>
                <a:ext cx="6943717" cy="2973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  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10" name="Text Placeholder 52">
                <a:extLst>
                  <a:ext uri="{FF2B5EF4-FFF2-40B4-BE49-F238E27FC236}">
                    <a16:creationId xmlns:a16="http://schemas.microsoft.com/office/drawing/2014/main" id="{BA499EBC-730C-6472-42B1-4FBCAD1BA5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35" y="5539414"/>
                <a:ext cx="6931149" cy="2973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  <p:sp>
            <p:nvSpPr>
              <p:cNvPr id="19" name="Text Placeholder 52">
                <a:extLst>
                  <a:ext uri="{FF2B5EF4-FFF2-40B4-BE49-F238E27FC236}">
                    <a16:creationId xmlns:a16="http://schemas.microsoft.com/office/drawing/2014/main" id="{51D7DC8D-2F99-AB46-78E2-B5E0C0325B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5839909"/>
                <a:ext cx="6944690" cy="3509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400"/>
                  </a:lnSpc>
                  <a:spcBef>
                    <a:spcPts val="600"/>
                  </a:spcBef>
                </a:pPr>
                <a:r>
                  <a:rPr lang="en-IL" sz="1200" b="1" u="sng" kern="0" dirty="0" err="1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Protalix</a:t>
                </a:r>
                <a:r>
                  <a:rPr lang="en-IL" sz="1200" b="1" u="sng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Biopharmaceuticals Inc.</a:t>
                </a:r>
                <a:r>
                  <a:rPr lang="en-IL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r>
                  <a:rPr lang="en-US" sz="1200" b="1" kern="0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</a:t>
                </a:r>
                <a:r>
                  <a:rPr lang="en-IL" sz="1200" b="1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2008 - 2009</a:t>
                </a:r>
                <a:endParaRPr lang="en-US" sz="1200" b="1" u="sng" kern="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IL" sz="1200" i="1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QC and QA Analyst</a:t>
                </a:r>
                <a:r>
                  <a:rPr lang="en-IL" sz="1200" kern="0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IL" sz="1200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75DF8-197B-BFD3-34D2-297D5EA3D213}"/>
                </a:ext>
              </a:extLst>
            </p:cNvPr>
            <p:cNvSpPr txBox="1">
              <a:spLocks/>
            </p:cNvSpPr>
            <p:nvPr/>
          </p:nvSpPr>
          <p:spPr>
            <a:xfrm>
              <a:off x="78399" y="3695817"/>
              <a:ext cx="6713716" cy="2434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TouchE TV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 	        		      2018 - 2024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200" i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Co-Founder, CPO, 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Raised funds +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$2.5M </a:t>
              </a:r>
              <a:endParaRPr lang="en-US" sz="1200" b="1" i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Spearheaded the </a:t>
              </a:r>
              <a:r>
                <a:rPr lang="en-US" sz="1100" b="1" dirty="0">
                  <a:latin typeface="Overpass" pitchFamily="2" charset="0"/>
                </a:rPr>
                <a:t>end-to-end development</a:t>
              </a:r>
              <a:r>
                <a:rPr lang="en-US" sz="1100" dirty="0">
                  <a:latin typeface="Overpass" pitchFamily="2" charset="0"/>
                </a:rPr>
                <a:t> of a </a:t>
              </a:r>
              <a:r>
                <a:rPr lang="en-US" sz="1100" b="1" dirty="0">
                  <a:latin typeface="Overpass" pitchFamily="2" charset="0"/>
                </a:rPr>
                <a:t>B2B SaaS video platform</a:t>
              </a:r>
              <a:r>
                <a:rPr lang="en-US" sz="1100" dirty="0">
                  <a:latin typeface="Overpass" pitchFamily="2" charset="0"/>
                </a:rPr>
                <a:t>, integrating </a:t>
              </a:r>
              <a:r>
                <a:rPr lang="en-US" sz="1100" b="1" dirty="0">
                  <a:latin typeface="Overpass" pitchFamily="2" charset="0"/>
                </a:rPr>
                <a:t>AI-driven content tools, analytics dashboards, and collaboration features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Led the design and execution of </a:t>
              </a:r>
              <a:r>
                <a:rPr lang="en-US" sz="1100" b="1" dirty="0">
                  <a:latin typeface="Overpass" pitchFamily="2" charset="0"/>
                </a:rPr>
                <a:t>multi-platform products (Web, Mobile, Smart TV)</a:t>
              </a:r>
              <a:r>
                <a:rPr lang="en-US" sz="1100" dirty="0">
                  <a:latin typeface="Overpass" pitchFamily="2" charset="0"/>
                </a:rPr>
                <a:t>, ensuring a </a:t>
              </a:r>
              <a:r>
                <a:rPr lang="en-US" sz="1100" b="1" dirty="0">
                  <a:latin typeface="Overpass" pitchFamily="2" charset="0"/>
                </a:rPr>
                <a:t>seamless UX/UI experience</a:t>
              </a:r>
              <a:r>
                <a:rPr lang="en-US" sz="1100" dirty="0">
                  <a:latin typeface="Overpass" pitchFamily="2" charset="0"/>
                </a:rPr>
                <a:t> using </a:t>
              </a:r>
              <a:r>
                <a:rPr lang="en-US" sz="1100" b="1" dirty="0">
                  <a:latin typeface="Overpass" pitchFamily="2" charset="0"/>
                </a:rPr>
                <a:t>Figma and Adobe XD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Developed a </a:t>
              </a:r>
              <a:r>
                <a:rPr lang="en-US" sz="1100" b="1" dirty="0">
                  <a:latin typeface="Overpass" pitchFamily="2" charset="0"/>
                </a:rPr>
                <a:t>data-driven product strategy</a:t>
              </a:r>
              <a:r>
                <a:rPr lang="en-US" sz="1100" dirty="0">
                  <a:latin typeface="Overpass" pitchFamily="2" charset="0"/>
                </a:rPr>
                <a:t>, leveraging </a:t>
              </a:r>
              <a:r>
                <a:rPr lang="en-US" sz="1100" b="1" dirty="0">
                  <a:latin typeface="Overpass" pitchFamily="2" charset="0"/>
                </a:rPr>
                <a:t>A/B testing, behavioral analytics, and KPIs</a:t>
              </a:r>
              <a:r>
                <a:rPr lang="en-US" sz="1100" dirty="0">
                  <a:latin typeface="Overpass" pitchFamily="2" charset="0"/>
                </a:rPr>
                <a:t> to optimize user engagement and revenue.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Managed a </a:t>
              </a:r>
              <a:r>
                <a:rPr lang="en-US" sz="1100" b="1" dirty="0">
                  <a:latin typeface="Overpass" pitchFamily="2" charset="0"/>
                </a:rPr>
                <a:t>global cross-functional team</a:t>
              </a:r>
              <a:r>
                <a:rPr lang="en-US" sz="1100" dirty="0">
                  <a:latin typeface="Overpass" pitchFamily="2" charset="0"/>
                </a:rPr>
                <a:t>, aligning product roadmaps with business objectives while fostering a </a:t>
              </a:r>
              <a:r>
                <a:rPr lang="en-US" sz="1100" b="1" dirty="0">
                  <a:latin typeface="Overpass" pitchFamily="2" charset="0"/>
                </a:rPr>
                <a:t>fast-paced, Agile work culture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Established strategic partnerships with </a:t>
              </a:r>
              <a:r>
                <a:rPr lang="en-US" sz="1100" b="1" dirty="0">
                  <a:latin typeface="Overpass" pitchFamily="2" charset="0"/>
                </a:rPr>
                <a:t>HOT, paramount and Eros Now</a:t>
              </a:r>
              <a:r>
                <a:rPr lang="en-US" sz="1100" dirty="0">
                  <a:latin typeface="Overpass" pitchFamily="2" charset="0"/>
                </a:rPr>
                <a:t>, securing </a:t>
              </a:r>
              <a:r>
                <a:rPr lang="en-US" sz="1100" b="1" dirty="0">
                  <a:latin typeface="Overpass" pitchFamily="2" charset="0"/>
                </a:rPr>
                <a:t>$2.5M in funding</a:t>
              </a:r>
              <a:r>
                <a:rPr lang="en-US" sz="1100" dirty="0">
                  <a:latin typeface="Overpass" pitchFamily="2" charset="0"/>
                </a:rPr>
                <a:t>.</a:t>
              </a:r>
            </a:p>
            <a:p>
              <a:pPr marL="90000" indent="-90000">
                <a:lnSpc>
                  <a:spcPts val="14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Oversaw </a:t>
              </a:r>
              <a:r>
                <a:rPr lang="en-US" sz="1100" b="1" dirty="0">
                  <a:latin typeface="Overpass" pitchFamily="2" charset="0"/>
                </a:rPr>
                <a:t>third-party integrations, APIs, and cloud-based infrastructure (AWS)</a:t>
              </a:r>
              <a:r>
                <a:rPr lang="en-US" sz="1100" dirty="0">
                  <a:latin typeface="Overpass" pitchFamily="2" charset="0"/>
                </a:rPr>
                <a:t>, ensuring </a:t>
              </a:r>
              <a:r>
                <a:rPr lang="en-US" sz="1100" b="1" dirty="0">
                  <a:latin typeface="Overpass" pitchFamily="2" charset="0"/>
                </a:rPr>
                <a:t>scalability and high availability</a:t>
              </a:r>
              <a:r>
                <a:rPr lang="en-US" sz="1100" dirty="0">
                  <a:latin typeface="Overpass" pitchFamily="2" charset="0"/>
                </a:rPr>
                <a:t> of the platform.</a:t>
              </a:r>
              <a:endParaRPr lang="en-US" sz="1100" b="0" i="0" dirty="0">
                <a:effectLst/>
                <a:latin typeface="Overpas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63697</TotalTime>
  <Words>459</Words>
  <Application>Microsoft Office PowerPoint</Application>
  <PresentationFormat>Letter Paper (8.5x11 in)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7</cp:revision>
  <dcterms:created xsi:type="dcterms:W3CDTF">2024-07-25T09:15:15Z</dcterms:created>
  <dcterms:modified xsi:type="dcterms:W3CDTF">2025-02-12T11:04:57Z</dcterms:modified>
</cp:coreProperties>
</file>