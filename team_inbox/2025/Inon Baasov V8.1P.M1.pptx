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72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480" userDrawn="1">
          <p15:clr>
            <a:srgbClr val="A4A3A4"/>
          </p15:clr>
        </p15:guide>
        <p15:guide id="5" pos="22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38B05D-CE3D-4A02-82D4-19A4DC0EE2BD}" v="3" dt="2025-11-26T09:43:42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1" autoAdjust="0"/>
    <p:restoredTop sz="94667" autoAdjust="0"/>
  </p:normalViewPr>
  <p:slideViewPr>
    <p:cSldViewPr snapToGrid="0" snapToObjects="1" showGuides="1">
      <p:cViewPr>
        <p:scale>
          <a:sx n="125" d="100"/>
          <a:sy n="125" d="100"/>
        </p:scale>
        <p:origin x="1932" y="-2760"/>
      </p:cViewPr>
      <p:guideLst>
        <p:guide orient="horz" pos="5472"/>
        <p:guide pos="264"/>
        <p:guide pos="4056"/>
        <p:guide orient="horz" pos="480"/>
        <p:guide pos="22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microsoft.com/office/2018/10/relationships/authors" Target="author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6535A8C2-D6D1-40A6-B57B-6CAB1510FB70}"/>
    <pc:docChg chg="undo custSel modSld">
      <pc:chgData name="Inon Baasov" userId="675f8575db202d33" providerId="LiveId" clId="{6535A8C2-D6D1-40A6-B57B-6CAB1510FB70}" dt="2025-11-26T09:51:28.059" v="213" actId="1036"/>
      <pc:docMkLst>
        <pc:docMk/>
      </pc:docMkLst>
      <pc:sldChg chg="modSp mod">
        <pc:chgData name="Inon Baasov" userId="675f8575db202d33" providerId="LiveId" clId="{6535A8C2-D6D1-40A6-B57B-6CAB1510FB70}" dt="2025-11-26T09:51:28.059" v="213" actId="1036"/>
        <pc:sldMkLst>
          <pc:docMk/>
          <pc:sldMk cId="1945325877" sldId="260"/>
        </pc:sldMkLst>
        <pc:spChg chg="mod">
          <ac:chgData name="Inon Baasov" userId="675f8575db202d33" providerId="LiveId" clId="{6535A8C2-D6D1-40A6-B57B-6CAB1510FB70}" dt="2025-11-26T09:48:05.040" v="61" actId="14100"/>
          <ac:spMkLst>
            <pc:docMk/>
            <pc:sldMk cId="1945325877" sldId="260"/>
            <ac:spMk id="8" creationId="{185EBDC0-9B7C-2150-E428-6083DC2811AD}"/>
          </ac:spMkLst>
        </pc:spChg>
        <pc:spChg chg="mod">
          <ac:chgData name="Inon Baasov" userId="675f8575db202d33" providerId="LiveId" clId="{6535A8C2-D6D1-40A6-B57B-6CAB1510FB70}" dt="2025-11-26T09:48:13.331" v="96" actId="1035"/>
          <ac:spMkLst>
            <pc:docMk/>
            <pc:sldMk cId="1945325877" sldId="260"/>
            <ac:spMk id="9" creationId="{82D09191-D253-5D6F-D365-3ACC56261B53}"/>
          </ac:spMkLst>
        </pc:spChg>
        <pc:spChg chg="mod">
          <ac:chgData name="Inon Baasov" userId="675f8575db202d33" providerId="LiveId" clId="{6535A8C2-D6D1-40A6-B57B-6CAB1510FB70}" dt="2025-11-26T09:48:13.331" v="96" actId="1035"/>
          <ac:spMkLst>
            <pc:docMk/>
            <pc:sldMk cId="1945325877" sldId="260"/>
            <ac:spMk id="16" creationId="{C808E312-8B22-7589-285A-1A61537E2842}"/>
          </ac:spMkLst>
        </pc:spChg>
        <pc:spChg chg="mod">
          <ac:chgData name="Inon Baasov" userId="675f8575db202d33" providerId="LiveId" clId="{6535A8C2-D6D1-40A6-B57B-6CAB1510FB70}" dt="2025-11-26T09:39:55.963" v="9"/>
          <ac:spMkLst>
            <pc:docMk/>
            <pc:sldMk cId="1945325877" sldId="260"/>
            <ac:spMk id="20" creationId="{B0CE87CB-90EB-8285-0D0E-12A17D1D6AF9}"/>
          </ac:spMkLst>
        </pc:spChg>
        <pc:spChg chg="mod">
          <ac:chgData name="Inon Baasov" userId="675f8575db202d33" providerId="LiveId" clId="{6535A8C2-D6D1-40A6-B57B-6CAB1510FB70}" dt="2025-11-26T09:40:02.937" v="17" actId="20577"/>
          <ac:spMkLst>
            <pc:docMk/>
            <pc:sldMk cId="1945325877" sldId="260"/>
            <ac:spMk id="21" creationId="{E3F49235-28DB-3ADB-983D-F862C267FC22}"/>
          </ac:spMkLst>
        </pc:spChg>
        <pc:spChg chg="mod">
          <ac:chgData name="Inon Baasov" userId="675f8575db202d33" providerId="LiveId" clId="{6535A8C2-D6D1-40A6-B57B-6CAB1510FB70}" dt="2025-11-26T09:50:29.432" v="170" actId="20577"/>
          <ac:spMkLst>
            <pc:docMk/>
            <pc:sldMk cId="1945325877" sldId="260"/>
            <ac:spMk id="246" creationId="{5148B39D-CF2F-CCD7-1E4A-B285019DF27D}"/>
          </ac:spMkLst>
        </pc:spChg>
        <pc:grpChg chg="mod">
          <ac:chgData name="Inon Baasov" userId="675f8575db202d33" providerId="LiveId" clId="{6535A8C2-D6D1-40A6-B57B-6CAB1510FB70}" dt="2025-11-26T09:51:19.479" v="212" actId="1036"/>
          <ac:grpSpMkLst>
            <pc:docMk/>
            <pc:sldMk cId="1945325877" sldId="260"/>
            <ac:grpSpMk id="33" creationId="{8E11869A-71AB-457B-9139-603F2E676192}"/>
          </ac:grpSpMkLst>
        </pc:grpChg>
        <pc:grpChg chg="mod">
          <ac:chgData name="Inon Baasov" userId="675f8575db202d33" providerId="LiveId" clId="{6535A8C2-D6D1-40A6-B57B-6CAB1510FB70}" dt="2025-11-26T09:51:28.059" v="213" actId="1036"/>
          <ac:grpSpMkLst>
            <pc:docMk/>
            <pc:sldMk cId="1945325877" sldId="260"/>
            <ac:grpSpMk id="45" creationId="{042C7D14-6473-C58B-4684-40E574D32C20}"/>
          </ac:grpSpMkLst>
        </pc:grpChg>
        <pc:grpChg chg="mod">
          <ac:chgData name="Inon Baasov" userId="675f8575db202d33" providerId="LiveId" clId="{6535A8C2-D6D1-40A6-B57B-6CAB1510FB70}" dt="2025-11-26T09:39:55.963" v="9"/>
          <ac:grpSpMkLst>
            <pc:docMk/>
            <pc:sldMk cId="1945325877" sldId="260"/>
            <ac:grpSpMk id="241" creationId="{F7CA4CF9-29BD-84AE-72EC-198E60915FC3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108960" cy="9144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982" y="334437"/>
            <a:ext cx="2547906" cy="1767417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82" y="216116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93639" y="2534671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8603" y="2531944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93639" y="2783314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8603" y="2782446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3639" y="3043387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603" y="3039200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982" y="3556211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6524" y="394461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8163" y="4134291"/>
            <a:ext cx="2255838" cy="56435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259" y="4854087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36483" y="528716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36483" y="5287168"/>
            <a:ext cx="1307592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3790" y="534274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36483" y="564828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36483" y="5648288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3790" y="570469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36483" y="6014191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36483" y="6014191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3790" y="608174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36483" y="6380715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36483" y="6380715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982" y="6442879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36483" y="6747843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36483" y="6747843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259" y="6806974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223" y="731877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8163" y="7694677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163" y="795909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8163" y="8189832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1232" y="727563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1232" y="112122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232" y="131090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1232" y="152848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1232" y="1752954"/>
            <a:ext cx="2957512" cy="127585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1232" y="308219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1232" y="3302355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1232" y="351994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11232" y="3762696"/>
            <a:ext cx="3050796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11232" y="488690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1232" y="507658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11232" y="5306359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11232" y="5543018"/>
            <a:ext cx="3045044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1232" y="6865150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1232" y="7245402"/>
            <a:ext cx="2255838" cy="1288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684" y="406653"/>
            <a:ext cx="5131177" cy="53553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4815" y="6296395"/>
            <a:ext cx="1534463" cy="23431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0528" y="6603863"/>
            <a:ext cx="1359978" cy="27107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0528" y="6843268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528" y="7036079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4434" y="7040230"/>
            <a:ext cx="693702" cy="202510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04434" y="6653422"/>
            <a:ext cx="693702" cy="39355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9684" y="1569344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84" y="1860357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684" y="2056280"/>
            <a:ext cx="2925612" cy="684375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684" y="1145426"/>
            <a:ext cx="2925613" cy="293251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684" y="2840591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684" y="3131604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9684" y="3327527"/>
            <a:ext cx="2925612" cy="66899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9684" y="4107059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684" y="4398072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684" y="4593995"/>
            <a:ext cx="2925612" cy="70939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6399" y="7594586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76399" y="8060579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6399" y="8531775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10200" y="4355868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10200" y="4531709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10200" y="4702427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200" y="419190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10200" y="400902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10200" y="5384539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10200" y="5652555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10200" y="5922990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7877" y="8147512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7877" y="8415528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7877" y="8697907"/>
            <a:ext cx="1449583" cy="238881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7877" y="7593880"/>
            <a:ext cx="1449583" cy="28904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7877" y="7878034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94178" y="8160704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94178" y="8436611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94178" y="8698945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94178" y="7905308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094543" y="7593880"/>
            <a:ext cx="1092002" cy="29580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121676"/>
            <a:ext cx="685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64815" y="1146174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64815" y="3622089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64815" y="5014791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horsetherapy.ravpage.co.il/matanproject" TargetMode="External"/><Relationship Id="rId3" Type="http://schemas.openxmlformats.org/officeDocument/2006/relationships/hyperlink" Target="https://www.linkedin.com/company/arena-plus-financial-services-ltd/" TargetMode="External"/><Relationship Id="rId7" Type="http://schemas.openxmlformats.org/officeDocument/2006/relationships/hyperlink" Target="https://www.protalix.com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blau-ps.com/" TargetMode="External"/><Relationship Id="rId5" Type="http://schemas.openxmlformats.org/officeDocument/2006/relationships/hyperlink" Target="https://www.philtel.co.il/" TargetMode="External"/><Relationship Id="rId4" Type="http://schemas.openxmlformats.org/officeDocument/2006/relationships/hyperlink" Target="https://www.touchetv.com/" TargetMode="External"/><Relationship Id="rId9" Type="http://schemas.openxmlformats.org/officeDocument/2006/relationships/hyperlink" Target="https://www.asat.org.i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229">
            <a:extLst>
              <a:ext uri="{FF2B5EF4-FFF2-40B4-BE49-F238E27FC236}">
                <a16:creationId xmlns:a16="http://schemas.microsoft.com/office/drawing/2014/main" id="{D6E71490-AE7A-4BBD-5B76-597A16EF0E2D}"/>
              </a:ext>
            </a:extLst>
          </p:cNvPr>
          <p:cNvSpPr>
            <a:spLocks/>
          </p:cNvSpPr>
          <p:nvPr/>
        </p:nvSpPr>
        <p:spPr>
          <a:xfrm>
            <a:off x="5549407" y="-1"/>
            <a:ext cx="1296439" cy="9144001"/>
          </a:xfrm>
          <a:prstGeom prst="rect">
            <a:avLst/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92760" y="459350"/>
            <a:ext cx="1436870" cy="219514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022108" y="466840"/>
            <a:ext cx="1543238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712210" y="473638"/>
            <a:ext cx="1370185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9082"/>
            <a:ext cx="5487810" cy="4645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0" dirty="0">
                <a:solidFill>
                  <a:srgbClr val="5E429C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</a:t>
            </a:r>
            <a:r>
              <a:rPr lang="en-US" sz="28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BAASOV</a:t>
            </a:r>
            <a:endParaRPr lang="en-IL" sz="2800" b="0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F7CA4CF9-29BD-84AE-72EC-198E60915FC3}"/>
              </a:ext>
            </a:extLst>
          </p:cNvPr>
          <p:cNvGrpSpPr/>
          <p:nvPr/>
        </p:nvGrpSpPr>
        <p:grpSpPr>
          <a:xfrm>
            <a:off x="70479" y="620836"/>
            <a:ext cx="5460731" cy="1713226"/>
            <a:chOff x="2575122" y="1414660"/>
            <a:chExt cx="4265788" cy="2064034"/>
          </a:xfrm>
        </p:grpSpPr>
        <p:sp>
          <p:nvSpPr>
            <p:cNvPr id="20" name="Text Placeholder 45">
              <a:extLst>
                <a:ext uri="{FF2B5EF4-FFF2-40B4-BE49-F238E27FC236}">
                  <a16:creationId xmlns:a16="http://schemas.microsoft.com/office/drawing/2014/main" id="{B0CE87CB-90EB-8285-0D0E-12A17D1D6AF9}"/>
                </a:ext>
              </a:extLst>
            </p:cNvPr>
            <p:cNvSpPr txBox="1">
              <a:spLocks/>
            </p:cNvSpPr>
            <p:nvPr/>
          </p:nvSpPr>
          <p:spPr>
            <a:xfrm>
              <a:off x="2578642" y="1414660"/>
              <a:ext cx="1799347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3F49235-28DB-3ADB-983D-F862C267FC22}"/>
                </a:ext>
              </a:extLst>
            </p:cNvPr>
            <p:cNvSpPr txBox="1"/>
            <p:nvPr/>
          </p:nvSpPr>
          <p:spPr>
            <a:xfrm>
              <a:off x="2575122" y="1615432"/>
              <a:ext cx="4265788" cy="18632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Overpass" pitchFamily="2" charset="0"/>
                </a:rPr>
                <a:t>Results-driven Product Leader with over 10 years of experience in </a:t>
              </a:r>
              <a:r>
                <a:rPr lang="en-US" sz="1050" b="1" dirty="0">
                  <a:latin typeface="Overpass" pitchFamily="2" charset="0"/>
                </a:rPr>
                <a:t>AdTech</a:t>
              </a:r>
              <a:r>
                <a:rPr lang="en-US" sz="1050" dirty="0">
                  <a:latin typeface="Overpass" pitchFamily="2" charset="0"/>
                </a:rPr>
                <a:t>, </a:t>
              </a:r>
              <a:r>
                <a:rPr lang="en-US" sz="1050" b="1" dirty="0">
                  <a:latin typeface="Overpass" pitchFamily="2" charset="0"/>
                </a:rPr>
                <a:t>E-commerce</a:t>
              </a:r>
              <a:r>
                <a:rPr lang="en-US" sz="1050" dirty="0">
                  <a:latin typeface="Overpass" pitchFamily="2" charset="0"/>
                </a:rPr>
                <a:t>, and scalable B2C software solutions. Proven expertise in User Journey Optimization and driving full product lifecycles, from ideation to delivery, using </a:t>
              </a:r>
              <a:r>
                <a:rPr lang="en-US" sz="1050" b="1" dirty="0">
                  <a:latin typeface="Overpass" pitchFamily="2" charset="0"/>
                </a:rPr>
                <a:t>Agile</a:t>
              </a:r>
              <a:r>
                <a:rPr lang="en-US" sz="1050" dirty="0">
                  <a:latin typeface="Overpass" pitchFamily="2" charset="0"/>
                </a:rPr>
                <a:t> methodologies and UI/UX principles (Adobe XD, </a:t>
              </a:r>
              <a:r>
                <a:rPr lang="en-US" sz="1050" b="1" dirty="0">
                  <a:latin typeface="Overpass" pitchFamily="2" charset="0"/>
                </a:rPr>
                <a:t>Figma</a:t>
              </a:r>
              <a:r>
                <a:rPr lang="en-US" sz="1050" dirty="0">
                  <a:latin typeface="Overpass" pitchFamily="2" charset="0"/>
                </a:rPr>
                <a:t>). Successfully delivered cloud-based platforms (</a:t>
              </a:r>
              <a:r>
                <a:rPr lang="en-US" sz="1050" b="1" dirty="0">
                  <a:latin typeface="Overpass" pitchFamily="2" charset="0"/>
                </a:rPr>
                <a:t>AWS</a:t>
              </a:r>
              <a:r>
                <a:rPr lang="en-US" sz="1050" dirty="0">
                  <a:latin typeface="Overpass" pitchFamily="2" charset="0"/>
                </a:rPr>
                <a:t>) and analytics dashboards, increasing product adoption rates by 22% and driving +$2.5M in funding. Collaborated with industry leaders like HOT, Eros now, JVP, and Paramount to create innovative, data-driven solutions. Adept at managing cross-functional teams and aligning product </a:t>
              </a:r>
              <a:r>
                <a:rPr lang="en-US" sz="1050" b="1" dirty="0">
                  <a:latin typeface="Overpass" pitchFamily="2" charset="0"/>
                </a:rPr>
                <a:t>strategy</a:t>
              </a:r>
              <a:r>
                <a:rPr lang="en-US" sz="1050" dirty="0">
                  <a:latin typeface="Overpass" pitchFamily="2" charset="0"/>
                </a:rPr>
                <a:t> with business objectives to achieve measurable growth in fast-paced environments. </a:t>
              </a:r>
            </a:p>
          </p:txBody>
        </p: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5559052" y="235240"/>
            <a:ext cx="1259336" cy="5789693"/>
            <a:chOff x="99293" y="1837572"/>
            <a:chExt cx="2965829" cy="1603384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9293" y="1890015"/>
              <a:ext cx="2965829" cy="155094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400"/>
                </a:lnSpc>
              </a:pP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2016-2018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sz="10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E.MBA</a:t>
              </a:r>
              <a:r>
                <a:rPr lang="en-US" sz="10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Entrepreneurship and Management in High-Tech Industries, </a:t>
              </a:r>
              <a:r>
                <a:rPr lang="en-US" sz="10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0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– Israel institute of technology. Focused on </a:t>
              </a:r>
              <a:r>
                <a:rPr lang="en-US" sz="10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strategic product development</a:t>
              </a:r>
              <a:r>
                <a:rPr lang="en-US" sz="10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global leadership and high-tech innovation. 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endParaRPr lang="en-US" sz="105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2005-2008</a:t>
              </a:r>
              <a:endParaRPr lang="en-US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- Israel Institute of Technology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B.Sc., Biotechnology and Food Engineering </a:t>
              </a:r>
            </a:p>
            <a:p>
              <a:pPr>
                <a:lnSpc>
                  <a:spcPct val="100000"/>
                </a:lnSpc>
                <a:spcBef>
                  <a:spcPts val="600"/>
                </a:spcBef>
              </a:pPr>
              <a:endParaRPr lang="en-US" sz="105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>
                <a:lnSpc>
                  <a:spcPct val="100000"/>
                </a:lnSpc>
                <a:spcBef>
                  <a:spcPts val="600"/>
                </a:spcBef>
              </a:pP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2004-2005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McGill</a:t>
              </a: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University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Chemical Engineering Faculty</a:t>
              </a:r>
              <a:r>
                <a:rPr lang="en-US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Montreal, Canada</a:t>
              </a: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108001" y="1837572"/>
              <a:ext cx="2591011" cy="13555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  <a:endParaRPr lang="en-US" sz="10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F672A4A-6C29-DCF3-BEE8-C31B38E48458}"/>
              </a:ext>
            </a:extLst>
          </p:cNvPr>
          <p:cNvGrpSpPr/>
          <p:nvPr/>
        </p:nvGrpSpPr>
        <p:grpSpPr>
          <a:xfrm>
            <a:off x="5567363" y="6100110"/>
            <a:ext cx="1270713" cy="853065"/>
            <a:chOff x="112122" y="3874635"/>
            <a:chExt cx="2089955" cy="483043"/>
          </a:xfrm>
        </p:grpSpPr>
        <p:sp>
          <p:nvSpPr>
            <p:cNvPr id="13" name="Text Placeholder 46">
              <a:extLst>
                <a:ext uri="{FF2B5EF4-FFF2-40B4-BE49-F238E27FC236}">
                  <a16:creationId xmlns:a16="http://schemas.microsoft.com/office/drawing/2014/main" id="{5B4377CE-4F6A-3E1A-FF91-C92E8EEEB15D}"/>
                </a:ext>
              </a:extLst>
            </p:cNvPr>
            <p:cNvSpPr>
              <a:spLocks noGrp="1"/>
            </p:cNvSpPr>
            <p:nvPr>
              <p:ph type="body" sz="quarter" idx="13"/>
            </p:nvPr>
          </p:nvSpPr>
          <p:spPr>
            <a:xfrm>
              <a:off x="129403" y="3874635"/>
              <a:ext cx="2072674" cy="148513"/>
            </a:xfrm>
          </p:spPr>
          <p:txBody>
            <a:bodyPr/>
            <a:lstStyle/>
            <a:p>
              <a:pPr>
                <a:spcBef>
                  <a:spcPts val="0"/>
                </a:spcBef>
              </a:pP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Languages</a:t>
              </a:r>
              <a:endParaRPr lang="en-US" sz="10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Text Placeholder 65">
              <a:extLst>
                <a:ext uri="{FF2B5EF4-FFF2-40B4-BE49-F238E27FC236}">
                  <a16:creationId xmlns:a16="http://schemas.microsoft.com/office/drawing/2014/main" id="{55D99D62-CA63-6601-5A01-2B2AC93B2D1C}"/>
                </a:ext>
              </a:extLst>
            </p:cNvPr>
            <p:cNvSpPr>
              <a:spLocks noGrp="1"/>
            </p:cNvSpPr>
            <p:nvPr>
              <p:ph type="body" sz="quarter" idx="32"/>
            </p:nvPr>
          </p:nvSpPr>
          <p:spPr>
            <a:xfrm>
              <a:off x="112122" y="4010668"/>
              <a:ext cx="2084357" cy="347010"/>
            </a:xfrm>
          </p:spPr>
          <p:txBody>
            <a:bodyPr anchor="ctr"/>
            <a:lstStyle/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cap="none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Hebrew – native 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b="1" cap="none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English</a:t>
              </a:r>
              <a:r>
                <a:rPr lang="en-US" cap="none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– native 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cap="none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French - basic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E11869A-71AB-457B-9139-603F2E676192}"/>
              </a:ext>
            </a:extLst>
          </p:cNvPr>
          <p:cNvGrpSpPr/>
          <p:nvPr/>
        </p:nvGrpSpPr>
        <p:grpSpPr>
          <a:xfrm>
            <a:off x="73971" y="2263765"/>
            <a:ext cx="5508432" cy="5362264"/>
            <a:chOff x="-6072" y="2750821"/>
            <a:chExt cx="5533356" cy="369912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EE1DD67-57D0-F5C3-974B-3E17BEFC237D}"/>
                </a:ext>
              </a:extLst>
            </p:cNvPr>
            <p:cNvGrpSpPr/>
            <p:nvPr/>
          </p:nvGrpSpPr>
          <p:grpSpPr>
            <a:xfrm>
              <a:off x="-6072" y="2750821"/>
              <a:ext cx="5529547" cy="3405079"/>
              <a:chOff x="2140471" y="3589243"/>
              <a:chExt cx="4718693" cy="3266940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D0AF526B-3F4B-D96E-55A8-390A470370EB}"/>
                  </a:ext>
                </a:extLst>
              </p:cNvPr>
              <p:cNvGrpSpPr/>
              <p:nvPr/>
            </p:nvGrpSpPr>
            <p:grpSpPr>
              <a:xfrm>
                <a:off x="2145679" y="3589243"/>
                <a:ext cx="4713485" cy="2741146"/>
                <a:chOff x="2145679" y="3753073"/>
                <a:chExt cx="4713485" cy="2741146"/>
              </a:xfrm>
            </p:grpSpPr>
            <p:sp>
              <p:nvSpPr>
                <p:cNvPr id="154" name="Text Placeholder 52">
                  <a:extLst>
                    <a:ext uri="{FF2B5EF4-FFF2-40B4-BE49-F238E27FC236}">
                      <a16:creationId xmlns:a16="http://schemas.microsoft.com/office/drawing/2014/main" id="{7B120799-BCC3-8E46-2EA5-CFAE368C1F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45679" y="5891078"/>
                  <a:ext cx="4681053" cy="603141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IL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Arena Plus Financial Services Ltd.</a:t>
                  </a: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 </a:t>
                  </a: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   		       </a:t>
                  </a:r>
                  <a:r>
                    <a:rPr kumimoji="0" lang="en-IL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2013 - 2018</a:t>
                  </a:r>
                  <a:endPara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2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IL" sz="11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Product Manager</a:t>
                  </a:r>
                  <a:endParaRPr kumimoji="0" lang="en-US" sz="1100" b="0" i="1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marL="90000" indent="-90000">
                    <a:lnSpc>
                      <a:spcPct val="1000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latin typeface="Overpass" pitchFamily="2" charset="0"/>
                    </a:rPr>
                    <a:t>Established an Agile culture, cutting product rollout </a:t>
                  </a:r>
                  <a:r>
                    <a:rPr lang="en-US" sz="1000" b="1" dirty="0">
                      <a:latin typeface="Overpass" pitchFamily="2" charset="0"/>
                    </a:rPr>
                    <a:t>TTM</a:t>
                  </a:r>
                  <a:r>
                    <a:rPr lang="en-US" sz="1000" dirty="0">
                      <a:latin typeface="Overpass" pitchFamily="2" charset="0"/>
                    </a:rPr>
                    <a:t> by 20%. Managed lifecycles, global development teams, and 3rd-party UI/UX via JIRA while driving 15% business </a:t>
                  </a:r>
                  <a:r>
                    <a:rPr lang="en-US" sz="1000" b="1" dirty="0">
                      <a:latin typeface="Overpass" pitchFamily="2" charset="0"/>
                    </a:rPr>
                    <a:t>growth</a:t>
                  </a:r>
                  <a:r>
                    <a:rPr lang="en-US" sz="1000" dirty="0">
                      <a:latin typeface="Overpass" pitchFamily="2" charset="0"/>
                    </a:rPr>
                    <a:t> and +22% adoption through strategic roadmaps.</a:t>
                  </a:r>
                  <a:endParaRPr lang="en-US" sz="1000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242" name="Text Placeholder 45">
                  <a:extLst>
                    <a:ext uri="{FF2B5EF4-FFF2-40B4-BE49-F238E27FC236}">
                      <a16:creationId xmlns:a16="http://schemas.microsoft.com/office/drawing/2014/main" id="{736313EA-3C2D-C5A9-2ED3-22681A16B47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71701" y="3753073"/>
                  <a:ext cx="1928260" cy="20265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600" b="1" kern="1200">
                      <a:solidFill>
                        <a:schemeClr val="accent5"/>
                      </a:solidFill>
                      <a:latin typeface="+mj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400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Professional experience</a:t>
                  </a:r>
                </a:p>
              </p:txBody>
            </p:sp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id="{5148B39D-CF2F-CCD7-1E4A-B285019DF27D}"/>
                    </a:ext>
                  </a:extLst>
                </p:cNvPr>
                <p:cNvSpPr txBox="1"/>
                <p:nvPr/>
              </p:nvSpPr>
              <p:spPr>
                <a:xfrm>
                  <a:off x="2145679" y="3888946"/>
                  <a:ext cx="4713485" cy="21970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en-US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4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TouchE TV</a:t>
                  </a:r>
                  <a:r>
                    <a:rPr lang="en-US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	 	        			     2018 - 2024</a:t>
                  </a:r>
                </a:p>
                <a:p>
                  <a:pPr>
                    <a:lnSpc>
                      <a:spcPct val="100000"/>
                    </a:lnSpc>
                    <a:spcBef>
                      <a:spcPts val="200"/>
                    </a:spcBef>
                  </a:pPr>
                  <a:r>
                    <a:rPr lang="en-US" sz="100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Co-Founder, CPO, </a:t>
                  </a:r>
                  <a:r>
                    <a:rPr lang="en-US" sz="1000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Raised funds +</a:t>
                  </a:r>
                  <a:r>
                    <a:rPr lang="en-US" sz="10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$2.5M </a:t>
                  </a:r>
                  <a:endParaRPr lang="en-US" sz="1000" b="1" i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marL="90000" indent="-90000">
                    <a:lnSpc>
                      <a:spcPts val="14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b="0" i="0" dirty="0">
                      <a:effectLst/>
                      <a:latin typeface="Overpass" pitchFamily="2" charset="0"/>
                    </a:rPr>
                    <a:t>As the CPO, I d</a:t>
                  </a:r>
                  <a:r>
                    <a:rPr lang="en-US" sz="1000" dirty="0">
                      <a:latin typeface="Overpass" pitchFamily="2" charset="0"/>
                    </a:rPr>
                    <a:t>irected </a:t>
                  </a:r>
                  <a:r>
                    <a:rPr lang="en-US" sz="1000" b="1" dirty="0">
                      <a:latin typeface="Overpass" pitchFamily="2" charset="0"/>
                    </a:rPr>
                    <a:t>vision</a:t>
                  </a:r>
                  <a:r>
                    <a:rPr lang="en-US" sz="1000" dirty="0">
                      <a:latin typeface="Overpass" pitchFamily="2" charset="0"/>
                    </a:rPr>
                    <a:t>, </a:t>
                  </a:r>
                  <a:r>
                    <a:rPr lang="en-US" sz="1000" b="1" dirty="0">
                      <a:latin typeface="Overpass" pitchFamily="2" charset="0"/>
                    </a:rPr>
                    <a:t>strategy</a:t>
                  </a:r>
                  <a:r>
                    <a:rPr lang="en-US" sz="1000" dirty="0">
                      <a:latin typeface="Overpass" pitchFamily="2" charset="0"/>
                    </a:rPr>
                    <a:t>, and </a:t>
                  </a:r>
                  <a:r>
                    <a:rPr lang="en-US" sz="1000" b="1" dirty="0">
                      <a:latin typeface="Overpass" pitchFamily="2" charset="0"/>
                    </a:rPr>
                    <a:t>execution</a:t>
                  </a:r>
                  <a:r>
                    <a:rPr lang="en-US" sz="1000" dirty="0">
                      <a:latin typeface="Overpass" pitchFamily="2" charset="0"/>
                    </a:rPr>
                    <a:t> for the TouchE suite of products, managing full product lifecycles using Agile/Scrum methodologies</a:t>
                  </a:r>
                  <a:r>
                    <a:rPr lang="en-US" sz="1000" b="0" i="0" dirty="0">
                      <a:effectLst/>
                      <a:latin typeface="Overpass" pitchFamily="2" charset="0"/>
                    </a:rPr>
                    <a:t>.</a:t>
                  </a:r>
                </a:p>
                <a:p>
                  <a:pPr marL="90000" indent="-90000">
                    <a:lnSpc>
                      <a:spcPts val="14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latin typeface="Overpass" pitchFamily="2" charset="0"/>
                    </a:rPr>
                    <a:t>Designed and launched an integrated video player (Android, iOS, WEB, Smart TV), custom video editor, AWS-powered CMS &amp; marketplace, increasing Ad and E-commerce revenue</a:t>
                  </a:r>
                  <a:r>
                    <a:rPr lang="en-US" sz="1000" b="0" i="0" dirty="0">
                      <a:effectLst/>
                      <a:latin typeface="Overpass" pitchFamily="2" charset="0"/>
                    </a:rPr>
                    <a:t>.</a:t>
                  </a:r>
                </a:p>
                <a:p>
                  <a:pPr marL="90000" indent="-90000">
                    <a:lnSpc>
                      <a:spcPts val="14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latin typeface="Overpass" pitchFamily="2" charset="0"/>
                    </a:rPr>
                    <a:t>Conducted competitive analysis, market research, and </a:t>
                  </a:r>
                  <a:r>
                    <a:rPr lang="en-US" sz="1000" b="1" dirty="0">
                      <a:latin typeface="Overpass" pitchFamily="2" charset="0"/>
                    </a:rPr>
                    <a:t>GTM</a:t>
                  </a:r>
                  <a:r>
                    <a:rPr lang="en-US" sz="1000" dirty="0">
                      <a:latin typeface="Overpass" pitchFamily="2" charset="0"/>
                    </a:rPr>
                    <a:t> strategies, creating product </a:t>
                  </a:r>
                  <a:r>
                    <a:rPr lang="en-US" sz="1000" b="1" dirty="0">
                      <a:latin typeface="Overpass" pitchFamily="2" charset="0"/>
                    </a:rPr>
                    <a:t>roadmaps, Onboarding </a:t>
                  </a:r>
                  <a:r>
                    <a:rPr lang="en-US" sz="1000" dirty="0">
                      <a:latin typeface="Overpass" pitchFamily="2" charset="0"/>
                    </a:rPr>
                    <a:t>strategies, </a:t>
                  </a:r>
                  <a:r>
                    <a:rPr lang="en-US" sz="1000" b="1" dirty="0">
                      <a:latin typeface="Overpass" pitchFamily="2" charset="0"/>
                    </a:rPr>
                    <a:t>A/B</a:t>
                  </a:r>
                  <a:r>
                    <a:rPr lang="en-US" sz="1000" dirty="0">
                      <a:latin typeface="Overpass" pitchFamily="2" charset="0"/>
                    </a:rPr>
                    <a:t> testing, </a:t>
                  </a:r>
                  <a:r>
                    <a:rPr lang="en-US" sz="1000" b="1" dirty="0">
                      <a:latin typeface="Overpass" pitchFamily="2" charset="0"/>
                    </a:rPr>
                    <a:t>pricing</a:t>
                  </a:r>
                  <a:r>
                    <a:rPr lang="en-US" sz="1000" dirty="0">
                      <a:latin typeface="Overpass" pitchFamily="2" charset="0"/>
                    </a:rPr>
                    <a:t> models, and financial </a:t>
                  </a:r>
                  <a:r>
                    <a:rPr lang="en-US" sz="1000" b="1" dirty="0">
                      <a:latin typeface="Overpass" pitchFamily="2" charset="0"/>
                    </a:rPr>
                    <a:t>projections</a:t>
                  </a:r>
                  <a:r>
                    <a:rPr lang="en-US" sz="1000" dirty="0">
                      <a:latin typeface="Overpass" pitchFamily="2" charset="0"/>
                    </a:rPr>
                    <a:t>, pricing strategy, and feature packaging for multi-tier subscription models, directly impacting average revenue per user (ARPU) - to drive adoption and revenue growth in B2B and B2B2C markets.</a:t>
                  </a:r>
                </a:p>
                <a:p>
                  <a:pPr marL="90000" indent="-90000">
                    <a:lnSpc>
                      <a:spcPts val="14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latin typeface="Overpass" pitchFamily="2" charset="0"/>
                    </a:rPr>
                    <a:t>Collaborated with offshore and 3rd-party design, R&amp;D, and Algorithm teams, delivering </a:t>
                  </a:r>
                  <a:r>
                    <a:rPr lang="en-US" sz="1000" b="1" dirty="0">
                      <a:latin typeface="Overpass" pitchFamily="2" charset="0"/>
                    </a:rPr>
                    <a:t>scalable</a:t>
                  </a:r>
                  <a:r>
                    <a:rPr lang="en-US" sz="1000" dirty="0">
                      <a:latin typeface="Overpass" pitchFamily="2" charset="0"/>
                    </a:rPr>
                    <a:t>, innovative solutions on tight timelines</a:t>
                  </a:r>
                  <a:r>
                    <a:rPr lang="en-US" sz="1000" b="0" i="0" dirty="0">
                      <a:effectLst/>
                      <a:latin typeface="Overpass" pitchFamily="2" charset="0"/>
                    </a:rPr>
                    <a:t>.</a:t>
                  </a:r>
                </a:p>
                <a:p>
                  <a:pPr marL="90000" indent="-90000">
                    <a:lnSpc>
                      <a:spcPts val="14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latin typeface="Overpass" pitchFamily="2" charset="0"/>
                    </a:rPr>
                    <a:t>Utilized Adobe XD, Figma, and </a:t>
                  </a:r>
                  <a:r>
                    <a:rPr lang="en-US" sz="1000" b="1" dirty="0">
                      <a:latin typeface="Overpass" pitchFamily="2" charset="0"/>
                    </a:rPr>
                    <a:t>JIRA</a:t>
                  </a:r>
                  <a:r>
                    <a:rPr lang="en-US" sz="1000" dirty="0">
                      <a:latin typeface="Overpass" pitchFamily="2" charset="0"/>
                    </a:rPr>
                    <a:t> to oversee UI/UX design, sprint management, and quality assurance, achieving 90% sprint completion on time</a:t>
                  </a:r>
                  <a:r>
                    <a:rPr lang="en-US" sz="1000" b="0" i="0" dirty="0">
                      <a:effectLst/>
                      <a:latin typeface="Overpass" pitchFamily="2" charset="0"/>
                    </a:rPr>
                    <a:t>.</a:t>
                  </a:r>
                  <a:endParaRPr lang="en-US" sz="1000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marL="90000" indent="-90000">
                    <a:lnSpc>
                      <a:spcPts val="1400"/>
                    </a:lnSpc>
                    <a:spcBef>
                      <a:spcPts val="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000" dirty="0">
                      <a:latin typeface="Overpass" pitchFamily="2" charset="0"/>
                    </a:rPr>
                    <a:t>Fostered partnerships with global enterprises like Eros Now, JVP, Lion’s Gate, and Paramount, driving market penetration and product innovation</a:t>
                  </a:r>
                  <a:endParaRPr lang="en-IL" sz="1000" kern="10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8" name="Text Placeholder 52">
                <a:extLst>
                  <a:ext uri="{FF2B5EF4-FFF2-40B4-BE49-F238E27FC236}">
                    <a16:creationId xmlns:a16="http://schemas.microsoft.com/office/drawing/2014/main" id="{185EBDC0-9B7C-2150-E428-6083DC2811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40471" y="6322702"/>
                <a:ext cx="4713485" cy="28826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1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Pharmabest Inc. &amp; Philtel Inc.</a:t>
                </a:r>
                <a:r>
                  <a:rPr lang="it-IT" sz="11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	     </a:t>
                </a:r>
                <a:r>
                  <a:rPr lang="he-IL" sz="11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	</a:t>
                </a:r>
                <a:r>
                  <a:rPr lang="it-IT" sz="11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2011 - 2013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it-IT" sz="11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Exec. QA Manager</a:t>
                </a:r>
              </a:p>
            </p:txBody>
          </p:sp>
          <p:sp>
            <p:nvSpPr>
              <p:cNvPr id="9" name="Text Placeholder 52">
                <a:extLst>
                  <a:ext uri="{FF2B5EF4-FFF2-40B4-BE49-F238E27FC236}">
                    <a16:creationId xmlns:a16="http://schemas.microsoft.com/office/drawing/2014/main" id="{82D09191-D253-5D6F-D365-3ACC56261B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45679" y="6577554"/>
                <a:ext cx="4708277" cy="2786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1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Blau Pharmaceuticals Services Inc.</a:t>
                </a:r>
                <a:r>
                  <a:rPr lang="it-IT" sz="11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</a:t>
                </a:r>
                <a:r>
                  <a:rPr lang="he-IL" sz="11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</a:t>
                </a:r>
                <a:r>
                  <a:rPr lang="it-IT" sz="11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2009 - 2011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it-IT" sz="11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Pharmaceuticals Regulatory Affairs Consultant </a:t>
                </a:r>
              </a:p>
            </p:txBody>
          </p:sp>
        </p:grpSp>
        <p:sp>
          <p:nvSpPr>
            <p:cNvPr id="16" name="Text Placeholder 52">
              <a:extLst>
                <a:ext uri="{FF2B5EF4-FFF2-40B4-BE49-F238E27FC236}">
                  <a16:creationId xmlns:a16="http://schemas.microsoft.com/office/drawing/2014/main" id="{C808E312-8B22-7589-285A-1A61537E2842}"/>
                </a:ext>
              </a:extLst>
            </p:cNvPr>
            <p:cNvSpPr txBox="1">
              <a:spLocks/>
            </p:cNvSpPr>
            <p:nvPr/>
          </p:nvSpPr>
          <p:spPr>
            <a:xfrm>
              <a:off x="25782" y="6155909"/>
              <a:ext cx="5501502" cy="29403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400"/>
                </a:lnSpc>
                <a:spcBef>
                  <a:spcPts val="600"/>
                </a:spcBef>
              </a:pPr>
              <a:r>
                <a:rPr lang="en-IL" sz="1100" b="1" u="sng" kern="0" dirty="0" err="1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Protalix</a:t>
              </a:r>
              <a:r>
                <a:rPr lang="en-IL" sz="1100" b="1" u="sng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Biopharmaceuticals Inc.</a:t>
              </a:r>
              <a:r>
                <a:rPr lang="en-IL" sz="1100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he-IL" sz="1100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</a:t>
              </a:r>
              <a:r>
                <a:rPr lang="en-US" sz="1100" kern="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  </a:t>
              </a:r>
              <a:r>
                <a:rPr lang="he-IL" sz="1100" kern="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</a:t>
              </a:r>
              <a:r>
                <a:rPr lang="en-US" sz="1100" kern="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IL" sz="1100" b="1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2008 - 2009</a:t>
              </a:r>
              <a:endParaRPr lang="en-US" sz="1100" b="1" u="sng" kern="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>
                <a:lnSpc>
                  <a:spcPct val="100000"/>
                </a:lnSpc>
                <a:spcBef>
                  <a:spcPts val="200"/>
                </a:spcBef>
              </a:pPr>
              <a:r>
                <a:rPr lang="en-US" sz="1100" i="1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Product lab </a:t>
              </a:r>
              <a:r>
                <a:rPr lang="en-IL" sz="1100" i="1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QC and QA Analyst</a:t>
              </a:r>
              <a:r>
                <a:rPr lang="en-IL" sz="1100" kern="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lang="en-IL" sz="1100" kern="100" dirty="0">
                <a:effectLst/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8FB9634-08EE-5BAC-BB38-D4349B97CBF7}"/>
              </a:ext>
            </a:extLst>
          </p:cNvPr>
          <p:cNvGrpSpPr/>
          <p:nvPr/>
        </p:nvGrpSpPr>
        <p:grpSpPr>
          <a:xfrm>
            <a:off x="5558100" y="6946305"/>
            <a:ext cx="1287827" cy="1873865"/>
            <a:chOff x="76854" y="1828715"/>
            <a:chExt cx="2574077" cy="1659468"/>
          </a:xfrm>
        </p:grpSpPr>
        <p:sp>
          <p:nvSpPr>
            <p:cNvPr id="37" name="Text Placeholder 71">
              <a:extLst>
                <a:ext uri="{FF2B5EF4-FFF2-40B4-BE49-F238E27FC236}">
                  <a16:creationId xmlns:a16="http://schemas.microsoft.com/office/drawing/2014/main" id="{0634E0FC-BFF0-0613-D00F-7439C617F1BF}"/>
                </a:ext>
              </a:extLst>
            </p:cNvPr>
            <p:cNvSpPr txBox="1">
              <a:spLocks/>
            </p:cNvSpPr>
            <p:nvPr/>
          </p:nvSpPr>
          <p:spPr>
            <a:xfrm>
              <a:off x="76854" y="2019479"/>
              <a:ext cx="2574077" cy="146870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2000-200</a:t>
              </a:r>
              <a:r>
                <a:rPr lang="he-IL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3</a:t>
              </a:r>
              <a:endPara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Israeli Air Force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Planning and Control Department of the Air Force Equipment Group,</a:t>
              </a:r>
            </a:p>
            <a:p>
              <a:pPr>
                <a:lnSpc>
                  <a:spcPts val="1400"/>
                </a:lnSpc>
                <a:spcBef>
                  <a:spcPts val="0"/>
                </a:spcBef>
              </a:pPr>
              <a:r>
                <a:rPr lang="en-US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Overseeing a 27-soldier roster</a:t>
              </a:r>
            </a:p>
          </p:txBody>
        </p:sp>
        <p:sp>
          <p:nvSpPr>
            <p:cNvPr id="41" name="Text Placeholder 46">
              <a:extLst>
                <a:ext uri="{FF2B5EF4-FFF2-40B4-BE49-F238E27FC236}">
                  <a16:creationId xmlns:a16="http://schemas.microsoft.com/office/drawing/2014/main" id="{BD126F1D-679D-114C-D793-2E053738FEA2}"/>
                </a:ext>
              </a:extLst>
            </p:cNvPr>
            <p:cNvSpPr txBox="1">
              <a:spLocks/>
            </p:cNvSpPr>
            <p:nvPr/>
          </p:nvSpPr>
          <p:spPr>
            <a:xfrm>
              <a:off x="83544" y="1828715"/>
              <a:ext cx="2567387" cy="24247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Military service 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42C7D14-6473-C58B-4684-40E574D32C20}"/>
              </a:ext>
            </a:extLst>
          </p:cNvPr>
          <p:cNvGrpSpPr/>
          <p:nvPr/>
        </p:nvGrpSpPr>
        <p:grpSpPr>
          <a:xfrm>
            <a:off x="54335" y="7618814"/>
            <a:ext cx="5434354" cy="1101826"/>
            <a:chOff x="2641380" y="5469010"/>
            <a:chExt cx="4189923" cy="403946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F1DFD10-D323-826F-7A7C-1833B48F6D5C}"/>
                </a:ext>
              </a:extLst>
            </p:cNvPr>
            <p:cNvSpPr txBox="1"/>
            <p:nvPr/>
          </p:nvSpPr>
          <p:spPr>
            <a:xfrm>
              <a:off x="2641380" y="6118844"/>
              <a:ext cx="4189923" cy="3389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200"/>
                </a:spcBef>
              </a:pP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  <a:hlinkClick r:id="rId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Ride to Freedom Horse Farm</a:t>
              </a:r>
              <a:r>
                <a:rPr lang="en-US" sz="105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   	          </a:t>
              </a:r>
              <a:r>
                <a:rPr lang="he-IL" sz="105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</a:t>
              </a:r>
              <a:r>
                <a:rPr lang="en-US" sz="105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Jan 2024 – Present </a:t>
              </a:r>
            </a:p>
            <a:p>
              <a:pPr marL="90488" indent="-90488" defTabSz="6858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1000" dirty="0">
                  <a:latin typeface="Overpass" pitchFamily="2" charset="0"/>
                </a:rPr>
                <a:t>Project Volunteer: Collaborating with a farm to establish a mental health center for soldiers, 'Nova' party victims, and their families</a:t>
              </a:r>
            </a:p>
            <a:p>
              <a:pPr marL="90488" indent="-90488" defTabSz="6858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  <a:hlinkClick r:id="rId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Technion - Israel Institute of Technology-ASAT</a:t>
              </a: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  </a:t>
              </a:r>
              <a:r>
                <a:rPr lang="he-IL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</a:t>
              </a:r>
              <a:r>
                <a:rPr lang="en-US" sz="105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2006 - 2008</a:t>
              </a:r>
            </a:p>
            <a:p>
              <a:pPr defTabSz="685800">
                <a:lnSpc>
                  <a:spcPts val="1400"/>
                </a:lnSpc>
              </a:pPr>
              <a:r>
                <a:rPr lang="en-US" sz="10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  Chairman, Student Faculty Committee, ASAT Technion</a:t>
              </a:r>
            </a:p>
          </p:txBody>
        </p:sp>
        <p:sp>
          <p:nvSpPr>
            <p:cNvPr id="49" name="Text Placeholder 45">
              <a:extLst>
                <a:ext uri="{FF2B5EF4-FFF2-40B4-BE49-F238E27FC236}">
                  <a16:creationId xmlns:a16="http://schemas.microsoft.com/office/drawing/2014/main" id="{E32A2FC0-CC81-8A27-85B4-1522455EA9EF}"/>
                </a:ext>
              </a:extLst>
            </p:cNvPr>
            <p:cNvSpPr txBox="1">
              <a:spLocks/>
            </p:cNvSpPr>
            <p:nvPr/>
          </p:nvSpPr>
          <p:spPr>
            <a:xfrm>
              <a:off x="2699277" y="5469010"/>
              <a:ext cx="1514113" cy="73094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Volunteering work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30088</TotalTime>
  <Words>615</Words>
  <Application>Microsoft Office PowerPoint</Application>
  <PresentationFormat>Letter Paper (8.5x11 in)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6</cp:revision>
  <dcterms:created xsi:type="dcterms:W3CDTF">2024-07-25T09:15:15Z</dcterms:created>
  <dcterms:modified xsi:type="dcterms:W3CDTF">2025-11-26T09:51:28Z</dcterms:modified>
</cp:coreProperties>
</file>