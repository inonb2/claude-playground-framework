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472" userDrawn="1">
          <p15:clr>
            <a:srgbClr val="A4A3A4"/>
          </p15:clr>
        </p15:guide>
        <p15:guide id="2" pos="264" userDrawn="1">
          <p15:clr>
            <a:srgbClr val="A4A3A4"/>
          </p15:clr>
        </p15:guide>
        <p15:guide id="3" pos="4056" userDrawn="1">
          <p15:clr>
            <a:srgbClr val="A4A3A4"/>
          </p15:clr>
        </p15:guide>
        <p15:guide id="4" orient="horz" pos="480" userDrawn="1">
          <p15:clr>
            <a:srgbClr val="A4A3A4"/>
          </p15:clr>
        </p15:guide>
        <p15:guide id="5" pos="22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ABE2"/>
    <a:srgbClr val="5E429C"/>
    <a:srgbClr val="4E3781"/>
    <a:srgbClr val="7233FF"/>
    <a:srgbClr val="726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1" autoAdjust="0"/>
    <p:restoredTop sz="95223" autoAdjust="0"/>
  </p:normalViewPr>
  <p:slideViewPr>
    <p:cSldViewPr snapToGrid="0" snapToObjects="1" showGuides="1">
      <p:cViewPr>
        <p:scale>
          <a:sx n="150" d="100"/>
          <a:sy n="150" d="100"/>
        </p:scale>
        <p:origin x="590" y="-2523"/>
      </p:cViewPr>
      <p:guideLst>
        <p:guide orient="horz" pos="5472"/>
        <p:guide pos="264"/>
        <p:guide pos="4056"/>
        <p:guide orient="horz" pos="480"/>
        <p:guide pos="22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8/10/relationships/authors" Target="authors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on Baasov" userId="675f8575db202d33" providerId="LiveId" clId="{CA1A4E40-DDA9-42FD-8EF2-98A7238A2384}"/>
    <pc:docChg chg="modSld">
      <pc:chgData name="Inon Baasov" userId="675f8575db202d33" providerId="LiveId" clId="{CA1A4E40-DDA9-42FD-8EF2-98A7238A2384}" dt="2025-03-25T14:52:52.199" v="88" actId="20577"/>
      <pc:docMkLst>
        <pc:docMk/>
      </pc:docMkLst>
      <pc:sldChg chg="modSp mod">
        <pc:chgData name="Inon Baasov" userId="675f8575db202d33" providerId="LiveId" clId="{CA1A4E40-DDA9-42FD-8EF2-98A7238A2384}" dt="2025-03-25T14:52:52.199" v="88" actId="20577"/>
        <pc:sldMkLst>
          <pc:docMk/>
          <pc:sldMk cId="1945325877" sldId="260"/>
        </pc:sldMkLst>
        <pc:spChg chg="mod">
          <ac:chgData name="Inon Baasov" userId="675f8575db202d33" providerId="LiveId" clId="{CA1A4E40-DDA9-42FD-8EF2-98A7238A2384}" dt="2025-03-25T14:48:57.802" v="14" actId="113"/>
          <ac:spMkLst>
            <pc:docMk/>
            <pc:sldMk cId="1945325877" sldId="260"/>
            <ac:spMk id="5" creationId="{CD85A639-1B8A-878B-04BB-3EE82339007A}"/>
          </ac:spMkLst>
        </pc:spChg>
        <pc:spChg chg="mod">
          <ac:chgData name="Inon Baasov" userId="675f8575db202d33" providerId="LiveId" clId="{CA1A4E40-DDA9-42FD-8EF2-98A7238A2384}" dt="2025-03-25T14:52:52.199" v="88" actId="20577"/>
          <ac:spMkLst>
            <pc:docMk/>
            <pc:sldMk cId="1945325877" sldId="260"/>
            <ac:spMk id="11" creationId="{D6C75DF8-197B-BFD3-34D2-297D5EA3D21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BD6D3A-6FF1-3245-8C0C-0CDAD9137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1029F-5AC1-4540-B209-199E706F7F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396E7-87BF-864A-BE04-A221C272D6E1}" type="datetimeFigureOut">
              <a:rPr lang="en-US" smtClean="0"/>
              <a:t>3/25/2025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ECBB-A41A-8545-BE90-99EEEFFE5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82C71-B8E6-9B4A-85BE-BA104C2C46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17898-3A10-CF44-A552-3280948685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252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DC7F0-27B3-48E7-9288-964E7EEDAEE4}" type="datetimeFigureOut">
              <a:rPr lang="en-US" smtClean="0"/>
              <a:t>3/25/2025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E8996-8344-4FE8-B696-CB62494C5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59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3628FB-09C0-9218-8AD8-484522160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108960" cy="91440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B405A6-4054-4F5B-DFE8-CC8F1C8A4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982" y="334437"/>
            <a:ext cx="2547906" cy="1767417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5" name="Subtitle 1">
            <a:extLst>
              <a:ext uri="{FF2B5EF4-FFF2-40B4-BE49-F238E27FC236}">
                <a16:creationId xmlns:a16="http://schemas.microsoft.com/office/drawing/2014/main" id="{B5BBB822-3F61-8847-9FE1-AC2152B707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982" y="216116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BB9DCF0-3C53-572B-BEDB-E6FF6DAEEE8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93639" y="2534671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848FBFDE-1CD7-2BB9-4D11-81BF1341E12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8603" y="2531944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D02C291-F6CF-ACA7-A85C-5A6C846621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93639" y="2783314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A07DDA14-3480-A3E9-1F0C-6BFCC39A012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8603" y="2782446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738550BD-6F22-25CD-EC94-B9BAA332E79B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93639" y="3043387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DD77BF0B-2F4E-26FF-6061-CE3BA6AE8A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8603" y="3039200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D302E13-9436-7180-A8BD-EA7BB15859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982" y="3556211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1F5ACFB8-6727-BA0B-8F16-5BD074AF86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6524" y="394461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5537FE34-0820-E912-112A-604D2E8B6F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8163" y="4134291"/>
            <a:ext cx="2255838" cy="564352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Subtitle 3">
            <a:extLst>
              <a:ext uri="{FF2B5EF4-FFF2-40B4-BE49-F238E27FC236}">
                <a16:creationId xmlns:a16="http://schemas.microsoft.com/office/drawing/2014/main" id="{87ABDC44-9CB6-639F-8113-C39B4DC57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4259" y="4854087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25B77BB7-8B1E-B710-335A-667CFA293FA8}"/>
              </a:ext>
            </a:extLst>
          </p:cNvPr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436483" y="528716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05191D3-01D5-CF69-3362-65A63E79FFFB}"/>
              </a:ext>
            </a:extLst>
          </p:cNvPr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436483" y="5287168"/>
            <a:ext cx="1307592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7B91F810-8716-53AA-45FC-BEB0D90351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3790" y="534274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5100E32E-1E3F-0B39-F82A-95CA4FABA806}"/>
              </a:ext>
            </a:extLst>
          </p:cNvPr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436483" y="564828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4E4A64E9-E99A-661C-14D2-3651D11A4D39}"/>
              </a:ext>
            </a:extLst>
          </p:cNvPr>
          <p:cNvSpPr>
            <a:spLocks noGrp="1"/>
          </p:cNvSpPr>
          <p:nvPr userDrawn="1">
            <p:ph type="body" sz="quarter" idx="51" hasCustomPrompt="1"/>
          </p:nvPr>
        </p:nvSpPr>
        <p:spPr>
          <a:xfrm>
            <a:off x="436483" y="5648288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374C7F2F-446E-F9EB-F954-E1237F4FB3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3790" y="570469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72285F55-A7F4-BFBA-87CF-6E9EC63501EA}"/>
              </a:ext>
            </a:extLst>
          </p:cNvPr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436483" y="6014191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61B721E-905B-B616-1FDC-23DA0F8D7988}"/>
              </a:ext>
            </a:extLst>
          </p:cNvPr>
          <p:cNvSpPr>
            <a:spLocks noGrp="1"/>
          </p:cNvSpPr>
          <p:nvPr userDrawn="1">
            <p:ph type="body" sz="quarter" idx="52" hasCustomPrompt="1"/>
          </p:nvPr>
        </p:nvSpPr>
        <p:spPr>
          <a:xfrm>
            <a:off x="436483" y="6014191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70A1DD9E-5637-BED4-D81D-26769E3A1D9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3790" y="608174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8195B5E-5A92-9DF8-69E6-1FDEF8625DA3}"/>
              </a:ext>
            </a:extLst>
          </p:cNvPr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436483" y="6380715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9C13429E-3EB9-27EB-6C4C-198B8A05AE09}"/>
              </a:ext>
            </a:extLst>
          </p:cNvPr>
          <p:cNvSpPr>
            <a:spLocks noGrp="1"/>
          </p:cNvSpPr>
          <p:nvPr userDrawn="1">
            <p:ph type="body" sz="quarter" idx="53" hasCustomPrompt="1"/>
          </p:nvPr>
        </p:nvSpPr>
        <p:spPr>
          <a:xfrm>
            <a:off x="436483" y="6380715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30F8E052-026B-A2C7-00F9-5A8191673A2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5982" y="6442879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EFFA591-7752-F08D-E538-700399739FF7}"/>
              </a:ext>
            </a:extLst>
          </p:cNvPr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436483" y="6747843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84336FE2-8214-1829-A7AF-834DFC3FBA72}"/>
              </a:ext>
            </a:extLst>
          </p:cNvPr>
          <p:cNvSpPr>
            <a:spLocks noGrp="1"/>
          </p:cNvSpPr>
          <p:nvPr userDrawn="1">
            <p:ph type="body" sz="quarter" idx="54" hasCustomPrompt="1"/>
          </p:nvPr>
        </p:nvSpPr>
        <p:spPr>
          <a:xfrm>
            <a:off x="436483" y="6747843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2D92D201-D478-AF77-91E0-D694221200A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259" y="6806974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Subtitle 4">
            <a:extLst>
              <a:ext uri="{FF2B5EF4-FFF2-40B4-BE49-F238E27FC236}">
                <a16:creationId xmlns:a16="http://schemas.microsoft.com/office/drawing/2014/main" id="{16EB345E-375D-D8CB-E3AB-9902A9952D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6223" y="731877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C77B420B-6BBC-FE4B-C5A3-C2ACD2A877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8163" y="7694677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31D5C524-3FAF-06D9-E34A-A072BA1EE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8163" y="795909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C2968ADF-5ABD-381F-F8DE-1924F7AE71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8163" y="8189832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Subtitle 5">
            <a:extLst>
              <a:ext uri="{FF2B5EF4-FFF2-40B4-BE49-F238E27FC236}">
                <a16:creationId xmlns:a16="http://schemas.microsoft.com/office/drawing/2014/main" id="{57B755CC-C1F4-1BA2-EE05-6161797B11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1232" y="727563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6701F2F4-7594-5D03-D154-7ABCBE39D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1232" y="112122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BFCDBE8-D7C4-CF4F-E94C-BBB350E776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11232" y="131090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6EACADD5-0C03-B318-5BE9-37EFC79D5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1232" y="152848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6E42F90-B451-B5B0-7FE5-99BD43EE4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1232" y="1752954"/>
            <a:ext cx="2957512" cy="127585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231BB45D-9F27-B4AC-930B-75553AB2F6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1232" y="308219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79396527-1343-6E5F-01F2-7F6787FC0A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11232" y="3302355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5DD329E3-4DD8-5AAB-F563-041FA3DA46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11232" y="351994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AEF84B5D-0AD9-27D5-7981-DC077EDAA1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11232" y="3762696"/>
            <a:ext cx="3050796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3DE965BF-79E4-51BB-D900-79E5988745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11232" y="488690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9045A0A8-0EF1-B403-236A-2DF3B7A058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11232" y="507658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1E1250C8-A56F-54E4-2F74-E8111C1EB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11232" y="5306359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49A63675-1646-B628-7CDF-CC4F1FB368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11232" y="5543018"/>
            <a:ext cx="3045044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Subtitle 6">
            <a:extLst>
              <a:ext uri="{FF2B5EF4-FFF2-40B4-BE49-F238E27FC236}">
                <a16:creationId xmlns:a16="http://schemas.microsoft.com/office/drawing/2014/main" id="{99A0F316-873B-EF84-45C8-62541070FC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11232" y="6865150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4D514417-B19E-BA52-F9B2-8DCF47F55B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11232" y="7245402"/>
            <a:ext cx="2255838" cy="12889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1047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8C10ABA-8587-C140-975A-2657A4627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684" y="406653"/>
            <a:ext cx="5131177" cy="535531"/>
          </a:xfrm>
        </p:spPr>
        <p:txBody>
          <a:bodyPr lIns="0" rIns="0">
            <a:noAutofit/>
          </a:bodyPr>
          <a:lstStyle>
            <a:lvl1pPr>
              <a:defRPr sz="3600" b="0" i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NAME HERE</a:t>
            </a:r>
          </a:p>
        </p:txBody>
      </p:sp>
      <p:sp>
        <p:nvSpPr>
          <p:cNvPr id="20" name="Text Placeholder 18" hidden="1">
            <a:extLst>
              <a:ext uri="{FF2B5EF4-FFF2-40B4-BE49-F238E27FC236}">
                <a16:creationId xmlns:a16="http://schemas.microsoft.com/office/drawing/2014/main" id="{5B977851-1691-7D44-B07D-01B553D09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4815" y="6296395"/>
            <a:ext cx="1534463" cy="23431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EDUCATION</a:t>
            </a:r>
          </a:p>
        </p:txBody>
      </p:sp>
      <p:sp>
        <p:nvSpPr>
          <p:cNvPr id="25" name="Text Placeholder 18" hidden="1">
            <a:extLst>
              <a:ext uri="{FF2B5EF4-FFF2-40B4-BE49-F238E27FC236}">
                <a16:creationId xmlns:a16="http://schemas.microsoft.com/office/drawing/2014/main" id="{420A5075-C2B7-444D-BC6C-6938ACA01F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00528" y="6603863"/>
            <a:ext cx="1359978" cy="27107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School Name</a:t>
            </a:r>
          </a:p>
        </p:txBody>
      </p:sp>
      <p:sp>
        <p:nvSpPr>
          <p:cNvPr id="30" name="Text Placeholder 18" hidden="1">
            <a:extLst>
              <a:ext uri="{FF2B5EF4-FFF2-40B4-BE49-F238E27FC236}">
                <a16:creationId xmlns:a16="http://schemas.microsoft.com/office/drawing/2014/main" id="{5C2D1E8C-5EC6-3F41-93FE-E77D60FCAF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0528" y="6843268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[Date From]-[To]</a:t>
            </a:r>
          </a:p>
        </p:txBody>
      </p:sp>
      <p:sp>
        <p:nvSpPr>
          <p:cNvPr id="31" name="Text Placeholder 18" hidden="1">
            <a:extLst>
              <a:ext uri="{FF2B5EF4-FFF2-40B4-BE49-F238E27FC236}">
                <a16:creationId xmlns:a16="http://schemas.microsoft.com/office/drawing/2014/main" id="{5262C941-7E67-EA41-A288-3F705E28D2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00528" y="7036079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[Name of Degree]</a:t>
            </a:r>
          </a:p>
        </p:txBody>
      </p:sp>
      <p:sp>
        <p:nvSpPr>
          <p:cNvPr id="42" name="Text Placeholder 18" hidden="1">
            <a:extLst>
              <a:ext uri="{FF2B5EF4-FFF2-40B4-BE49-F238E27FC236}">
                <a16:creationId xmlns:a16="http://schemas.microsoft.com/office/drawing/2014/main" id="{BF56832D-FE58-2F46-9555-1CCA6C0981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04434" y="7040230"/>
            <a:ext cx="693702" cy="202510"/>
          </a:xfrm>
        </p:spPr>
        <p:txBody>
          <a:bodyPr lIns="0" rIns="0"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GPA</a:t>
            </a:r>
          </a:p>
        </p:txBody>
      </p:sp>
      <p:sp>
        <p:nvSpPr>
          <p:cNvPr id="43" name="Text Placeholder 18" hidden="1">
            <a:extLst>
              <a:ext uri="{FF2B5EF4-FFF2-40B4-BE49-F238E27FC236}">
                <a16:creationId xmlns:a16="http://schemas.microsoft.com/office/drawing/2014/main" id="{FDF93C53-2C8A-884C-B211-EF7B46AB7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04434" y="6653422"/>
            <a:ext cx="693702" cy="39355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4.0</a:t>
            </a:r>
          </a:p>
        </p:txBody>
      </p:sp>
      <p:sp>
        <p:nvSpPr>
          <p:cNvPr id="96" name="Text Placeholder 8" hidden="1">
            <a:extLst>
              <a:ext uri="{FF2B5EF4-FFF2-40B4-BE49-F238E27FC236}">
                <a16:creationId xmlns:a16="http://schemas.microsoft.com/office/drawing/2014/main" id="{2B1A41A9-8C5A-224E-9B99-968DDF5B82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9684" y="1569344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97" name="Text Placeholder 8" hidden="1">
            <a:extLst>
              <a:ext uri="{FF2B5EF4-FFF2-40B4-BE49-F238E27FC236}">
                <a16:creationId xmlns:a16="http://schemas.microsoft.com/office/drawing/2014/main" id="{621A3ADB-23BD-8F43-BACD-95921D4463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9684" y="1860357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98" name="Text Placeholder 8" hidden="1">
            <a:extLst>
              <a:ext uri="{FF2B5EF4-FFF2-40B4-BE49-F238E27FC236}">
                <a16:creationId xmlns:a16="http://schemas.microsoft.com/office/drawing/2014/main" id="{D6D17EAF-2F02-AA4A-8E44-8B309C23BE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9684" y="2056280"/>
            <a:ext cx="2925612" cy="684375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99" name="Text Placeholder 8" hidden="1">
            <a:extLst>
              <a:ext uri="{FF2B5EF4-FFF2-40B4-BE49-F238E27FC236}">
                <a16:creationId xmlns:a16="http://schemas.microsoft.com/office/drawing/2014/main" id="{6E210A9C-46CF-E34B-8A51-F4EB49C0E8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9684" y="1145426"/>
            <a:ext cx="2925613" cy="293251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EXPERIENCE</a:t>
            </a:r>
          </a:p>
        </p:txBody>
      </p:sp>
      <p:sp>
        <p:nvSpPr>
          <p:cNvPr id="104" name="Text Placeholder 8" hidden="1">
            <a:extLst>
              <a:ext uri="{FF2B5EF4-FFF2-40B4-BE49-F238E27FC236}">
                <a16:creationId xmlns:a16="http://schemas.microsoft.com/office/drawing/2014/main" id="{5B112CE7-45E8-2E43-A633-DB4096453E1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9684" y="2840591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5" name="Text Placeholder 8" hidden="1">
            <a:extLst>
              <a:ext uri="{FF2B5EF4-FFF2-40B4-BE49-F238E27FC236}">
                <a16:creationId xmlns:a16="http://schemas.microsoft.com/office/drawing/2014/main" id="{57C75573-1BA8-C749-8829-0A0E96DACB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9684" y="3131604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6" name="Text Placeholder 8" hidden="1">
            <a:extLst>
              <a:ext uri="{FF2B5EF4-FFF2-40B4-BE49-F238E27FC236}">
                <a16:creationId xmlns:a16="http://schemas.microsoft.com/office/drawing/2014/main" id="{03288328-BBC2-C043-ABA7-6DE1329DE9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9684" y="3327527"/>
            <a:ext cx="2925612" cy="668990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enm ad minim veniam, quis nostrud exercitation.</a:t>
            </a:r>
          </a:p>
        </p:txBody>
      </p:sp>
      <p:sp>
        <p:nvSpPr>
          <p:cNvPr id="107" name="Text Placeholder 8" hidden="1">
            <a:extLst>
              <a:ext uri="{FF2B5EF4-FFF2-40B4-BE49-F238E27FC236}">
                <a16:creationId xmlns:a16="http://schemas.microsoft.com/office/drawing/2014/main" id="{82046C4E-90DA-4347-A96F-BD316B2235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79684" y="4107059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8" name="Text Placeholder 8" hidden="1">
            <a:extLst>
              <a:ext uri="{FF2B5EF4-FFF2-40B4-BE49-F238E27FC236}">
                <a16:creationId xmlns:a16="http://schemas.microsoft.com/office/drawing/2014/main" id="{D7E3073B-1F03-B344-9CCF-D116EF9641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9684" y="4398072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9" name="Text Placeholder 8" hidden="1">
            <a:extLst>
              <a:ext uri="{FF2B5EF4-FFF2-40B4-BE49-F238E27FC236}">
                <a16:creationId xmlns:a16="http://schemas.microsoft.com/office/drawing/2014/main" id="{2EE283F0-AFCD-5741-8C35-207ABF2D6E5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9684" y="4593995"/>
            <a:ext cx="2925612" cy="709398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141" name="Text Placeholder 18" hidden="1">
            <a:extLst>
              <a:ext uri="{FF2B5EF4-FFF2-40B4-BE49-F238E27FC236}">
                <a16:creationId xmlns:a16="http://schemas.microsoft.com/office/drawing/2014/main" id="{74300729-6F26-BF4C-84B9-420C9383BB7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76399" y="7594586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[www.website.com]</a:t>
            </a:r>
          </a:p>
        </p:txBody>
      </p:sp>
      <p:sp>
        <p:nvSpPr>
          <p:cNvPr id="142" name="Text Placeholder 18" hidden="1">
            <a:extLst>
              <a:ext uri="{FF2B5EF4-FFF2-40B4-BE49-F238E27FC236}">
                <a16:creationId xmlns:a16="http://schemas.microsoft.com/office/drawing/2014/main" id="{DDE57839-AE02-5A48-BA9C-A372F59A8A9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976399" y="8060579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[E-mail@e-mail.com]</a:t>
            </a:r>
          </a:p>
        </p:txBody>
      </p:sp>
      <p:sp>
        <p:nvSpPr>
          <p:cNvPr id="143" name="Text Placeholder 18" hidden="1">
            <a:extLst>
              <a:ext uri="{FF2B5EF4-FFF2-40B4-BE49-F238E27FC236}">
                <a16:creationId xmlns:a16="http://schemas.microsoft.com/office/drawing/2014/main" id="{D9890AB4-F0C2-C14A-AE40-76B0671D77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976399" y="8531775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[Phone Number]</a:t>
            </a:r>
          </a:p>
        </p:txBody>
      </p:sp>
      <p:sp>
        <p:nvSpPr>
          <p:cNvPr id="306" name="Text Placeholder 25" hidden="1">
            <a:extLst>
              <a:ext uri="{FF2B5EF4-FFF2-40B4-BE49-F238E27FC236}">
                <a16:creationId xmlns:a16="http://schemas.microsoft.com/office/drawing/2014/main" id="{F296C2BF-1825-2C45-A87E-72A783A27B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10200" y="4355868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POWERPOINT</a:t>
            </a:r>
          </a:p>
        </p:txBody>
      </p:sp>
      <p:sp>
        <p:nvSpPr>
          <p:cNvPr id="310" name="Text Placeholder 25" hidden="1">
            <a:extLst>
              <a:ext uri="{FF2B5EF4-FFF2-40B4-BE49-F238E27FC236}">
                <a16:creationId xmlns:a16="http://schemas.microsoft.com/office/drawing/2014/main" id="{847127D0-A2CA-244C-B0BB-449CC673F0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10200" y="4531709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SOCIAL MEDIA</a:t>
            </a:r>
          </a:p>
        </p:txBody>
      </p:sp>
      <p:sp>
        <p:nvSpPr>
          <p:cNvPr id="312" name="Text Placeholder 25" hidden="1">
            <a:extLst>
              <a:ext uri="{FF2B5EF4-FFF2-40B4-BE49-F238E27FC236}">
                <a16:creationId xmlns:a16="http://schemas.microsoft.com/office/drawing/2014/main" id="{977FAA94-5605-AD4B-8EC7-19418B74B7F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10200" y="4702427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TEAM MANAGEMENT</a:t>
            </a:r>
          </a:p>
        </p:txBody>
      </p:sp>
      <p:sp>
        <p:nvSpPr>
          <p:cNvPr id="317" name="Text Placeholder 25" hidden="1">
            <a:extLst>
              <a:ext uri="{FF2B5EF4-FFF2-40B4-BE49-F238E27FC236}">
                <a16:creationId xmlns:a16="http://schemas.microsoft.com/office/drawing/2014/main" id="{55B31FD5-2D4E-FB40-8D3B-9D64BB06ACE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200" y="419190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EXCEL</a:t>
            </a:r>
          </a:p>
        </p:txBody>
      </p:sp>
      <p:sp>
        <p:nvSpPr>
          <p:cNvPr id="318" name="Text Placeholder 25" hidden="1">
            <a:extLst>
              <a:ext uri="{FF2B5EF4-FFF2-40B4-BE49-F238E27FC236}">
                <a16:creationId xmlns:a16="http://schemas.microsoft.com/office/drawing/2014/main" id="{ACC18595-C5AA-D643-9CE9-8E035BE3CBC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10200" y="400902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WORD</a:t>
            </a:r>
          </a:p>
        </p:txBody>
      </p:sp>
      <p:sp>
        <p:nvSpPr>
          <p:cNvPr id="336" name="Text Placeholder 25" hidden="1">
            <a:extLst>
              <a:ext uri="{FF2B5EF4-FFF2-40B4-BE49-F238E27FC236}">
                <a16:creationId xmlns:a16="http://schemas.microsoft.com/office/drawing/2014/main" id="{8AE7172C-56DA-214E-A8DD-40FE0388312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410200" y="5384539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ENGLISH</a:t>
            </a:r>
          </a:p>
        </p:txBody>
      </p:sp>
      <p:sp>
        <p:nvSpPr>
          <p:cNvPr id="337" name="Text Placeholder 25" hidden="1">
            <a:extLst>
              <a:ext uri="{FF2B5EF4-FFF2-40B4-BE49-F238E27FC236}">
                <a16:creationId xmlns:a16="http://schemas.microsoft.com/office/drawing/2014/main" id="{A97B1250-9241-564A-A4AB-2492DD96A3E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410200" y="5652555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FRENCH</a:t>
            </a:r>
          </a:p>
        </p:txBody>
      </p:sp>
      <p:sp>
        <p:nvSpPr>
          <p:cNvPr id="338" name="Text Placeholder 25" hidden="1">
            <a:extLst>
              <a:ext uri="{FF2B5EF4-FFF2-40B4-BE49-F238E27FC236}">
                <a16:creationId xmlns:a16="http://schemas.microsoft.com/office/drawing/2014/main" id="{B200B1D1-4434-5E49-8BFF-B6FF720E1D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410200" y="5922990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SPANISH</a:t>
            </a:r>
          </a:p>
        </p:txBody>
      </p:sp>
      <p:sp>
        <p:nvSpPr>
          <p:cNvPr id="339" name="Text Placeholder 25" hidden="1">
            <a:extLst>
              <a:ext uri="{FF2B5EF4-FFF2-40B4-BE49-F238E27FC236}">
                <a16:creationId xmlns:a16="http://schemas.microsoft.com/office/drawing/2014/main" id="{C4DC3A9C-1AC5-5343-ACF6-AFB45AB7A46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97877" y="8147512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MANAGEMENT</a:t>
            </a:r>
          </a:p>
        </p:txBody>
      </p:sp>
      <p:sp>
        <p:nvSpPr>
          <p:cNvPr id="340" name="Text Placeholder 25" hidden="1">
            <a:extLst>
              <a:ext uri="{FF2B5EF4-FFF2-40B4-BE49-F238E27FC236}">
                <a16:creationId xmlns:a16="http://schemas.microsoft.com/office/drawing/2014/main" id="{6004AFFB-6BAF-924B-A5F2-CA7B7E10E57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97877" y="8415528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DESIGN</a:t>
            </a:r>
          </a:p>
        </p:txBody>
      </p:sp>
      <p:sp>
        <p:nvSpPr>
          <p:cNvPr id="341" name="Text Placeholder 25" hidden="1">
            <a:extLst>
              <a:ext uri="{FF2B5EF4-FFF2-40B4-BE49-F238E27FC236}">
                <a16:creationId xmlns:a16="http://schemas.microsoft.com/office/drawing/2014/main" id="{1E9B43B5-9A43-B448-95A4-FDD649321FC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7877" y="8697907"/>
            <a:ext cx="1449583" cy="238881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DEVELOPMENT</a:t>
            </a:r>
          </a:p>
        </p:txBody>
      </p:sp>
      <p:sp>
        <p:nvSpPr>
          <p:cNvPr id="342" name="Text Placeholder 25" hidden="1">
            <a:extLst>
              <a:ext uri="{FF2B5EF4-FFF2-40B4-BE49-F238E27FC236}">
                <a16:creationId xmlns:a16="http://schemas.microsoft.com/office/drawing/2014/main" id="{1ACF054A-3D21-D642-B4C6-DB5BDAC1927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7877" y="7593880"/>
            <a:ext cx="1449583" cy="28904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ABILITIES</a:t>
            </a:r>
          </a:p>
        </p:txBody>
      </p:sp>
      <p:sp>
        <p:nvSpPr>
          <p:cNvPr id="343" name="Text Placeholder 25" hidden="1">
            <a:extLst>
              <a:ext uri="{FF2B5EF4-FFF2-40B4-BE49-F238E27FC236}">
                <a16:creationId xmlns:a16="http://schemas.microsoft.com/office/drawing/2014/main" id="{7C941C70-D057-D04B-BD74-348163471A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97877" y="7878034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MARKETING</a:t>
            </a:r>
          </a:p>
        </p:txBody>
      </p:sp>
      <p:sp>
        <p:nvSpPr>
          <p:cNvPr id="344" name="Text Placeholder 25" hidden="1">
            <a:extLst>
              <a:ext uri="{FF2B5EF4-FFF2-40B4-BE49-F238E27FC236}">
                <a16:creationId xmlns:a16="http://schemas.microsoft.com/office/drawing/2014/main" id="{CF61B5C1-8C61-1143-9083-AD58E1C749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094178" y="8160704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10</a:t>
            </a:r>
          </a:p>
        </p:txBody>
      </p:sp>
      <p:sp>
        <p:nvSpPr>
          <p:cNvPr id="345" name="Text Placeholder 25" hidden="1">
            <a:extLst>
              <a:ext uri="{FF2B5EF4-FFF2-40B4-BE49-F238E27FC236}">
                <a16:creationId xmlns:a16="http://schemas.microsoft.com/office/drawing/2014/main" id="{0B7D9C94-0A2C-3B4E-8B05-B7547A9A0E7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094178" y="8436611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7</a:t>
            </a:r>
          </a:p>
        </p:txBody>
      </p:sp>
      <p:sp>
        <p:nvSpPr>
          <p:cNvPr id="346" name="Text Placeholder 25" hidden="1">
            <a:extLst>
              <a:ext uri="{FF2B5EF4-FFF2-40B4-BE49-F238E27FC236}">
                <a16:creationId xmlns:a16="http://schemas.microsoft.com/office/drawing/2014/main" id="{CCE3AE9C-BC12-B743-BF3F-A8308EFB290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094178" y="8698945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3.5</a:t>
            </a:r>
          </a:p>
        </p:txBody>
      </p:sp>
      <p:sp>
        <p:nvSpPr>
          <p:cNvPr id="347" name="Text Placeholder 25" hidden="1">
            <a:extLst>
              <a:ext uri="{FF2B5EF4-FFF2-40B4-BE49-F238E27FC236}">
                <a16:creationId xmlns:a16="http://schemas.microsoft.com/office/drawing/2014/main" id="{F1D2929D-A8D7-274A-A253-E4556D470E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094178" y="7905308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8</a:t>
            </a:r>
          </a:p>
        </p:txBody>
      </p:sp>
      <p:sp>
        <p:nvSpPr>
          <p:cNvPr id="348" name="Text Placeholder 25" hidden="1">
            <a:extLst>
              <a:ext uri="{FF2B5EF4-FFF2-40B4-BE49-F238E27FC236}">
                <a16:creationId xmlns:a16="http://schemas.microsoft.com/office/drawing/2014/main" id="{E4C42072-2D54-8942-9963-4138F93D9F7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094543" y="7593880"/>
            <a:ext cx="1092002" cy="295809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YEARS OF EXPERIENCE</a:t>
            </a:r>
          </a:p>
        </p:txBody>
      </p:sp>
      <p:cxnSp>
        <p:nvCxnSpPr>
          <p:cNvPr id="355" name="Straight Connector 354" hidden="1">
            <a:extLst>
              <a:ext uri="{FF2B5EF4-FFF2-40B4-BE49-F238E27FC236}">
                <a16:creationId xmlns:a16="http://schemas.microsoft.com/office/drawing/2014/main" id="{DF98499B-F2A5-CA4E-943A-53F88D825970}"/>
              </a:ext>
            </a:extLst>
          </p:cNvPr>
          <p:cNvCxnSpPr>
            <a:cxnSpLocks/>
          </p:cNvCxnSpPr>
          <p:nvPr userDrawn="1"/>
        </p:nvCxnSpPr>
        <p:spPr>
          <a:xfrm>
            <a:off x="0" y="1121676"/>
            <a:ext cx="685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60" hidden="1">
            <a:extLst>
              <a:ext uri="{FF2B5EF4-FFF2-40B4-BE49-F238E27FC236}">
                <a16:creationId xmlns:a16="http://schemas.microsoft.com/office/drawing/2014/main" id="{17521193-60AC-664A-A033-8AA4404C6AA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464815" y="1146174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INTERNATIONAL EXPERIENCE</a:t>
            </a:r>
          </a:p>
        </p:txBody>
      </p:sp>
      <p:sp>
        <p:nvSpPr>
          <p:cNvPr id="359" name="Text Placeholder 60" hidden="1">
            <a:extLst>
              <a:ext uri="{FF2B5EF4-FFF2-40B4-BE49-F238E27FC236}">
                <a16:creationId xmlns:a16="http://schemas.microsoft.com/office/drawing/2014/main" id="{412CE960-3495-1F42-80A3-840D05EC91C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464815" y="3622089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SKILLS</a:t>
            </a:r>
          </a:p>
        </p:txBody>
      </p:sp>
      <p:sp>
        <p:nvSpPr>
          <p:cNvPr id="360" name="Text Placeholder 60" hidden="1">
            <a:extLst>
              <a:ext uri="{FF2B5EF4-FFF2-40B4-BE49-F238E27FC236}">
                <a16:creationId xmlns:a16="http://schemas.microsoft.com/office/drawing/2014/main" id="{08F6B783-82B6-B242-AA40-D9F7AE3B8CEC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464815" y="5014791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LANGUAGES</a:t>
            </a:r>
          </a:p>
        </p:txBody>
      </p:sp>
    </p:spTree>
    <p:extLst>
      <p:ext uri="{BB962C8B-B14F-4D97-AF65-F5344CB8AC3E}">
        <p14:creationId xmlns:p14="http://schemas.microsoft.com/office/powerpoint/2010/main" val="2072580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E597E-2F4F-2747-A9DF-6BACAD15E325}" type="datetimeFigureOut">
              <a:rPr lang="en-US" smtClean="0"/>
              <a:t>3/25/2025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D580D-DD1F-2749-85C8-F9883E4B5E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1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company/arena-plus-financial-services-ltd/" TargetMode="External"/><Relationship Id="rId7" Type="http://schemas.openxmlformats.org/officeDocument/2006/relationships/hyperlink" Target="https://www.touchetv.com/" TargetMode="External"/><Relationship Id="rId2" Type="http://schemas.openxmlformats.org/officeDocument/2006/relationships/hyperlink" Target="https://www.linkedin.com/in/InonBaasov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protalix.com/" TargetMode="External"/><Relationship Id="rId5" Type="http://schemas.openxmlformats.org/officeDocument/2006/relationships/hyperlink" Target="https://www.blau-ps.com/" TargetMode="External"/><Relationship Id="rId4" Type="http://schemas.openxmlformats.org/officeDocument/2006/relationships/hyperlink" Target="https://www.philtel.co.i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2FD50699-45B5-88EC-1B42-E5597AB067C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36321" y="772907"/>
            <a:ext cx="1379219" cy="227110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+972-54-444-5856</a:t>
            </a:r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132E1DF2-8DF7-6940-4374-52DB65EC376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2680265" y="773852"/>
            <a:ext cx="1545026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Inonbaasov@gmail.com</a:t>
            </a:r>
          </a:p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23DA089B-1D05-556D-253C-262F0FA50B6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370366" y="774300"/>
            <a:ext cx="1451313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</a:t>
            </a:r>
            <a:r>
              <a:rPr lang="en-US" dirty="0" err="1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inonbaasov</a:t>
            </a:r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0F18B5-1245-2B4C-AA47-F39938FA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72" y="307793"/>
            <a:ext cx="6858000" cy="502338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 BAASOV</a:t>
            </a:r>
            <a:endParaRPr lang="en-IL" sz="2400" dirty="0">
              <a:solidFill>
                <a:schemeClr val="tx1"/>
              </a:solidFill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BA846034-E5B0-1F9D-ABEB-DA7831B54ABD}"/>
              </a:ext>
            </a:extLst>
          </p:cNvPr>
          <p:cNvGrpSpPr/>
          <p:nvPr/>
        </p:nvGrpSpPr>
        <p:grpSpPr>
          <a:xfrm>
            <a:off x="265833" y="2702487"/>
            <a:ext cx="6430240" cy="1213193"/>
            <a:chOff x="93673" y="1854031"/>
            <a:chExt cx="2936874" cy="523978"/>
          </a:xfrm>
        </p:grpSpPr>
        <p:sp>
          <p:nvSpPr>
            <p:cNvPr id="174" name="Text Placeholder 71">
              <a:extLst>
                <a:ext uri="{FF2B5EF4-FFF2-40B4-BE49-F238E27FC236}">
                  <a16:creationId xmlns:a16="http://schemas.microsoft.com/office/drawing/2014/main" id="{67D1E309-1ED9-E676-89A4-61C198105A97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968232"/>
              <a:ext cx="2936874" cy="40977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2016-2018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;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E.MBA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Entrepreneurship and Management in High-Tech Industries,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– Israel institute of technology. Focused on strategic product development, global leadership and high-tech innovation.</a:t>
              </a:r>
            </a:p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2005-2008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;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B.Sc.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Biotechnology and Food Engineering,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- Israel Institute of Technology</a:t>
              </a:r>
            </a:p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2004-2005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; Chemical Engineering Faculty, McGill University, Montreal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Canada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endParaRPr lang="en-US" sz="11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31" name="Text Placeholder 46">
              <a:extLst>
                <a:ext uri="{FF2B5EF4-FFF2-40B4-BE49-F238E27FC236}">
                  <a16:creationId xmlns:a16="http://schemas.microsoft.com/office/drawing/2014/main" id="{341669B1-8344-D7A4-D12E-8D04FAB5F455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854031"/>
              <a:ext cx="629175" cy="12702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Education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8F3DD04-3596-890A-0289-4F6EC51FBB48}"/>
              </a:ext>
            </a:extLst>
          </p:cNvPr>
          <p:cNvGrpSpPr/>
          <p:nvPr/>
        </p:nvGrpSpPr>
        <p:grpSpPr>
          <a:xfrm>
            <a:off x="265834" y="933654"/>
            <a:ext cx="6430241" cy="1847974"/>
            <a:chOff x="2730795" y="1315393"/>
            <a:chExt cx="4054967" cy="2571101"/>
          </a:xfrm>
        </p:grpSpPr>
        <p:sp>
          <p:nvSpPr>
            <p:cNvPr id="4" name="Text Placeholder 45">
              <a:extLst>
                <a:ext uri="{FF2B5EF4-FFF2-40B4-BE49-F238E27FC236}">
                  <a16:creationId xmlns:a16="http://schemas.microsoft.com/office/drawing/2014/main" id="{A14E25B9-74B7-1D86-F100-61C9666B8B8B}"/>
                </a:ext>
              </a:extLst>
            </p:cNvPr>
            <p:cNvSpPr txBox="1">
              <a:spLocks/>
            </p:cNvSpPr>
            <p:nvPr/>
          </p:nvSpPr>
          <p:spPr>
            <a:xfrm>
              <a:off x="2733799" y="1315393"/>
              <a:ext cx="1514170" cy="40957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Professional summary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D85A639-1B8A-878B-04BB-3EE82339007A}"/>
                </a:ext>
              </a:extLst>
            </p:cNvPr>
            <p:cNvSpPr txBox="1"/>
            <p:nvPr/>
          </p:nvSpPr>
          <p:spPr>
            <a:xfrm>
              <a:off x="2730795" y="1638381"/>
              <a:ext cx="4054967" cy="2248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Overpass" pitchFamily="2" charset="0"/>
                </a:rPr>
                <a:t>Results-driven </a:t>
              </a:r>
              <a:r>
                <a:rPr lang="en-US" sz="1100" b="1" dirty="0">
                  <a:latin typeface="Overpass" pitchFamily="2" charset="0"/>
                </a:rPr>
                <a:t>Senior Product Manager</a:t>
              </a:r>
              <a:r>
                <a:rPr lang="en-US" sz="1100" dirty="0">
                  <a:latin typeface="Overpass" pitchFamily="2" charset="0"/>
                </a:rPr>
                <a:t> with 10+ years of experience leading digital products in </a:t>
              </a:r>
              <a:r>
                <a:rPr lang="en-US" sz="1100" b="1" dirty="0">
                  <a:latin typeface="Overpass" pitchFamily="2" charset="0"/>
                </a:rPr>
                <a:t>B2B SaaS, AdTech, and E-commerce</a:t>
              </a:r>
              <a:r>
                <a:rPr lang="en-US" sz="1100" dirty="0">
                  <a:latin typeface="Overpass" pitchFamily="2" charset="0"/>
                </a:rPr>
                <a:t>. Proven ability to define product strategy, execute data-driven roadmaps, and drive user engagement. Adept at working in fast-paced startups, scaling cloud-based platforms, and leveraging </a:t>
              </a:r>
              <a:r>
                <a:rPr lang="en-US" sz="1100" b="1" dirty="0">
                  <a:latin typeface="Overpass" pitchFamily="2" charset="0"/>
                </a:rPr>
                <a:t>AI</a:t>
              </a:r>
              <a:r>
                <a:rPr lang="en-US" sz="1100" dirty="0">
                  <a:latin typeface="Overpass" pitchFamily="2" charset="0"/>
                </a:rPr>
                <a:t>-powered analytics to optimize user experiences. Hands-on expertise in </a:t>
              </a:r>
              <a:r>
                <a:rPr lang="en-US" sz="1100" b="1" dirty="0">
                  <a:latin typeface="Overpass" pitchFamily="2" charset="0"/>
                </a:rPr>
                <a:t>UX/UI </a:t>
              </a:r>
              <a:r>
                <a:rPr lang="en-US" sz="1100" dirty="0">
                  <a:latin typeface="Overpass" pitchFamily="2" charset="0"/>
                </a:rPr>
                <a:t>(Figma, Adobe XD), </a:t>
              </a:r>
              <a:r>
                <a:rPr lang="en-US" sz="1100" b="1" dirty="0">
                  <a:latin typeface="Overpass" pitchFamily="2" charset="0"/>
                </a:rPr>
                <a:t>Agile </a:t>
              </a:r>
              <a:r>
                <a:rPr lang="en-US" sz="1100" dirty="0">
                  <a:latin typeface="Overpass" pitchFamily="2" charset="0"/>
                </a:rPr>
                <a:t>methodologies, and A/B testing, with a track record of leading cross-functional teams to deliver impactful digital solutions. Successfully launched customer-facing and enterprise SaaS products, achieving </a:t>
              </a:r>
              <a:r>
                <a:rPr lang="en-US" sz="1100" b="1" dirty="0">
                  <a:latin typeface="Overpass" pitchFamily="2" charset="0"/>
                </a:rPr>
                <a:t>+22% adoption growth</a:t>
              </a:r>
              <a:r>
                <a:rPr lang="en-US" sz="1100" dirty="0">
                  <a:latin typeface="Overpass" pitchFamily="2" charset="0"/>
                </a:rPr>
                <a:t> and securing </a:t>
              </a:r>
              <a:r>
                <a:rPr lang="en-US" sz="1100" b="1" dirty="0">
                  <a:latin typeface="Overpass" pitchFamily="2" charset="0"/>
                </a:rPr>
                <a:t>$2.5M in funding</a:t>
              </a:r>
              <a:r>
                <a:rPr lang="en-US" sz="1100" dirty="0">
                  <a:latin typeface="Overpass" pitchFamily="2" charset="0"/>
                </a:rPr>
                <a:t>. Passionate about solving complex problems, building user-centric experiences, and driving product-led growth.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A96F9C5-B4EE-2CE6-5E39-6D2B06DDBAA4}"/>
              </a:ext>
            </a:extLst>
          </p:cNvPr>
          <p:cNvGrpSpPr/>
          <p:nvPr/>
        </p:nvGrpSpPr>
        <p:grpSpPr>
          <a:xfrm>
            <a:off x="265833" y="3879049"/>
            <a:ext cx="6413072" cy="4981717"/>
            <a:chOff x="78398" y="3474258"/>
            <a:chExt cx="6718755" cy="459126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943FD8F-B645-F5DD-0443-9670451D8FB5}"/>
                </a:ext>
              </a:extLst>
            </p:cNvPr>
            <p:cNvGrpSpPr/>
            <p:nvPr/>
          </p:nvGrpSpPr>
          <p:grpSpPr>
            <a:xfrm>
              <a:off x="78398" y="3474258"/>
              <a:ext cx="6718755" cy="4591261"/>
              <a:chOff x="-24741" y="2630067"/>
              <a:chExt cx="6949855" cy="3560807"/>
            </a:xfrm>
          </p:grpSpPr>
          <p:sp>
            <p:nvSpPr>
              <p:cNvPr id="154" name="Text Placeholder 52">
                <a:extLst>
                  <a:ext uri="{FF2B5EF4-FFF2-40B4-BE49-F238E27FC236}">
                    <a16:creationId xmlns:a16="http://schemas.microsoft.com/office/drawing/2014/main" id="{7B120799-BCC3-8E46-2EA5-CFAE368C1F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24741" y="4617370"/>
                <a:ext cx="6943718" cy="6781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ts val="15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L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Arena Plus Financial Services Ltd.</a:t>
                </a:r>
                <a:r>
                  <a:rPr lang="en-US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 </a:t>
                </a:r>
                <a:r>
                  <a:rPr lang="en-US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       </a:t>
                </a:r>
                <a:r>
                  <a:rPr lang="en-IL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2013 - 2018</a:t>
                </a:r>
                <a:endPara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en-IL" sz="120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Product Manager</a:t>
                </a:r>
                <a:endParaRPr lang="en-US" sz="1200" i="1" kern="100" dirty="0">
                  <a:effectLst/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90000" indent="-900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Established an Agile culture, cutting product rollout </a:t>
                </a:r>
                <a:r>
                  <a:rPr lang="en-US" sz="1100" b="1" dirty="0">
                    <a:latin typeface="Overpass" pitchFamily="2" charset="0"/>
                  </a:rPr>
                  <a:t>TTM</a:t>
                </a:r>
                <a:r>
                  <a:rPr lang="en-US" sz="1100" dirty="0">
                    <a:latin typeface="Overpass" pitchFamily="2" charset="0"/>
                  </a:rPr>
                  <a:t> by 20%. Managed lifecycles, global development teams, and 3rd-party UI/UX via JIRA while driving 15% business </a:t>
                </a:r>
                <a:r>
                  <a:rPr lang="en-US" sz="1100" b="1" dirty="0">
                    <a:latin typeface="Overpass" pitchFamily="2" charset="0"/>
                  </a:rPr>
                  <a:t>growth</a:t>
                </a:r>
                <a:r>
                  <a:rPr lang="en-US" sz="1100" dirty="0">
                    <a:latin typeface="Overpass" pitchFamily="2" charset="0"/>
                  </a:rPr>
                  <a:t> and +22% adoption through strategic roadmaps.</a:t>
                </a:r>
                <a:endPara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42" name="Text Placeholder 45">
                <a:extLst>
                  <a:ext uri="{FF2B5EF4-FFF2-40B4-BE49-F238E27FC236}">
                    <a16:creationId xmlns:a16="http://schemas.microsoft.com/office/drawing/2014/main" id="{736313EA-3C2D-C5A9-2ED3-22681A16B47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9577" y="2630067"/>
                <a:ext cx="2719751" cy="19915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accent5"/>
                    </a:solidFill>
                    <a:latin typeface="+mj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u="sng" dirty="0">
                    <a:solidFill>
                      <a:srgbClr val="10ABE2"/>
                    </a:solidFill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Professional experience</a:t>
                </a:r>
              </a:p>
            </p:txBody>
          </p:sp>
          <p:sp>
            <p:nvSpPr>
              <p:cNvPr id="9" name="Text Placeholder 52">
                <a:extLst>
                  <a:ext uri="{FF2B5EF4-FFF2-40B4-BE49-F238E27FC236}">
                    <a16:creationId xmlns:a16="http://schemas.microsoft.com/office/drawing/2014/main" id="{6871FAD5-DAC9-2E88-43EE-71DE2313B5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8603" y="5260068"/>
                <a:ext cx="6943717" cy="29735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ts val="15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it-IT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4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Pharmabest Inc. &amp; Philtel Inc.</a:t>
                </a:r>
                <a:r>
                  <a:rPr lang="it-IT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 	        2011 - 2013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it-IT" sz="120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Exec. QA Manager</a:t>
                </a:r>
              </a:p>
            </p:txBody>
          </p:sp>
          <p:sp>
            <p:nvSpPr>
              <p:cNvPr id="10" name="Text Placeholder 52">
                <a:extLst>
                  <a:ext uri="{FF2B5EF4-FFF2-40B4-BE49-F238E27FC236}">
                    <a16:creationId xmlns:a16="http://schemas.microsoft.com/office/drawing/2014/main" id="{BA499EBC-730C-6472-42B1-4FBCAD1BA5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6035" y="5539414"/>
                <a:ext cx="6931149" cy="29735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ts val="15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it-IT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Blau Pharmaceuticals Services Inc.</a:t>
                </a:r>
                <a:r>
                  <a:rPr lang="it-IT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       2009 - 2011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it-IT" sz="120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Pharmaceuticals Regulatory Affairs Consultant </a:t>
                </a:r>
              </a:p>
            </p:txBody>
          </p:sp>
          <p:sp>
            <p:nvSpPr>
              <p:cNvPr id="19" name="Text Placeholder 52">
                <a:extLst>
                  <a:ext uri="{FF2B5EF4-FFF2-40B4-BE49-F238E27FC236}">
                    <a16:creationId xmlns:a16="http://schemas.microsoft.com/office/drawing/2014/main" id="{51D7DC8D-2F99-AB46-78E2-B5E0C0325B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9577" y="5839909"/>
                <a:ext cx="6944690" cy="3509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ts val="15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400"/>
                  </a:lnSpc>
                  <a:spcBef>
                    <a:spcPts val="600"/>
                  </a:spcBef>
                </a:pPr>
                <a:r>
                  <a:rPr lang="en-IL" sz="1200" b="1" u="sng" kern="0" dirty="0" err="1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Protalix</a:t>
                </a:r>
                <a:r>
                  <a:rPr lang="en-IL" sz="1200" b="1" u="sng" kern="0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 Biopharmaceuticals Inc.</a:t>
                </a:r>
                <a:r>
                  <a:rPr lang="en-IL" sz="1200" kern="0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200" kern="0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</a:t>
                </a:r>
                <a:r>
                  <a:rPr lang="en-US" sz="1200" b="1" kern="0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</a:t>
                </a:r>
                <a:r>
                  <a:rPr lang="en-IL" sz="1200" b="1" kern="0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2008 - 2009</a:t>
                </a:r>
                <a:endParaRPr lang="en-US" sz="1200" b="1" u="sng" kern="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en-IL" sz="1200" i="1" kern="0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QC and QA Analyst</a:t>
                </a:r>
                <a:r>
                  <a:rPr lang="en-IL" sz="1200" kern="0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endParaRPr lang="en-IL" sz="1200" kern="100" dirty="0">
                  <a:effectLst/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6C75DF8-197B-BFD3-34D2-297D5EA3D213}"/>
                </a:ext>
              </a:extLst>
            </p:cNvPr>
            <p:cNvSpPr txBox="1">
              <a:spLocks/>
            </p:cNvSpPr>
            <p:nvPr/>
          </p:nvSpPr>
          <p:spPr>
            <a:xfrm>
              <a:off x="78399" y="3695817"/>
              <a:ext cx="6713716" cy="24346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TouchE TV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	 	        		      2018 - 2024</a:t>
              </a:r>
            </a:p>
            <a:p>
              <a:pPr>
                <a:lnSpc>
                  <a:spcPct val="100000"/>
                </a:lnSpc>
                <a:spcBef>
                  <a:spcPts val="200"/>
                </a:spcBef>
              </a:pPr>
              <a:r>
                <a:rPr lang="en-US" sz="1200" i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Co-Founder, In charge of Product, </a:t>
              </a:r>
              <a:r>
                <a:rPr lang="en-US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Raised funds +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$2.5M </a:t>
              </a:r>
              <a:endParaRPr lang="en-US" sz="1200" b="1" i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90000" indent="-90000">
                <a:lnSpc>
                  <a:spcPts val="14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Spearheaded the end-to-end development of a </a:t>
              </a:r>
              <a:r>
                <a:rPr lang="en-US" sz="1100" b="1" dirty="0">
                  <a:latin typeface="Overpass" pitchFamily="2" charset="0"/>
                </a:rPr>
                <a:t>B2B SaaS </a:t>
              </a:r>
              <a:r>
                <a:rPr lang="en-US" sz="1100" dirty="0">
                  <a:latin typeface="Overpass" pitchFamily="2" charset="0"/>
                </a:rPr>
                <a:t>video platform, integrating </a:t>
              </a:r>
              <a:r>
                <a:rPr lang="en-US" sz="1100" b="1" dirty="0">
                  <a:latin typeface="Overpass" pitchFamily="2" charset="0"/>
                </a:rPr>
                <a:t>AI-driven </a:t>
              </a:r>
              <a:r>
                <a:rPr lang="en-US" sz="1100" dirty="0">
                  <a:latin typeface="Overpass" pitchFamily="2" charset="0"/>
                </a:rPr>
                <a:t>content tools</a:t>
              </a:r>
              <a:r>
                <a:rPr lang="en-US" sz="1100" b="1" dirty="0">
                  <a:latin typeface="Overpass" pitchFamily="2" charset="0"/>
                </a:rPr>
                <a:t>, analytics dashboards, </a:t>
              </a:r>
              <a:r>
                <a:rPr lang="en-US" sz="1100" dirty="0">
                  <a:latin typeface="Overpass" pitchFamily="2" charset="0"/>
                </a:rPr>
                <a:t>and collaboration features.</a:t>
              </a:r>
            </a:p>
            <a:p>
              <a:pPr marL="90000" indent="-90000">
                <a:lnSpc>
                  <a:spcPts val="14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Led the design and execution of </a:t>
              </a:r>
              <a:r>
                <a:rPr lang="en-US" sz="1100" b="1" dirty="0">
                  <a:latin typeface="Overpass" pitchFamily="2" charset="0"/>
                </a:rPr>
                <a:t>multi-platform products </a:t>
              </a:r>
              <a:r>
                <a:rPr lang="en-US" sz="1100" dirty="0">
                  <a:latin typeface="Overpass" pitchFamily="2" charset="0"/>
                </a:rPr>
                <a:t>(Web, Mobile, Smart TV), ensuring a seamless </a:t>
              </a:r>
              <a:r>
                <a:rPr lang="en-US" sz="1100" b="1" dirty="0">
                  <a:latin typeface="Overpass" pitchFamily="2" charset="0"/>
                </a:rPr>
                <a:t>UX/UI </a:t>
              </a:r>
              <a:r>
                <a:rPr lang="en-US" sz="1100" dirty="0">
                  <a:latin typeface="Overpass" pitchFamily="2" charset="0"/>
                </a:rPr>
                <a:t>experience using Figma and Adobe XD.</a:t>
              </a:r>
            </a:p>
            <a:p>
              <a:pPr marL="90000" indent="-90000">
                <a:lnSpc>
                  <a:spcPts val="14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Developed a data-driven product strategy, leveraging A/B testing</a:t>
              </a:r>
              <a:r>
                <a:rPr lang="en-US" sz="1100" b="1" dirty="0">
                  <a:latin typeface="Overpass" pitchFamily="2" charset="0"/>
                </a:rPr>
                <a:t>, behavioral analytics, </a:t>
              </a:r>
              <a:r>
                <a:rPr lang="en-US" sz="1100" dirty="0">
                  <a:latin typeface="Overpass" pitchFamily="2" charset="0"/>
                </a:rPr>
                <a:t>and data-driven KPIs to optimize user engagement and revenue.</a:t>
              </a:r>
            </a:p>
            <a:p>
              <a:pPr marL="90000" indent="-90000">
                <a:lnSpc>
                  <a:spcPts val="14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Managed a </a:t>
              </a:r>
              <a:r>
                <a:rPr lang="en-US" sz="1100" b="1" dirty="0">
                  <a:latin typeface="Overpass" pitchFamily="2" charset="0"/>
                </a:rPr>
                <a:t>global </a:t>
              </a:r>
              <a:r>
                <a:rPr lang="en-US" sz="1100" dirty="0">
                  <a:latin typeface="Overpass" pitchFamily="2" charset="0"/>
                </a:rPr>
                <a:t>cross-functional team, aligning product roadmaps with business objectives while fostering a fast-paced, Agile work culture.</a:t>
              </a:r>
            </a:p>
            <a:p>
              <a:pPr marL="90000" indent="-90000">
                <a:lnSpc>
                  <a:spcPts val="14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Established strategic partnerships with </a:t>
              </a:r>
              <a:r>
                <a:rPr lang="en-US" sz="1100" b="1" dirty="0">
                  <a:latin typeface="Overpass" pitchFamily="2" charset="0"/>
                </a:rPr>
                <a:t>HOT, paramount and Eros Now</a:t>
              </a:r>
              <a:r>
                <a:rPr lang="en-US" sz="1100" dirty="0">
                  <a:latin typeface="Overpass" pitchFamily="2" charset="0"/>
                </a:rPr>
                <a:t>, securing </a:t>
              </a:r>
              <a:r>
                <a:rPr lang="en-US" sz="1100" b="1" dirty="0">
                  <a:latin typeface="Overpass" pitchFamily="2" charset="0"/>
                </a:rPr>
                <a:t>$2.5M in funding</a:t>
              </a:r>
              <a:r>
                <a:rPr lang="en-US" sz="1100" dirty="0">
                  <a:latin typeface="Overpass" pitchFamily="2" charset="0"/>
                </a:rPr>
                <a:t>.</a:t>
              </a:r>
            </a:p>
            <a:p>
              <a:pPr marL="90000" indent="-90000">
                <a:lnSpc>
                  <a:spcPts val="14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Oversaw </a:t>
              </a:r>
              <a:r>
                <a:rPr lang="en-US" sz="1100" b="1" dirty="0">
                  <a:latin typeface="Overpass" pitchFamily="2" charset="0"/>
                </a:rPr>
                <a:t>third-party </a:t>
              </a:r>
              <a:r>
                <a:rPr lang="en-US" sz="1100" dirty="0">
                  <a:latin typeface="Overpass" pitchFamily="2" charset="0"/>
                </a:rPr>
                <a:t>integrations, APIs, and cloud-based infrastructure </a:t>
              </a:r>
              <a:r>
                <a:rPr lang="en-US" sz="1100" b="1" dirty="0">
                  <a:latin typeface="Overpass" pitchFamily="2" charset="0"/>
                </a:rPr>
                <a:t>(AWS)</a:t>
              </a:r>
              <a:r>
                <a:rPr lang="en-US" sz="1100" dirty="0">
                  <a:latin typeface="Overpass" pitchFamily="2" charset="0"/>
                </a:rPr>
                <a:t>, ensuring </a:t>
              </a:r>
              <a:r>
                <a:rPr lang="en-US" sz="1100" b="1" dirty="0">
                  <a:latin typeface="Overpass" pitchFamily="2" charset="0"/>
                </a:rPr>
                <a:t>scalability and high availability</a:t>
              </a:r>
              <a:r>
                <a:rPr lang="en-US" sz="1100" dirty="0">
                  <a:latin typeface="Overpass" pitchFamily="2" charset="0"/>
                </a:rPr>
                <a:t> of the platform.</a:t>
              </a:r>
              <a:endParaRPr lang="en-US" sz="1100" b="0" i="0" dirty="0">
                <a:effectLst/>
                <a:latin typeface="Overpas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5325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0073E6"/>
      </a:dk2>
      <a:lt2>
        <a:srgbClr val="ECECEC"/>
      </a:lt2>
      <a:accent1>
        <a:srgbClr val="4253B3"/>
      </a:accent1>
      <a:accent2>
        <a:srgbClr val="9C93FF"/>
      </a:accent2>
      <a:accent3>
        <a:srgbClr val="AD547C"/>
      </a:accent3>
      <a:accent4>
        <a:srgbClr val="934DA5"/>
      </a:accent4>
      <a:accent5>
        <a:srgbClr val="6E50B4"/>
      </a:accent5>
      <a:accent6>
        <a:srgbClr val="4F5BB7"/>
      </a:accent6>
      <a:hlink>
        <a:srgbClr val="F83837"/>
      </a:hlink>
      <a:folHlink>
        <a:srgbClr val="58ACF6"/>
      </a:folHlink>
    </a:clrScheme>
    <a:fontScheme name="Custom 31">
      <a:majorFont>
        <a:latin typeface="Georgia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-orchid-resume_win32_SL_v7.potx" id="{A787C318-3181-4A77-B7C8-5722A7A19F30}" vid="{C19FF49A-4F30-46C6-8079-C77920ACD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 orchid resume</Template>
  <TotalTime>63703</TotalTime>
  <Words>463</Words>
  <Application>Microsoft Office PowerPoint</Application>
  <PresentationFormat>Letter Paper (8.5x11 in)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Franklin Gothic Book</vt:lpstr>
      <vt:lpstr>Georgia</vt:lpstr>
      <vt:lpstr>Overpass</vt:lpstr>
      <vt:lpstr>Office Theme</vt:lpstr>
      <vt:lpstr>INON BAASOV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Inon Baasov</dc:creator>
  <cp:lastModifiedBy>Inon Baasov</cp:lastModifiedBy>
  <cp:revision>8</cp:revision>
  <dcterms:created xsi:type="dcterms:W3CDTF">2024-07-25T09:15:15Z</dcterms:created>
  <dcterms:modified xsi:type="dcterms:W3CDTF">2025-03-25T14:52:56Z</dcterms:modified>
</cp:coreProperties>
</file>