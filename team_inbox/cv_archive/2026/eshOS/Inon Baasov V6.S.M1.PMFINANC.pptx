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7559675" cy="10691813"/>
  <p:notesSz cx="6858000" cy="9144000"/>
  <p:defaultTextStyle>
    <a:defPPr>
      <a:defRPr lang="en-US"/>
    </a:defPPr>
    <a:lvl1pPr marL="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521437" rtl="0" eaLnBrk="1" latinLnBrk="0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398" userDrawn="1">
          <p15:clr>
            <a:srgbClr val="A4A3A4"/>
          </p15:clr>
        </p15:guide>
        <p15:guide id="2" pos="291" userDrawn="1">
          <p15:clr>
            <a:srgbClr val="A4A3A4"/>
          </p15:clr>
        </p15:guide>
        <p15:guide id="3" pos="4471" userDrawn="1">
          <p15:clr>
            <a:srgbClr val="A4A3A4"/>
          </p15:clr>
        </p15:guide>
        <p15:guide id="4" orient="horz" pos="561" userDrawn="1">
          <p15:clr>
            <a:srgbClr val="A4A3A4"/>
          </p15:clr>
        </p15:guide>
        <p15:guide id="5" pos="2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C7C6E9-8A03-4346-BF70-B723BDFADD88}" v="7" dt="2026-01-21T11:15:48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42" autoAdjust="0"/>
    <p:restoredTop sz="95223" autoAdjust="0"/>
  </p:normalViewPr>
  <p:slideViewPr>
    <p:cSldViewPr snapToGrid="0" snapToObjects="1" showGuides="1">
      <p:cViewPr>
        <p:scale>
          <a:sx n="125" d="100"/>
          <a:sy n="125" d="100"/>
        </p:scale>
        <p:origin x="2172" y="-636"/>
      </p:cViewPr>
      <p:guideLst>
        <p:guide orient="horz" pos="6398"/>
        <p:guide pos="291"/>
        <p:guide pos="4471"/>
        <p:guide orient="horz" pos="561"/>
        <p:guide pos="24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n Baasov" userId="675f8575db202d33" providerId="LiveId" clId="{6535A8C2-D6D1-40A6-B57B-6CAB1510FB70}"/>
    <pc:docChg chg="modSld">
      <pc:chgData name="Inon Baasov" userId="675f8575db202d33" providerId="LiveId" clId="{6535A8C2-D6D1-40A6-B57B-6CAB1510FB70}" dt="2026-01-21T11:20:56.925" v="216" actId="113"/>
      <pc:docMkLst>
        <pc:docMk/>
      </pc:docMkLst>
      <pc:sldChg chg="addSp modSp mod">
        <pc:chgData name="Inon Baasov" userId="675f8575db202d33" providerId="LiveId" clId="{6535A8C2-D6D1-40A6-B57B-6CAB1510FB70}" dt="2026-01-21T11:20:56.925" v="216" actId="113"/>
        <pc:sldMkLst>
          <pc:docMk/>
          <pc:sldMk cId="1945325877" sldId="260"/>
        </pc:sldMkLst>
        <pc:spChg chg="mod">
          <ac:chgData name="Inon Baasov" userId="675f8575db202d33" providerId="LiveId" clId="{6535A8C2-D6D1-40A6-B57B-6CAB1510FB70}" dt="2026-01-21T11:20:56.925" v="216" actId="113"/>
          <ac:spMkLst>
            <pc:docMk/>
            <pc:sldMk cId="1945325877" sldId="260"/>
            <ac:spMk id="5" creationId="{CD85A639-1B8A-878B-04BB-3EE82339007A}"/>
          </ac:spMkLst>
        </pc:spChg>
        <pc:spChg chg="mod">
          <ac:chgData name="Inon Baasov" userId="675f8575db202d33" providerId="LiveId" clId="{6535A8C2-D6D1-40A6-B57B-6CAB1510FB70}" dt="2026-01-21T11:13:41.945" v="14"/>
          <ac:spMkLst>
            <pc:docMk/>
            <pc:sldMk cId="1945325877" sldId="260"/>
            <ac:spMk id="7" creationId="{C74AC998-3F7B-596D-682D-63841FD8BC26}"/>
          </ac:spMkLst>
        </pc:spChg>
        <pc:spChg chg="mod">
          <ac:chgData name="Inon Baasov" userId="675f8575db202d33" providerId="LiveId" clId="{6535A8C2-D6D1-40A6-B57B-6CAB1510FB70}" dt="2026-01-21T11:19:36.913" v="154" actId="1036"/>
          <ac:spMkLst>
            <pc:docMk/>
            <pc:sldMk cId="1945325877" sldId="260"/>
            <ac:spMk id="9" creationId="{6871FAD5-DAC9-2E88-43EE-71DE2313B5BC}"/>
          </ac:spMkLst>
        </pc:spChg>
        <pc:spChg chg="mod">
          <ac:chgData name="Inon Baasov" userId="675f8575db202d33" providerId="LiveId" clId="{6535A8C2-D6D1-40A6-B57B-6CAB1510FB70}" dt="2026-01-21T11:19:36.913" v="154" actId="1036"/>
          <ac:spMkLst>
            <pc:docMk/>
            <pc:sldMk cId="1945325877" sldId="260"/>
            <ac:spMk id="10" creationId="{BA499EBC-730C-6472-42B1-4FBCAD1BA552}"/>
          </ac:spMkLst>
        </pc:spChg>
        <pc:spChg chg="mod">
          <ac:chgData name="Inon Baasov" userId="675f8575db202d33" providerId="LiveId" clId="{6535A8C2-D6D1-40A6-B57B-6CAB1510FB70}" dt="2026-01-21T11:19:50.683" v="201" actId="1035"/>
          <ac:spMkLst>
            <pc:docMk/>
            <pc:sldMk cId="1945325877" sldId="260"/>
            <ac:spMk id="11" creationId="{D6C75DF8-197B-BFD3-34D2-297D5EA3D213}"/>
          </ac:spMkLst>
        </pc:spChg>
        <pc:spChg chg="mod">
          <ac:chgData name="Inon Baasov" userId="675f8575db202d33" providerId="LiveId" clId="{6535A8C2-D6D1-40A6-B57B-6CAB1510FB70}" dt="2026-01-21T11:11:22.799" v="0"/>
          <ac:spMkLst>
            <pc:docMk/>
            <pc:sldMk cId="1945325877" sldId="260"/>
            <ac:spMk id="13" creationId="{981BFF6D-71CB-EE46-EEF4-5FE5810377A5}"/>
          </ac:spMkLst>
        </pc:spChg>
        <pc:spChg chg="mod">
          <ac:chgData name="Inon Baasov" userId="675f8575db202d33" providerId="LiveId" clId="{6535A8C2-D6D1-40A6-B57B-6CAB1510FB70}" dt="2026-01-21T11:19:59.422" v="210" actId="1035"/>
          <ac:spMkLst>
            <pc:docMk/>
            <pc:sldMk cId="1945325877" sldId="260"/>
            <ac:spMk id="17" creationId="{71C0995E-FBCA-6FEB-CDBA-FF92ABB0404A}"/>
          </ac:spMkLst>
        </pc:spChg>
        <pc:spChg chg="add">
          <ac:chgData name="Inon Baasov" userId="675f8575db202d33" providerId="LiveId" clId="{6535A8C2-D6D1-40A6-B57B-6CAB1510FB70}" dt="2026-01-21T11:12:21.335" v="3"/>
          <ac:spMkLst>
            <pc:docMk/>
            <pc:sldMk cId="1945325877" sldId="260"/>
            <ac:spMk id="19" creationId="{7DA1EFF1-34B0-3391-5C2E-1A8E60C44322}"/>
          </ac:spMkLst>
        </pc:spChg>
        <pc:spChg chg="mod">
          <ac:chgData name="Inon Baasov" userId="675f8575db202d33" providerId="LiveId" clId="{6535A8C2-D6D1-40A6-B57B-6CAB1510FB70}" dt="2026-01-21T11:19:53.445" v="206" actId="1035"/>
          <ac:spMkLst>
            <pc:docMk/>
            <pc:sldMk cId="1945325877" sldId="260"/>
            <ac:spMk id="154" creationId="{7B120799-BCC3-8E46-2EA5-CFAE368C1FC7}"/>
          </ac:spMkLst>
        </pc:spChg>
        <pc:spChg chg="mod">
          <ac:chgData name="Inon Baasov" userId="675f8575db202d33" providerId="LiveId" clId="{6535A8C2-D6D1-40A6-B57B-6CAB1510FB70}" dt="2026-01-21T11:13:41.945" v="14"/>
          <ac:spMkLst>
            <pc:docMk/>
            <pc:sldMk cId="1945325877" sldId="260"/>
            <ac:spMk id="242" creationId="{736313EA-3C2D-C5A9-2ED3-22681A16B477}"/>
          </ac:spMkLst>
        </pc:spChg>
        <pc:grpChg chg="mod">
          <ac:chgData name="Inon Baasov" userId="675f8575db202d33" providerId="LiveId" clId="{6535A8C2-D6D1-40A6-B57B-6CAB1510FB70}" dt="2026-01-21T11:13:41.945" v="14"/>
          <ac:grpSpMkLst>
            <pc:docMk/>
            <pc:sldMk cId="1945325877" sldId="260"/>
            <ac:grpSpMk id="6" creationId="{D943FD8F-B645-F5DD-0443-9670451D8FB5}"/>
          </ac:grpSpMkLst>
        </pc:grpChg>
        <pc:grpChg chg="mod">
          <ac:chgData name="Inon Baasov" userId="675f8575db202d33" providerId="LiveId" clId="{6535A8C2-D6D1-40A6-B57B-6CAB1510FB70}" dt="2026-01-21T11:13:41.945" v="14"/>
          <ac:grpSpMkLst>
            <pc:docMk/>
            <pc:sldMk cId="1945325877" sldId="260"/>
            <ac:grpSpMk id="12" creationId="{CA96F9C5-B4EE-2CE6-5E39-6D2B06DDBAA4}"/>
          </ac:grpSpMkLst>
        </pc:grpChg>
        <pc:grpChg chg="mod">
          <ac:chgData name="Inon Baasov" userId="675f8575db202d33" providerId="LiveId" clId="{6535A8C2-D6D1-40A6-B57B-6CAB1510FB70}" dt="2026-01-21T11:19:42.665" v="184" actId="1035"/>
          <ac:grpSpMkLst>
            <pc:docMk/>
            <pc:sldMk cId="1945325877" sldId="260"/>
            <ac:grpSpMk id="16" creationId="{A3D36E24-BDEF-E312-5C96-60AB7012624A}"/>
          </ac:grpSpMkLst>
        </pc:grpChg>
        <pc:grpChg chg="mod">
          <ac:chgData name="Inon Baasov" userId="675f8575db202d33" providerId="LiveId" clId="{6535A8C2-D6D1-40A6-B57B-6CAB1510FB70}" dt="2026-01-21T11:13:41.945" v="14"/>
          <ac:grpSpMkLst>
            <pc:docMk/>
            <pc:sldMk cId="1945325877" sldId="260"/>
            <ac:grpSpMk id="18" creationId="{8DAF65B6-55E3-4548-F014-523709E26C98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0" hangingPunct="1">
      <a:defRPr sz="13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427053" cy="106918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63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427" y="391048"/>
            <a:ext cx="2808595" cy="2066589"/>
          </a:xfrm>
        </p:spPr>
        <p:txBody>
          <a:bodyPr>
            <a:normAutofit/>
          </a:bodyPr>
          <a:lstStyle>
            <a:lvl1pPr>
              <a:defRPr sz="4409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3427" y="2526988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3914" y="2963717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4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70872" y="296052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3914" y="3254448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4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0872" y="325343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3914" y="3558544"/>
            <a:ext cx="221750" cy="235220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4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0872" y="355364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3427" y="4158175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1978" y="461232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83785" y="4834106"/>
            <a:ext cx="2486644" cy="659880"/>
          </a:xfrm>
        </p:spPr>
        <p:txBody>
          <a:bodyPr>
            <a:noAutofit/>
          </a:bodyPr>
          <a:lstStyle>
            <a:lvl1pPr marL="0" indent="0">
              <a:lnSpc>
                <a:spcPts val="1653"/>
              </a:lnSpc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0505" y="5675743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81142" y="6182131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81142" y="6182131"/>
            <a:ext cx="144137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9988" y="6247118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81142" y="6604379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81142" y="6604379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9988" y="6670335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81142" y="7032218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81142" y="7032218"/>
            <a:ext cx="1915118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9988" y="7111203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81142" y="7460784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81142" y="7460784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3427" y="7533471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81142" y="7890056"/>
            <a:ext cx="2015913" cy="74843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81142" y="7890056"/>
            <a:ext cx="1582492" cy="74843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1" b="0" cap="all" spc="88" baseline="0">
                <a:noFill/>
                <a:latin typeface="+mn-lt"/>
              </a:defRPr>
            </a:lvl1pPr>
            <a:lvl2pPr marL="377979" indent="0">
              <a:buNone/>
              <a:defRPr sz="1102" b="1">
                <a:latin typeface="+mn-lt"/>
              </a:defRPr>
            </a:lvl2pPr>
            <a:lvl3pPr marL="755957" indent="0">
              <a:buNone/>
              <a:defRPr sz="1102" b="1">
                <a:latin typeface="+mn-lt"/>
              </a:defRPr>
            </a:lvl3pPr>
            <a:lvl4pPr marL="1133936" indent="0">
              <a:buNone/>
              <a:defRPr sz="1102" b="1">
                <a:latin typeface="+mn-lt"/>
              </a:defRPr>
            </a:lvl4pPr>
            <a:lvl5pPr marL="1511915" indent="0">
              <a:buNone/>
              <a:defRPr sz="1102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0505" y="7959197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2670" y="855763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3785" y="899716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3785" y="9306334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3785" y="9576132"/>
            <a:ext cx="2486644" cy="261949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0251" y="850719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60251" y="13110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60251" y="15327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60251" y="1787216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8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60252" y="2049679"/>
            <a:ext cx="3260109" cy="1491815"/>
          </a:xfrm>
        </p:spPr>
        <p:txBody>
          <a:bodyPr>
            <a:noAutofit/>
          </a:bodyPr>
          <a:lstStyle>
            <a:lvl1pPr marL="0" indent="0">
              <a:lnSpc>
                <a:spcPts val="1653"/>
              </a:lnSpc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60251" y="360392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60251" y="3861348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60251" y="4115765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8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60251" y="4399611"/>
            <a:ext cx="3362938" cy="1276132"/>
          </a:xfrm>
        </p:spPr>
        <p:txBody>
          <a:bodyPr>
            <a:noAutofit/>
          </a:bodyPr>
          <a:lstStyle>
            <a:lvl1pPr marL="0" indent="0">
              <a:lnSpc>
                <a:spcPts val="1653"/>
              </a:lnSpc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0251" y="5714114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60251" y="5935899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60251" y="6204572"/>
            <a:ext cx="2486644" cy="242863"/>
          </a:xfrm>
        </p:spPr>
        <p:txBody>
          <a:bodyPr>
            <a:noAutofit/>
          </a:bodyPr>
          <a:lstStyle>
            <a:lvl1pPr marL="0" indent="0">
              <a:buNone/>
              <a:defRPr sz="88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60252" y="6481290"/>
            <a:ext cx="3356597" cy="1276132"/>
          </a:xfrm>
        </p:spPr>
        <p:txBody>
          <a:bodyPr>
            <a:noAutofit/>
          </a:bodyPr>
          <a:lstStyle>
            <a:lvl1pPr marL="0" indent="0">
              <a:lnSpc>
                <a:spcPts val="1653"/>
              </a:lnSpc>
              <a:buNone/>
              <a:defRPr sz="1102" b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60251" y="8027221"/>
            <a:ext cx="2486644" cy="478904"/>
          </a:xfrm>
        </p:spPr>
        <p:txBody>
          <a:bodyPr>
            <a:noAutofit/>
          </a:bodyPr>
          <a:lstStyle>
            <a:lvl1pPr marL="0" indent="0">
              <a:buNone/>
              <a:defRPr sz="1764" b="1">
                <a:solidFill>
                  <a:schemeClr val="accent5"/>
                </a:solidFill>
                <a:latin typeface="+mj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60251" y="8471838"/>
            <a:ext cx="2486644" cy="150718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102" b="0" cap="all" baseline="0">
                <a:solidFill>
                  <a:schemeClr val="tx1"/>
                </a:solidFill>
                <a:latin typeface="+mn-lt"/>
              </a:defRPr>
            </a:lvl1pPr>
            <a:lvl2pPr marL="377979" indent="0">
              <a:buNone/>
              <a:defRPr sz="1102" b="1"/>
            </a:lvl2pPr>
            <a:lvl3pPr marL="755957" indent="0">
              <a:buNone/>
              <a:defRPr sz="1102" b="1"/>
            </a:lvl3pPr>
            <a:lvl4pPr marL="1133936" indent="0">
              <a:buNone/>
              <a:defRPr sz="1102" b="1"/>
            </a:lvl4pPr>
            <a:lvl5pPr marL="1511915" indent="0">
              <a:buNone/>
              <a:defRPr sz="1102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532" y="475488"/>
            <a:ext cx="5656172" cy="626181"/>
          </a:xfrm>
        </p:spPr>
        <p:txBody>
          <a:bodyPr lIns="0" rIns="0">
            <a:noAutofit/>
          </a:bodyPr>
          <a:lstStyle>
            <a:lvl1pPr>
              <a:defRPr sz="3968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9318" y="7362192"/>
            <a:ext cx="1691461" cy="27398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20073" y="7721705"/>
            <a:ext cx="1499124" cy="316959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323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0073" y="8001634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20073" y="8227082"/>
            <a:ext cx="1499124" cy="23813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323" i="1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08545" y="8231936"/>
            <a:ext cx="764678" cy="236789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543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08545" y="7779653"/>
            <a:ext cx="764678" cy="46016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527" b="1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532" y="1834989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1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8532" y="2175261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8532" y="2404349"/>
            <a:ext cx="3224945" cy="80022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02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532" y="1339314"/>
            <a:ext cx="3224947" cy="342890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32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8532" y="3321421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1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18532" y="3661693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8532" y="3890780"/>
            <a:ext cx="3224945" cy="782231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02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8532" y="4802265"/>
            <a:ext cx="3224947" cy="2909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1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532" y="5142538"/>
            <a:ext cx="3224947" cy="16888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8532" y="5371625"/>
            <a:ext cx="3224945" cy="82947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102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83244" y="8880129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543" b="0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83244" y="9425001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543" b="0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83244" y="9975957"/>
            <a:ext cx="2962622" cy="43933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543" b="0">
                <a:solidFill>
                  <a:schemeClr val="bg1"/>
                </a:solidFill>
              </a:defRPr>
            </a:lvl1pPr>
            <a:lvl2pPr marL="377979" indent="0">
              <a:buNone/>
              <a:defRPr>
                <a:solidFill>
                  <a:schemeClr val="bg1"/>
                </a:solidFill>
              </a:defRPr>
            </a:lvl2pPr>
            <a:lvl3pPr marL="755957" indent="0">
              <a:buNone/>
              <a:defRPr>
                <a:solidFill>
                  <a:schemeClr val="bg1"/>
                </a:solidFill>
              </a:defRPr>
            </a:lvl3pPr>
            <a:lvl4pPr marL="1133936" indent="0">
              <a:buNone/>
              <a:defRPr>
                <a:solidFill>
                  <a:schemeClr val="bg1"/>
                </a:solidFill>
              </a:defRPr>
            </a:lvl4pPr>
            <a:lvl5pPr marL="151191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63744" y="5093190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63744" y="5298796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63744" y="5498412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63744" y="4901474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63744" y="4687638"/>
            <a:ext cx="1462937" cy="174484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63744" y="6295985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63744" y="6609368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963744" y="6925580"/>
            <a:ext cx="1462937" cy="21882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59049" y="9526649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59049" y="9840033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9049" y="10170210"/>
            <a:ext cx="1597897" cy="279317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9049" y="8879303"/>
            <a:ext cx="1597897" cy="337973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  <a:latin typeface="+mn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59049" y="9211556"/>
            <a:ext cx="1597897" cy="30724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2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308444" y="954207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543" b="1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08444" y="9864684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543" b="1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308444" y="10171423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543" b="1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308444" y="9243446"/>
            <a:ext cx="1174342" cy="267873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543" b="1">
                <a:solidFill>
                  <a:schemeClr val="bg1"/>
                </a:solidFill>
                <a:latin typeface="+mj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308846" y="8879303"/>
            <a:ext cx="1203730" cy="345881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102">
                <a:solidFill>
                  <a:schemeClr val="bg1"/>
                </a:solidFill>
                <a:latin typeface="+mn-lt"/>
              </a:defRPr>
            </a:lvl1pPr>
            <a:lvl2pPr marL="377979" indent="0">
              <a:buNone/>
              <a:defRPr sz="1102">
                <a:solidFill>
                  <a:schemeClr val="bg1"/>
                </a:solidFill>
                <a:latin typeface="+mj-lt"/>
              </a:defRPr>
            </a:lvl2pPr>
            <a:lvl3pPr marL="755957" indent="0">
              <a:buNone/>
              <a:defRPr sz="1102">
                <a:solidFill>
                  <a:schemeClr val="bg1"/>
                </a:solidFill>
                <a:latin typeface="+mj-lt"/>
              </a:defRPr>
            </a:lvl3pPr>
            <a:lvl4pPr marL="1133936" indent="0">
              <a:buNone/>
              <a:defRPr sz="1102">
                <a:solidFill>
                  <a:schemeClr val="bg1"/>
                </a:solidFill>
                <a:latin typeface="+mj-lt"/>
              </a:defRPr>
            </a:lvl4pPr>
            <a:lvl5pPr marL="1511915" indent="0">
              <a:buNone/>
              <a:defRPr sz="1102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311543"/>
            <a:ext cx="755967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819317" y="1340189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</a:defRPr>
            </a:lvl1pPr>
            <a:lvl2pPr marL="377979" indent="0">
              <a:buNone/>
              <a:defRPr sz="1323">
                <a:solidFill>
                  <a:schemeClr val="bg1"/>
                </a:solidFill>
              </a:defRPr>
            </a:lvl2pPr>
            <a:lvl3pPr marL="755957" indent="0">
              <a:buNone/>
              <a:defRPr sz="1323">
                <a:solidFill>
                  <a:schemeClr val="bg1"/>
                </a:solidFill>
              </a:defRPr>
            </a:lvl3pPr>
            <a:lvl4pPr marL="1133936" indent="0">
              <a:buNone/>
              <a:defRPr sz="1323">
                <a:solidFill>
                  <a:schemeClr val="bg1"/>
                </a:solidFill>
              </a:defRPr>
            </a:lvl4pPr>
            <a:lvl5pPr marL="1511915" indent="0">
              <a:buNone/>
              <a:defRPr sz="132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819317" y="4235204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</a:defRPr>
            </a:lvl1pPr>
            <a:lvl2pPr marL="377979" indent="0">
              <a:buNone/>
              <a:defRPr sz="1323">
                <a:solidFill>
                  <a:schemeClr val="bg1"/>
                </a:solidFill>
              </a:defRPr>
            </a:lvl2pPr>
            <a:lvl3pPr marL="755957" indent="0">
              <a:buNone/>
              <a:defRPr sz="1323">
                <a:solidFill>
                  <a:schemeClr val="bg1"/>
                </a:solidFill>
              </a:defRPr>
            </a:lvl3pPr>
            <a:lvl4pPr marL="1133936" indent="0">
              <a:buNone/>
              <a:defRPr sz="1323">
                <a:solidFill>
                  <a:schemeClr val="bg1"/>
                </a:solidFill>
              </a:defRPr>
            </a:lvl4pPr>
            <a:lvl5pPr marL="1511915" indent="0">
              <a:buNone/>
              <a:defRPr sz="132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819317" y="5863650"/>
            <a:ext cx="2934705" cy="351374"/>
          </a:xfrm>
        </p:spPr>
        <p:txBody>
          <a:bodyPr lIns="0" anchor="ctr">
            <a:noAutofit/>
          </a:bodyPr>
          <a:lstStyle>
            <a:lvl1pPr marL="0" indent="0">
              <a:buNone/>
              <a:defRPr sz="1323">
                <a:solidFill>
                  <a:schemeClr val="bg1"/>
                </a:solidFill>
              </a:defRPr>
            </a:lvl1pPr>
            <a:lvl2pPr marL="377979" indent="0">
              <a:buNone/>
              <a:defRPr sz="1323">
                <a:solidFill>
                  <a:schemeClr val="bg1"/>
                </a:solidFill>
              </a:defRPr>
            </a:lvl2pPr>
            <a:lvl3pPr marL="755957" indent="0">
              <a:buNone/>
              <a:defRPr sz="1323">
                <a:solidFill>
                  <a:schemeClr val="bg1"/>
                </a:solidFill>
              </a:defRPr>
            </a:lvl3pPr>
            <a:lvl4pPr marL="1133936" indent="0">
              <a:buNone/>
              <a:defRPr sz="1323">
                <a:solidFill>
                  <a:schemeClr val="bg1"/>
                </a:solidFill>
              </a:defRPr>
            </a:lvl4pPr>
            <a:lvl5pPr marL="1511915" indent="0">
              <a:buNone/>
              <a:defRPr sz="1323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238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9" y="569244"/>
            <a:ext cx="6520220" cy="20665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9" y="2846201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4" y="9909730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1" y="9909730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75595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9" indent="-188989" algn="l" defTabSz="75595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68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47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925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904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83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861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840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819" indent="-188989" algn="l" defTabSz="75595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79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57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36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915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93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72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851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829" algn="l" defTabSz="75595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iltel.co.il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blau-p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142352" y="1074113"/>
            <a:ext cx="1520334" cy="250347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954495" y="1075156"/>
            <a:ext cx="1703105" cy="228956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817519" y="1075649"/>
            <a:ext cx="1599804" cy="228956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72" y="561411"/>
            <a:ext cx="7559675" cy="553735"/>
          </a:xfrm>
        </p:spPr>
        <p:txBody>
          <a:bodyPr>
            <a:normAutofit/>
          </a:bodyPr>
          <a:lstStyle/>
          <a:p>
            <a:pPr algn="ctr"/>
            <a:r>
              <a:rPr lang="en-US" sz="2646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646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82C02A4-1F60-1236-43AF-F0760EC9796F}"/>
              </a:ext>
            </a:extLst>
          </p:cNvPr>
          <p:cNvGrpSpPr/>
          <p:nvPr/>
        </p:nvGrpSpPr>
        <p:grpSpPr>
          <a:xfrm>
            <a:off x="211552" y="1443582"/>
            <a:ext cx="7208129" cy="1868095"/>
            <a:chOff x="211552" y="1443582"/>
            <a:chExt cx="7208129" cy="186809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8F3DD04-3596-890A-0289-4F6EC51FBB48}"/>
                </a:ext>
              </a:extLst>
            </p:cNvPr>
            <p:cNvGrpSpPr/>
            <p:nvPr/>
          </p:nvGrpSpPr>
          <p:grpSpPr>
            <a:xfrm>
              <a:off x="250981" y="1858325"/>
              <a:ext cx="7168700" cy="1453352"/>
              <a:chOff x="2730795" y="1532993"/>
              <a:chExt cx="4090720" cy="1953093"/>
            </a:xfrm>
          </p:grpSpPr>
          <p:sp>
            <p:nvSpPr>
              <p:cNvPr id="4" name="Text Placeholder 45">
                <a:extLst>
                  <a:ext uri="{FF2B5EF4-FFF2-40B4-BE49-F238E27FC236}">
                    <a16:creationId xmlns:a16="http://schemas.microsoft.com/office/drawing/2014/main" id="{A14E25B9-74B7-1D86-F100-61C9666B8B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33799" y="1532993"/>
                <a:ext cx="1514170" cy="409576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5"/>
                    </a:solidFill>
                    <a:latin typeface="+mj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53" u="sng" dirty="0">
                    <a:solidFill>
                      <a:srgbClr val="10ABE2"/>
                    </a:solidFill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Professional summary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D85A639-1B8A-878B-04BB-3EE82339007A}"/>
                  </a:ext>
                </a:extLst>
              </p:cNvPr>
              <p:cNvSpPr txBox="1"/>
              <p:nvPr/>
            </p:nvSpPr>
            <p:spPr>
              <a:xfrm>
                <a:off x="2730795" y="1893700"/>
                <a:ext cx="4090720" cy="15923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100" dirty="0">
                    <a:latin typeface="Overpass" pitchFamily="2" charset="0"/>
                  </a:rPr>
                  <a:t>Senior Product Manager with 10+ years of experience leading </a:t>
                </a:r>
                <a:r>
                  <a:rPr lang="en-US" sz="1100" b="1" dirty="0">
                    <a:latin typeface="Overpass" pitchFamily="2" charset="0"/>
                  </a:rPr>
                  <a:t>B2B &amp; B2C products </a:t>
                </a:r>
                <a:r>
                  <a:rPr lang="en-US" sz="1100" dirty="0">
                    <a:latin typeface="Overpass" pitchFamily="2" charset="0"/>
                  </a:rPr>
                  <a:t>in regulated and high-velocity environments. Proven record in managing full product lifecycles for </a:t>
                </a:r>
                <a:r>
                  <a:rPr lang="en-US" sz="1100" b="1" dirty="0">
                    <a:latin typeface="Overpass" pitchFamily="2" charset="0"/>
                  </a:rPr>
                  <a:t>Fintech</a:t>
                </a:r>
                <a:r>
                  <a:rPr lang="en-US" sz="1100" dirty="0">
                    <a:latin typeface="Overpass" pitchFamily="2" charset="0"/>
                  </a:rPr>
                  <a:t> and digital platforms. Expert in bridging the gap between complex infrastructure and seamless </a:t>
                </a:r>
                <a:r>
                  <a:rPr lang="en-US" sz="1100" b="1" dirty="0">
                    <a:latin typeface="Overpass" pitchFamily="2" charset="0"/>
                  </a:rPr>
                  <a:t>User Experience (UX)</a:t>
                </a:r>
                <a:r>
                  <a:rPr lang="en-US" sz="1100" dirty="0">
                    <a:latin typeface="Overpass" pitchFamily="2" charset="0"/>
                  </a:rPr>
                  <a:t>. Skilled in collaborating with </a:t>
                </a:r>
                <a:r>
                  <a:rPr lang="en-US" sz="1100" b="1" dirty="0">
                    <a:latin typeface="Overpass" pitchFamily="2" charset="0"/>
                  </a:rPr>
                  <a:t>Legal &amp; Compliance </a:t>
                </a:r>
                <a:r>
                  <a:rPr lang="en-US" sz="1100" dirty="0">
                    <a:latin typeface="Overpass" pitchFamily="2" charset="0"/>
                  </a:rPr>
                  <a:t>teams to deliver scalable, audit-ready solutions while leveraging </a:t>
                </a:r>
                <a:r>
                  <a:rPr lang="en-US" sz="1100" b="1" dirty="0">
                    <a:latin typeface="Overpass" pitchFamily="2" charset="0"/>
                  </a:rPr>
                  <a:t>AI</a:t>
                </a:r>
                <a:r>
                  <a:rPr lang="en-US" sz="1100" dirty="0">
                    <a:latin typeface="Overpass" pitchFamily="2" charset="0"/>
                  </a:rPr>
                  <a:t> to revolutionize operational workflows.</a:t>
                </a:r>
              </a:p>
              <a:p>
                <a:r>
                  <a:rPr lang="en-US" sz="1100" b="1" dirty="0">
                    <a:latin typeface="Overpass" pitchFamily="2" charset="0"/>
                  </a:rPr>
                  <a:t>Key Skills: </a:t>
                </a:r>
                <a:r>
                  <a:rPr lang="en-US" sz="1100" dirty="0">
                    <a:latin typeface="Overpass" pitchFamily="2" charset="0"/>
                  </a:rPr>
                  <a:t>Fintech Product Strategy | B2B &amp; Consumer Ecosystems | Regulated Banking Products | Compliance &amp; Risk Management | AI &amp; Process Automation | User Experience (UX) Strategy | Agile Roadmap Execution</a:t>
                </a:r>
              </a:p>
            </p:txBody>
          </p:sp>
        </p:grpSp>
        <p:sp>
          <p:nvSpPr>
            <p:cNvPr id="13" name="Text Placeholder 45">
              <a:extLst>
                <a:ext uri="{FF2B5EF4-FFF2-40B4-BE49-F238E27FC236}">
                  <a16:creationId xmlns:a16="http://schemas.microsoft.com/office/drawing/2014/main" id="{981BFF6D-71CB-EE46-EEF4-5FE5810377A5}"/>
                </a:ext>
              </a:extLst>
            </p:cNvPr>
            <p:cNvSpPr txBox="1">
              <a:spLocks/>
            </p:cNvSpPr>
            <p:nvPr/>
          </p:nvSpPr>
          <p:spPr>
            <a:xfrm>
              <a:off x="211552" y="1443582"/>
              <a:ext cx="7208129" cy="357623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dirty="0">
                  <a:solidFill>
                    <a:schemeClr val="tx1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SENIOR FINTECH PRODUCT MANAGER | B2B &amp; CONSUMER B.Sc. Engineering | Regulated Ecosystems | AI-Driven Workflows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D36E24-BDEF-E312-5C96-60AB7012624A}"/>
              </a:ext>
            </a:extLst>
          </p:cNvPr>
          <p:cNvGrpSpPr/>
          <p:nvPr/>
        </p:nvGrpSpPr>
        <p:grpSpPr>
          <a:xfrm>
            <a:off x="211551" y="8428310"/>
            <a:ext cx="7208129" cy="1002420"/>
            <a:chOff x="211551" y="8863285"/>
            <a:chExt cx="7208129" cy="1002420"/>
          </a:xfrm>
        </p:grpSpPr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250958" y="8863285"/>
              <a:ext cx="1511512" cy="375615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sz="1653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  <p:sp>
          <p:nvSpPr>
            <p:cNvPr id="15" name="Text Placeholder 71">
              <a:extLst>
                <a:ext uri="{FF2B5EF4-FFF2-40B4-BE49-F238E27FC236}">
                  <a16:creationId xmlns:a16="http://schemas.microsoft.com/office/drawing/2014/main" id="{B9922527-6FE9-E6CB-D2C8-33D772CD8E67}"/>
                </a:ext>
              </a:extLst>
            </p:cNvPr>
            <p:cNvSpPr txBox="1">
              <a:spLocks/>
            </p:cNvSpPr>
            <p:nvPr/>
          </p:nvSpPr>
          <p:spPr>
            <a:xfrm>
              <a:off x="211551" y="9119283"/>
              <a:ext cx="7208129" cy="74642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Executive MBA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(Entrepreneurship &amp; High-Tech Management),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2016–2018</a:t>
              </a: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B.Sc., Biotechnology &amp; Food Engineering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Technion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Israel Institute of Technology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2005–2008</a:t>
              </a:r>
              <a:endParaRPr lang="en-US" sz="110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pPr marL="87313" indent="-87313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Chemical Engineering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– McGill University, Montreal, Canada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|</a:t>
              </a:r>
              <a:r>
                <a:rPr lang="en-US" sz="12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2004–2005</a:t>
              </a:r>
              <a:endParaRPr lang="en-US" sz="1050" b="1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DAF65B6-55E3-4548-F014-523709E26C98}"/>
              </a:ext>
            </a:extLst>
          </p:cNvPr>
          <p:cNvGrpSpPr/>
          <p:nvPr/>
        </p:nvGrpSpPr>
        <p:grpSpPr>
          <a:xfrm>
            <a:off x="111853" y="3561701"/>
            <a:ext cx="7347826" cy="4914795"/>
            <a:chOff x="111853" y="3561701"/>
            <a:chExt cx="7347826" cy="491479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706554B-DAEA-F04A-7818-F1555F0613DF}"/>
                </a:ext>
              </a:extLst>
            </p:cNvPr>
            <p:cNvGrpSpPr/>
            <p:nvPr/>
          </p:nvGrpSpPr>
          <p:grpSpPr>
            <a:xfrm>
              <a:off x="191991" y="3561701"/>
              <a:ext cx="7267688" cy="4914795"/>
              <a:chOff x="161926" y="3400046"/>
              <a:chExt cx="6680554" cy="4162671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CA96F9C5-B4EE-2CE6-5E39-6D2B06DDBAA4}"/>
                  </a:ext>
                </a:extLst>
              </p:cNvPr>
              <p:cNvGrpSpPr/>
              <p:nvPr/>
            </p:nvGrpSpPr>
            <p:grpSpPr>
              <a:xfrm>
                <a:off x="161926" y="3400046"/>
                <a:ext cx="6680554" cy="4162671"/>
                <a:chOff x="78398" y="3384337"/>
                <a:chExt cx="6810207" cy="3125729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D943FD8F-B645-F5DD-0443-9670451D8FB5}"/>
                    </a:ext>
                  </a:extLst>
                </p:cNvPr>
                <p:cNvGrpSpPr/>
                <p:nvPr/>
              </p:nvGrpSpPr>
              <p:grpSpPr>
                <a:xfrm>
                  <a:off x="78398" y="3384337"/>
                  <a:ext cx="6718755" cy="3125729"/>
                  <a:chOff x="-24741" y="2560328"/>
                  <a:chExt cx="6949855" cy="2424197"/>
                </a:xfrm>
              </p:grpSpPr>
              <p:sp>
                <p:nvSpPr>
                  <p:cNvPr id="154" name="Text Placeholder 52">
                    <a:extLst>
                      <a:ext uri="{FF2B5EF4-FFF2-40B4-BE49-F238E27FC236}">
                        <a16:creationId xmlns:a16="http://schemas.microsoft.com/office/drawing/2014/main" id="{7B120799-BCC3-8E46-2EA5-CFAE368C1FC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4741" y="3617813"/>
                    <a:ext cx="6943718" cy="632781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en-IL" sz="1200" b="1" u="sng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Arena Plus</a:t>
                    </a:r>
                    <a:r>
                      <a:rPr lang="en-US" sz="1200" b="1" u="sng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Financial Services</a:t>
                    </a:r>
                    <a:r>
                      <a:rPr lang="en-US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| Senior Fintech Product Manager | 2013 – 2018</a:t>
                    </a:r>
                    <a:r>
                      <a:rPr lang="en-US" sz="1200" b="1" dirty="0">
                        <a:latin typeface="Overpass" pitchFamily="2" charset="0"/>
                      </a:rPr>
                      <a:t>	</a:t>
                    </a:r>
                    <a:r>
                      <a:rPr lang="en-US" sz="1213" b="1" dirty="0">
                        <a:latin typeface="Overpass" pitchFamily="2" charset="0"/>
                      </a:rPr>
                      <a:t>	</a:t>
                    </a:r>
                  </a:p>
                  <a:p>
                    <a:pPr marL="188989" indent="-188989">
                      <a:lnSpc>
                        <a:spcPct val="100000"/>
                      </a:lnSpc>
                      <a:spcBef>
                        <a:spcPts val="22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Regulated Financial Products:</a:t>
                    </a:r>
                    <a:r>
                      <a:rPr lang="en-US" sz="1100" dirty="0">
                        <a:latin typeface="Overpass" pitchFamily="2" charset="0"/>
                      </a:rPr>
                      <a:t> Managed the product lifecycle for secure financial platforms, ensuring compliance with </a:t>
                    </a:r>
                    <a:r>
                      <a:rPr lang="en-US" sz="1100" b="1" dirty="0">
                        <a:latin typeface="Overpass" pitchFamily="2" charset="0"/>
                      </a:rPr>
                      <a:t>banking regulations </a:t>
                    </a:r>
                    <a:r>
                      <a:rPr lang="en-US" sz="1100" dirty="0">
                        <a:latin typeface="Overpass" pitchFamily="2" charset="0"/>
                      </a:rPr>
                      <a:t>and risk processes.</a:t>
                    </a:r>
                  </a:p>
                  <a:p>
                    <a:pPr marL="188989" indent="-188989">
                      <a:lnSpc>
                        <a:spcPct val="100000"/>
                      </a:lnSpc>
                      <a:spcBef>
                        <a:spcPts val="22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Process Digitization:</a:t>
                    </a:r>
                    <a:r>
                      <a:rPr lang="en-US" sz="1100" dirty="0">
                        <a:latin typeface="Overpass" pitchFamily="2" charset="0"/>
                      </a:rPr>
                      <a:t> Led the transformation of complex financial workflows into digital experiences, reducing friction for end-users while maintaining strict data integrity.</a:t>
                    </a:r>
                  </a:p>
                  <a:p>
                    <a:pPr marL="188989" indent="-188989">
                      <a:lnSpc>
                        <a:spcPct val="100000"/>
                      </a:lnSpc>
                      <a:spcBef>
                        <a:spcPts val="22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b="1" dirty="0">
                        <a:latin typeface="Overpass" pitchFamily="2" charset="0"/>
                      </a:rPr>
                      <a:t>Agile Leadership:</a:t>
                    </a:r>
                    <a:r>
                      <a:rPr lang="en-US" sz="1100" dirty="0">
                        <a:latin typeface="Overpass" pitchFamily="2" charset="0"/>
                      </a:rPr>
                      <a:t> Worked closely with Engineering and Stakeholders to execute data-driven roadmaps that increased adoption by 22% and revenue by 15%.</a:t>
                    </a:r>
                  </a:p>
                </p:txBody>
              </p:sp>
              <p:sp>
                <p:nvSpPr>
                  <p:cNvPr id="242" name="Text Placeholder 45">
                    <a:extLst>
                      <a:ext uri="{FF2B5EF4-FFF2-40B4-BE49-F238E27FC236}">
                        <a16:creationId xmlns:a16="http://schemas.microsoft.com/office/drawing/2014/main" id="{736313EA-3C2D-C5A9-2ED3-22681A16B47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19577" y="2560328"/>
                    <a:ext cx="2719752" cy="199157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ct val="900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600" b="1" kern="1200">
                        <a:solidFill>
                          <a:schemeClr val="accent5"/>
                        </a:solidFill>
                        <a:latin typeface="+mj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53" u="sng" dirty="0">
                        <a:solidFill>
                          <a:srgbClr val="10ABE2"/>
                        </a:solidFill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Professional experience</a:t>
                    </a:r>
                  </a:p>
                </p:txBody>
              </p:sp>
              <p:sp>
                <p:nvSpPr>
                  <p:cNvPr id="9" name="Text Placeholder 52">
                    <a:extLst>
                      <a:ext uri="{FF2B5EF4-FFF2-40B4-BE49-F238E27FC236}">
                        <a16:creationId xmlns:a16="http://schemas.microsoft.com/office/drawing/2014/main" id="{6871FAD5-DAC9-2E88-43EE-71DE2313B5B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18603" y="4471978"/>
                    <a:ext cx="6943717" cy="268838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  <a:hlinkClick r:id="rId3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rPr>
                      <a:t>Pharmabest Inc. &amp; Philtel Inc.</a:t>
                    </a: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</a:t>
                    </a:r>
                    <a:r>
                      <a:rPr lang="en-US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| Executive QA Manager &amp; Compliance Manager | 2011 – 2013</a:t>
                    </a:r>
                  </a:p>
                  <a:p>
                    <a:pPr marL="171450" indent="-171450">
                      <a:lnSpc>
                        <a:spcPct val="100000"/>
                      </a:lnSpc>
                      <a:spcBef>
                        <a:spcPts val="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Managed product compliance and quality systems (ISO) in a highly regulated industry, partnering closely with legal and regulatory bodies.</a:t>
                    </a:r>
                    <a:endParaRPr lang="it-IT" sz="1100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sp>
                <p:nvSpPr>
                  <p:cNvPr id="10" name="Text Placeholder 52">
                    <a:extLst>
                      <a:ext uri="{FF2B5EF4-FFF2-40B4-BE49-F238E27FC236}">
                        <a16:creationId xmlns:a16="http://schemas.microsoft.com/office/drawing/2014/main" id="{BA499EBC-730C-6472-42B1-4FBCAD1BA552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6035" y="4748059"/>
                    <a:ext cx="6931149" cy="236466"/>
                  </a:xfrm>
                  <a:prstGeom prst="rect">
                    <a:avLst/>
                  </a:prstGeom>
                </p:spPr>
                <p:txBody>
                  <a:bodyPr vert="horz" lIns="0" tIns="0" rIns="0" bIns="0" rtlCol="0">
                    <a:noAutofit/>
                  </a:bodyPr>
                  <a:lstStyle>
                    <a:lvl1pPr marL="0" indent="0" algn="l" defTabSz="685800" rtl="0" eaLnBrk="1" latinLnBrk="0" hangingPunct="1">
                      <a:lnSpc>
                        <a:spcPts val="15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None/>
                      <a:defRPr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3429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6858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0287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371600" indent="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None/>
                      <a:defRPr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0"/>
                      </a:spcBef>
                    </a:pP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  <a:hlinkClick r:id="rId4">
                          <a:extLst>
                            <a:ext uri="{A12FA001-AC4F-418D-AE19-62706E023703}">
                              <ahyp:hlinkClr xmlns:ahyp="http://schemas.microsoft.com/office/drawing/2018/hyperlinkcolor" val="tx"/>
                            </a:ext>
                          </a:extLst>
                        </a:hlinkClick>
                      </a:rPr>
                      <a:t>Blau Pharmaceuticals Services Inc.</a:t>
                    </a: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 | </a:t>
                    </a:r>
                    <a:r>
                      <a:rPr lang="en-US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Regulatory Affairs Consultant &amp; Team Lead </a:t>
                    </a:r>
                    <a:r>
                      <a:rPr lang="it-IT" sz="1200" b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| 2009 - 2011</a:t>
                    </a:r>
                  </a:p>
                  <a:p>
                    <a:pPr marL="188989" indent="-188989">
                      <a:lnSpc>
                        <a:spcPct val="100000"/>
                      </a:lnSpc>
                      <a:spcBef>
                        <a:spcPts val="220"/>
                      </a:spcBef>
                      <a:buFont typeface="Arial" panose="020B0604020202020204" pitchFamily="34" charset="0"/>
                      <a:buChar char="•"/>
                    </a:pPr>
                    <a:r>
                      <a:rPr lang="en-US" sz="1100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Led regulatory submissions and documentation, translating complex requirements into operational processes</a:t>
                    </a:r>
                    <a:r>
                      <a:rPr lang="en-US" sz="1100" i="1" dirty="0">
                        <a:latin typeface="Overpass" pitchFamily="2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a:t>.</a:t>
                    </a:r>
                    <a:endParaRPr lang="it-IT" sz="1100" i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6C75DF8-197B-BFD3-34D2-297D5EA3D21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8399" y="3934971"/>
                  <a:ext cx="6810206" cy="76338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1200" b="1" u="sng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TouchE</a:t>
                  </a:r>
                  <a:r>
                    <a:rPr lang="en-US" sz="1200" b="1" dirty="0">
                      <a:latin typeface="Overpass" pitchFamily="2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- AI interactive video Platform | Co-Founder &amp; Product Lead | 2018 - 2024</a:t>
                  </a:r>
                </a:p>
                <a:p>
                  <a:pPr marL="188989" indent="-188989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B2B2C Platform: </a:t>
                  </a:r>
                  <a:r>
                    <a:rPr lang="en-US" sz="1100" dirty="0">
                      <a:latin typeface="Overpass" pitchFamily="2" charset="0"/>
                    </a:rPr>
                    <a:t>Built a comprehensive SaaS platform serving both enterprise clients (B2B) and end-users (B2C), managing the full lifecycle from discovery to launch.</a:t>
                  </a:r>
                </a:p>
                <a:p>
                  <a:pPr marL="188989" indent="-188989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UX &amp; Scalability:</a:t>
                  </a:r>
                  <a:r>
                    <a:rPr lang="en-US" sz="1100" dirty="0">
                      <a:latin typeface="Overpass" pitchFamily="2" charset="0"/>
                    </a:rPr>
                    <a:t> Designed seamless user experiences that translated complex backend capabilities into intuitive interfaces for global media partners (Eros Now, HOT).</a:t>
                  </a:r>
                </a:p>
                <a:p>
                  <a:pPr marL="188989" indent="-188989">
                    <a:buFont typeface="Arial" panose="020B0604020202020204" pitchFamily="34" charset="0"/>
                    <a:buChar char="•"/>
                  </a:pPr>
                  <a:r>
                    <a:rPr lang="en-US" sz="1100" b="1" dirty="0">
                      <a:latin typeface="Overpass" pitchFamily="2" charset="0"/>
                    </a:rPr>
                    <a:t>Execution:</a:t>
                  </a:r>
                  <a:r>
                    <a:rPr lang="en-US" sz="1100" dirty="0">
                      <a:latin typeface="Overpass" pitchFamily="2" charset="0"/>
                    </a:rPr>
                    <a:t> Led cross-functional teams (Engineering, Design, Legal) to deliver high-quality solutions in a high-velocity startup environment.</a:t>
                  </a:r>
                </a:p>
              </p:txBody>
            </p:sp>
          </p:grpSp>
          <p:sp>
            <p:nvSpPr>
              <p:cNvPr id="7" name="Text Placeholder 52">
                <a:extLst>
                  <a:ext uri="{FF2B5EF4-FFF2-40B4-BE49-F238E27FC236}">
                    <a16:creationId xmlns:a16="http://schemas.microsoft.com/office/drawing/2014/main" id="{C74AC998-3F7B-596D-682D-63841FD8BC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9665" y="3624596"/>
                <a:ext cx="6568161" cy="476216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u="sng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Inon Baasov Ltd.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| GenAI Product Consultant | 2024 – Present</a:t>
                </a:r>
              </a:p>
              <a:p>
                <a:pPr marL="188989" indent="-188989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Advising startups on </a:t>
                </a:r>
                <a:r>
                  <a:rPr lang="en-US" sz="1100" b="1" dirty="0">
                    <a:latin typeface="Overpass" pitchFamily="2" charset="0"/>
                  </a:rPr>
                  <a:t>AI integration </a:t>
                </a:r>
                <a:r>
                  <a:rPr lang="en-US" sz="1100" dirty="0">
                    <a:latin typeface="Overpass" pitchFamily="2" charset="0"/>
                  </a:rPr>
                  <a:t>for operational workflows, focusing on automation and user experience.</a:t>
                </a:r>
              </a:p>
              <a:p>
                <a:pPr marL="188989" indent="-188989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Defining product roadmaps that leverage </a:t>
                </a:r>
                <a:r>
                  <a:rPr lang="en-US" sz="1100" b="1" dirty="0">
                    <a:latin typeface="Overpass" pitchFamily="2" charset="0"/>
                  </a:rPr>
                  <a:t>Generative AI </a:t>
                </a:r>
                <a:r>
                  <a:rPr lang="en-US" sz="1100" dirty="0">
                    <a:latin typeface="Overpass" pitchFamily="2" charset="0"/>
                  </a:rPr>
                  <a:t>to streamline complex processes in regulated domains.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1C0995E-FBCA-6FEB-CDBA-FF92ABB0404A}"/>
                </a:ext>
              </a:extLst>
            </p:cNvPr>
            <p:cNvSpPr txBox="1"/>
            <p:nvPr/>
          </p:nvSpPr>
          <p:spPr>
            <a:xfrm>
              <a:off x="111853" y="7077853"/>
              <a:ext cx="675281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it-IT" sz="1200" b="1" dirty="0">
                  <a:latin typeface="Overpass" pitchFamily="2" charset="0"/>
                </a:rPr>
                <a:t>PREVIOUS EXPERIENCE (REGULATION &amp; COMPLIANCE)</a:t>
              </a:r>
              <a:endParaRPr lang="en-IL" sz="1200" b="1" dirty="0">
                <a:latin typeface="Overpas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117328</TotalTime>
  <Words>483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16</cp:revision>
  <dcterms:created xsi:type="dcterms:W3CDTF">2024-07-25T09:15:15Z</dcterms:created>
  <dcterms:modified xsi:type="dcterms:W3CDTF">2026-01-21T11:21:05Z</dcterms:modified>
</cp:coreProperties>
</file>