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7559675" cy="10691813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398" userDrawn="1">
          <p15:clr>
            <a:srgbClr val="A4A3A4"/>
          </p15:clr>
        </p15:guide>
        <p15:guide id="2" pos="291" userDrawn="1">
          <p15:clr>
            <a:srgbClr val="A4A3A4"/>
          </p15:clr>
        </p15:guide>
        <p15:guide id="3" pos="4471" userDrawn="1">
          <p15:clr>
            <a:srgbClr val="A4A3A4"/>
          </p15:clr>
        </p15:guide>
        <p15:guide id="4" orient="horz" pos="561" userDrawn="1">
          <p15:clr>
            <a:srgbClr val="A4A3A4"/>
          </p15:clr>
        </p15:guide>
        <p15:guide id="5" pos="2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55DF29-EEDA-4695-8AD7-D679D952D93F}" v="6" dt="2026-01-25T09:42:30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 autoAdjust="0"/>
    <p:restoredTop sz="95223" autoAdjust="0"/>
  </p:normalViewPr>
  <p:slideViewPr>
    <p:cSldViewPr snapToGrid="0" snapToObjects="1" showGuides="1">
      <p:cViewPr varScale="1">
        <p:scale>
          <a:sx n="61" d="100"/>
          <a:sy n="61" d="100"/>
        </p:scale>
        <p:origin x="3708" y="282"/>
      </p:cViewPr>
      <p:guideLst>
        <p:guide orient="horz" pos="6398"/>
        <p:guide pos="291"/>
        <p:guide pos="4471"/>
        <p:guide orient="horz" pos="561"/>
        <p:guide pos="24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undo custSel modSld">
      <pc:chgData name="Inon Baasov" userId="675f8575db202d33" providerId="LiveId" clId="{6535A8C2-D6D1-40A6-B57B-6CAB1510FB70}" dt="2026-01-25T09:42:29.749" v="906" actId="1038"/>
      <pc:docMkLst>
        <pc:docMk/>
      </pc:docMkLst>
      <pc:sldChg chg="addSp delSp modSp mod modClrScheme chgLayout">
        <pc:chgData name="Inon Baasov" userId="675f8575db202d33" providerId="LiveId" clId="{6535A8C2-D6D1-40A6-B57B-6CAB1510FB70}" dt="2026-01-25T09:42:29.749" v="906" actId="1038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6-01-01T17:03:44.071" v="734" actId="1035"/>
          <ac:spMkLst>
            <pc:docMk/>
            <pc:sldMk cId="1945325877" sldId="260"/>
            <ac:spMk id="3" creationId="{550F18B5-1245-2B4C-AA47-F39938FA615F}"/>
          </ac:spMkLst>
        </pc:spChg>
        <pc:spChg chg="mod">
          <ac:chgData name="Inon Baasov" userId="675f8575db202d33" providerId="LiveId" clId="{6535A8C2-D6D1-40A6-B57B-6CAB1510FB70}" dt="2026-01-01T17:05:44.588" v="778" actId="3064"/>
          <ac:spMkLst>
            <pc:docMk/>
            <pc:sldMk cId="1945325877" sldId="260"/>
            <ac:spMk id="5" creationId="{CD85A639-1B8A-878B-04BB-3EE82339007A}"/>
          </ac:spMkLst>
        </pc:spChg>
        <pc:spChg chg="mod">
          <ac:chgData name="Inon Baasov" userId="675f8575db202d33" providerId="LiveId" clId="{6535A8C2-D6D1-40A6-B57B-6CAB1510FB70}" dt="2026-01-01T17:11:30.676" v="871" actId="6549"/>
          <ac:spMkLst>
            <pc:docMk/>
            <pc:sldMk cId="1945325877" sldId="260"/>
            <ac:spMk id="7" creationId="{C74AC998-3F7B-596D-682D-63841FD8BC26}"/>
          </ac:spMkLst>
        </pc:spChg>
        <pc:spChg chg="mod">
          <ac:chgData name="Inon Baasov" userId="675f8575db202d33" providerId="LiveId" clId="{6535A8C2-D6D1-40A6-B57B-6CAB1510FB70}" dt="2026-01-01T17:11:47.326" v="875" actId="6549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6535A8C2-D6D1-40A6-B57B-6CAB1510FB70}" dt="2026-01-01T17:11:50.164" v="876" actId="6549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6535A8C2-D6D1-40A6-B57B-6CAB1510FB70}" dt="2026-01-01T17:12:00.015" v="879" actId="20577"/>
          <ac:spMkLst>
            <pc:docMk/>
            <pc:sldMk cId="1945325877" sldId="260"/>
            <ac:spMk id="11" creationId="{D6C75DF8-197B-BFD3-34D2-297D5EA3D213}"/>
          </ac:spMkLst>
        </pc:spChg>
        <pc:spChg chg="add mod">
          <ac:chgData name="Inon Baasov" userId="675f8575db202d33" providerId="LiveId" clId="{6535A8C2-D6D1-40A6-B57B-6CAB1510FB70}" dt="2026-01-25T09:42:29.749" v="906" actId="1038"/>
          <ac:spMkLst>
            <pc:docMk/>
            <pc:sldMk cId="1945325877" sldId="260"/>
            <ac:spMk id="13" creationId="{4249E103-E362-6B04-7D88-6E8B0D33FDDF}"/>
          </ac:spMkLst>
        </pc:spChg>
        <pc:spChg chg="mod ord">
          <ac:chgData name="Inon Baasov" userId="675f8575db202d33" providerId="LiveId" clId="{6535A8C2-D6D1-40A6-B57B-6CAB1510FB70}" dt="2026-01-01T17:03:44.071" v="734" actId="1035"/>
          <ac:spMkLst>
            <pc:docMk/>
            <pc:sldMk cId="1945325877" sldId="260"/>
            <ac:spMk id="73" creationId="{2FD50699-45B5-88EC-1B42-E5597AB067CD}"/>
          </ac:spMkLst>
        </pc:spChg>
        <pc:spChg chg="mod ord">
          <ac:chgData name="Inon Baasov" userId="675f8575db202d33" providerId="LiveId" clId="{6535A8C2-D6D1-40A6-B57B-6CAB1510FB70}" dt="2026-01-01T17:03:44.071" v="734" actId="1035"/>
          <ac:spMkLst>
            <pc:docMk/>
            <pc:sldMk cId="1945325877" sldId="260"/>
            <ac:spMk id="74" creationId="{132E1DF2-8DF7-6940-4374-52DB65EC3761}"/>
          </ac:spMkLst>
        </pc:spChg>
        <pc:spChg chg="mod ord">
          <ac:chgData name="Inon Baasov" userId="675f8575db202d33" providerId="LiveId" clId="{6535A8C2-D6D1-40A6-B57B-6CAB1510FB70}" dt="2026-01-01T17:03:44.071" v="734" actId="1035"/>
          <ac:spMkLst>
            <pc:docMk/>
            <pc:sldMk cId="1945325877" sldId="260"/>
            <ac:spMk id="75" creationId="{23DA089B-1D05-556D-253C-262F0FA50B68}"/>
          </ac:spMkLst>
        </pc:spChg>
        <pc:spChg chg="mod">
          <ac:chgData name="Inon Baasov" userId="675f8575db202d33" providerId="LiveId" clId="{6535A8C2-D6D1-40A6-B57B-6CAB1510FB70}" dt="2026-01-01T17:11:41.287" v="874" actId="20577"/>
          <ac:spMkLst>
            <pc:docMk/>
            <pc:sldMk cId="1945325877" sldId="260"/>
            <ac:spMk id="154" creationId="{7B120799-BCC3-8E46-2EA5-CFAE368C1FC7}"/>
          </ac:spMkLst>
        </pc:spChg>
        <pc:spChg chg="mod">
          <ac:chgData name="Inon Baasov" userId="675f8575db202d33" providerId="LiveId" clId="{6535A8C2-D6D1-40A6-B57B-6CAB1510FB70}" dt="2026-01-01T17:05:32.422" v="768" actId="3064"/>
          <ac:spMkLst>
            <pc:docMk/>
            <pc:sldMk cId="1945325877" sldId="260"/>
            <ac:spMk id="174" creationId="{67D1E309-1ED9-E676-89A4-61C198105A97}"/>
          </ac:spMkLst>
        </pc:spChg>
        <pc:spChg chg="mod">
          <ac:chgData name="Inon Baasov" userId="675f8575db202d33" providerId="LiveId" clId="{6535A8C2-D6D1-40A6-B57B-6CAB1510FB70}" dt="2026-01-01T17:05:32.422" v="768" actId="3064"/>
          <ac:spMkLst>
            <pc:docMk/>
            <pc:sldMk cId="1945325877" sldId="260"/>
            <ac:spMk id="231" creationId="{341669B1-8344-D7A4-D12E-8D04FAB5F455}"/>
          </ac:spMkLst>
        </pc:spChg>
        <pc:grpChg chg="mod">
          <ac:chgData name="Inon Baasov" userId="675f8575db202d33" providerId="LiveId" clId="{6535A8C2-D6D1-40A6-B57B-6CAB1510FB70}" dt="2026-01-01T17:03:48.633" v="745" actId="1035"/>
          <ac:grpSpMkLst>
            <pc:docMk/>
            <pc:sldMk cId="1945325877" sldId="260"/>
            <ac:grpSpMk id="2" creationId="{E8F3DD04-3596-890A-0289-4F6EC51FBB48}"/>
          </ac:grpSpMkLst>
        </pc:grpChg>
        <pc:grpChg chg="mod">
          <ac:chgData name="Inon Baasov" userId="675f8575db202d33" providerId="LiveId" clId="{6535A8C2-D6D1-40A6-B57B-6CAB1510FB70}" dt="2026-01-01T17:06:55.329" v="819" actId="1037"/>
          <ac:grpSpMkLst>
            <pc:docMk/>
            <pc:sldMk cId="1945325877" sldId="260"/>
            <ac:grpSpMk id="8" creationId="{0706554B-DAEA-F04A-7818-F1555F0613DF}"/>
          </ac:grpSpMkLst>
        </pc:grpChg>
        <pc:grpChg chg="mod">
          <ac:chgData name="Inon Baasov" userId="675f8575db202d33" providerId="LiveId" clId="{6535A8C2-D6D1-40A6-B57B-6CAB1510FB70}" dt="2026-01-01T17:07:35.375" v="852" actId="1036"/>
          <ac:grpSpMkLst>
            <pc:docMk/>
            <pc:sldMk cId="1945325877" sldId="260"/>
            <ac:grpSpMk id="236" creationId="{BA846034-E5B0-1F9D-ABEB-DA7831B54ABD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427053" cy="1069181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3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427" y="391048"/>
            <a:ext cx="2808595" cy="2066589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3427" y="2526988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3914" y="2963717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0872" y="296052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33914" y="3254448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0872" y="325343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33914" y="3558544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0872" y="355364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3427" y="4158175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1978" y="461232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3785" y="4834106"/>
            <a:ext cx="2486644" cy="659880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505" y="5675743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81142" y="6182131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81142" y="6182131"/>
            <a:ext cx="144137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9988" y="6247118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81142" y="6604379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81142" y="6604379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9988" y="6670335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81142" y="7032218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81142" y="7032218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9988" y="7111203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81142" y="7460784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81142" y="7460784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3427" y="7533471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81142" y="7890056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81142" y="7890056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0505" y="7959197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2670" y="855763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3785" y="899716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3785" y="9306334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3785" y="957613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0251" y="850719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60251" y="13110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60251" y="15327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0251" y="1787216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60252" y="2049679"/>
            <a:ext cx="3260109" cy="1491815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60251" y="360392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60251" y="3861348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60251" y="4115765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60251" y="4399611"/>
            <a:ext cx="3362938" cy="127613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60251" y="57141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60251" y="59358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60251" y="620457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60252" y="6481290"/>
            <a:ext cx="3356597" cy="127613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60251" y="802722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60251" y="8471838"/>
            <a:ext cx="2486644" cy="15071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532" y="475488"/>
            <a:ext cx="5656172" cy="62618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9318" y="7362192"/>
            <a:ext cx="1691461" cy="27398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0073" y="7721705"/>
            <a:ext cx="1499124" cy="316959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0073" y="8001634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20073" y="8227082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08545" y="8231936"/>
            <a:ext cx="764678" cy="236789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8545" y="7779653"/>
            <a:ext cx="764678" cy="46016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8532" y="1834989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8532" y="2175261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8532" y="2404349"/>
            <a:ext cx="3224945" cy="80022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532" y="1339314"/>
            <a:ext cx="3224947" cy="342890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8532" y="3321421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8532" y="3661693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8532" y="3890780"/>
            <a:ext cx="3224945" cy="782231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8532" y="4802265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532" y="5142538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8532" y="5371625"/>
            <a:ext cx="3224945" cy="82947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83244" y="8880129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3244" y="9425001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83244" y="9975957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63744" y="5093190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63744" y="5298796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963744" y="5498412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63744" y="4901474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963744" y="4687638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63744" y="6295985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63744" y="6609368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963744" y="6925580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59049" y="9526649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59049" y="9840033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59049" y="10170210"/>
            <a:ext cx="1597897" cy="27931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59049" y="8879303"/>
            <a:ext cx="1597897" cy="337973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59049" y="9211556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308444" y="954207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08444" y="986468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308444" y="10171423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308444" y="9243446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308846" y="8879303"/>
            <a:ext cx="1203730" cy="345881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311543"/>
            <a:ext cx="75596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819317" y="1340189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819317" y="4235204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819317" y="5863650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9" y="569244"/>
            <a:ext cx="6520220" cy="2066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9" y="2846201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4" y="9909730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1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tel.co.il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lau-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87159" y="921338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21204" y="922732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65" y="513374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031102" y="922284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466520" y="9263407"/>
            <a:ext cx="6645792" cy="936311"/>
            <a:chOff x="93673" y="1854031"/>
            <a:chExt cx="2936874" cy="349897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24991"/>
              <a:ext cx="2936874" cy="27893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Executive MBA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(Entrepreneurship &amp; High-Tech Management),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Technology,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2016–2018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B.Sc., Biotechnology &amp; Food Engineering, 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2005–2008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Chemical Engineering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McGill University, Montreal, Canada,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2004–2005</a:t>
              </a:r>
              <a:endParaRPr lang="en-US" sz="105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446088" y="1303882"/>
            <a:ext cx="6666225" cy="1631423"/>
            <a:chOff x="2730795" y="1315393"/>
            <a:chExt cx="4090720" cy="2269810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50496"/>
              <a:ext cx="4090720" cy="19347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b="1" dirty="0">
                  <a:latin typeface="Overpass" pitchFamily="2" charset="0"/>
                </a:rPr>
                <a:t>Principal Product Owner </a:t>
              </a:r>
              <a:r>
                <a:rPr lang="en-US" sz="1100" dirty="0">
                  <a:latin typeface="Overpass" pitchFamily="2" charset="0"/>
                </a:rPr>
                <a:t>with 10+ years leading cross-functional teams to deliver SaaS and cloud-based solutions. Proven record in translating complex </a:t>
              </a:r>
              <a:r>
                <a:rPr lang="en-US" sz="1100" b="1" dirty="0">
                  <a:latin typeface="Overpass" pitchFamily="2" charset="0"/>
                </a:rPr>
                <a:t>system architecture </a:t>
              </a:r>
              <a:r>
                <a:rPr lang="en-US" sz="1100" dirty="0">
                  <a:latin typeface="Overpass" pitchFamily="2" charset="0"/>
                </a:rPr>
                <a:t>requirements into actionable product roadmaps for high-availability platforms. Experienced in bridging business, engineering, and algorithm teams to prioritize </a:t>
              </a:r>
              <a:r>
                <a:rPr lang="en-US" sz="1100" b="1" dirty="0">
                  <a:latin typeface="Overpass" pitchFamily="2" charset="0"/>
                </a:rPr>
                <a:t>backend services, microservices</a:t>
              </a:r>
              <a:r>
                <a:rPr lang="en-US" sz="1100" dirty="0">
                  <a:latin typeface="Overpass" pitchFamily="2" charset="0"/>
                </a:rPr>
                <a:t>, and data distribution mechanisms. Passionate about building robust infrastructure for </a:t>
              </a:r>
              <a:r>
                <a:rPr lang="en-US" sz="1100" b="1" dirty="0">
                  <a:latin typeface="Overpass" pitchFamily="2" charset="0"/>
                </a:rPr>
                <a:t>regulated, mission-critical</a:t>
              </a:r>
              <a:r>
                <a:rPr lang="en-US" sz="1100" dirty="0">
                  <a:latin typeface="Overpass" pitchFamily="2" charset="0"/>
                </a:rPr>
                <a:t> ecosystems.</a:t>
              </a:r>
            </a:p>
            <a:p>
              <a:r>
                <a:rPr lang="en-US" sz="1100" dirty="0">
                  <a:latin typeface="Overpass" pitchFamily="2" charset="0"/>
                </a:rPr>
                <a:t>Key Skills: Technical Product Management | API Lifecycle Management | Cloud Infrastructure (AWS) | System Architecture Alignment | Microservices Strategy | Backend Roadmap Prioritization | Identity Management (IAM)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706554B-DAEA-F04A-7818-F1555F0613DF}"/>
              </a:ext>
            </a:extLst>
          </p:cNvPr>
          <p:cNvGrpSpPr/>
          <p:nvPr/>
        </p:nvGrpSpPr>
        <p:grpSpPr>
          <a:xfrm>
            <a:off x="359504" y="2989292"/>
            <a:ext cx="6726870" cy="6350669"/>
            <a:chOff x="161926" y="3425452"/>
            <a:chExt cx="6590843" cy="465618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A96F9C5-B4EE-2CE6-5E39-6D2B06DDBAA4}"/>
                </a:ext>
              </a:extLst>
            </p:cNvPr>
            <p:cNvGrpSpPr/>
            <p:nvPr/>
          </p:nvGrpSpPr>
          <p:grpSpPr>
            <a:xfrm>
              <a:off x="161926" y="3425452"/>
              <a:ext cx="6590843" cy="4656183"/>
              <a:chOff x="78398" y="3403413"/>
              <a:chExt cx="6718755" cy="3496306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943FD8F-B645-F5DD-0443-9670451D8FB5}"/>
                  </a:ext>
                </a:extLst>
              </p:cNvPr>
              <p:cNvGrpSpPr/>
              <p:nvPr/>
            </p:nvGrpSpPr>
            <p:grpSpPr>
              <a:xfrm>
                <a:off x="78398" y="3403413"/>
                <a:ext cx="6718755" cy="3496306"/>
                <a:chOff x="-24741" y="2575123"/>
                <a:chExt cx="6949855" cy="2711605"/>
              </a:xfrm>
            </p:grpSpPr>
            <p:sp>
              <p:nvSpPr>
                <p:cNvPr id="154" name="Text Placeholder 52">
                  <a:extLst>
                    <a:ext uri="{FF2B5EF4-FFF2-40B4-BE49-F238E27FC236}">
                      <a16:creationId xmlns:a16="http://schemas.microsoft.com/office/drawing/2014/main" id="{7B120799-BCC3-8E46-2EA5-CFAE368C1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4741" y="4192938"/>
                  <a:ext cx="6943718" cy="66548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en-IL" sz="1200" b="1" u="sng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Arena Plus</a:t>
                  </a:r>
                  <a:r>
                    <a:rPr lang="en-IL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IL" sz="105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Financial Services</a:t>
                  </a:r>
                  <a:r>
                    <a:rPr lang="en-US" sz="105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1050" b="1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| </a:t>
                  </a:r>
                  <a:r>
                    <a:rPr lang="en-US" sz="1050" b="1" i="1" dirty="0">
                      <a:latin typeface="Overpass" pitchFamily="2" charset="0"/>
                    </a:rPr>
                    <a:t>Senior Product/Project Manager 	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            </a:t>
                  </a:r>
                  <a:r>
                    <a:rPr lang="en-US" sz="1200" b="1" dirty="0">
                      <a:latin typeface="Overpass" pitchFamily="2" charset="0"/>
                    </a:rPr>
                    <a:t> 2013 - 2018 </a:t>
                  </a:r>
                  <a:endParaRPr lang="en-US" sz="1100" b="1" dirty="0">
                    <a:latin typeface="Overpass" pitchFamily="2" charset="0"/>
                  </a:endParaRP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Promoted from Product Manager (2013-2015) to Senior PM (2015-2018)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Managed delivery of secure financial platform projects, introducing Agile frameworks that cut time-to-market by 20%.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Oversaw global development and external UX teams, ensuring roadmap execution and stakeholder alignment for high-volume transaction systems.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Monitored budgets and risks while delivering measurable performance improvements (+22% quarterly usage, +15% revenue expansion).</a:t>
                  </a:r>
                </a:p>
              </p:txBody>
            </p:sp>
            <p:sp>
              <p:nvSpPr>
                <p:cNvPr id="242" name="Text Placeholder 45">
                  <a:extLst>
                    <a:ext uri="{FF2B5EF4-FFF2-40B4-BE49-F238E27FC236}">
                      <a16:creationId xmlns:a16="http://schemas.microsoft.com/office/drawing/2014/main" id="{736313EA-3C2D-C5A9-2ED3-22681A16B4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9577" y="2575123"/>
                  <a:ext cx="2719752" cy="1991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5"/>
                      </a:solidFill>
                      <a:latin typeface="+mj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500" u="sng" dirty="0">
                      <a:solidFill>
                        <a:srgbClr val="10ABE2"/>
                      </a:solidFill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Professional experience</a:t>
                  </a:r>
                </a:p>
              </p:txBody>
            </p:sp>
            <p:sp>
              <p:nvSpPr>
                <p:cNvPr id="9" name="Text Placeholder 52">
                  <a:extLst>
                    <a:ext uri="{FF2B5EF4-FFF2-40B4-BE49-F238E27FC236}">
                      <a16:creationId xmlns:a16="http://schemas.microsoft.com/office/drawing/2014/main" id="{6871FAD5-DAC9-2E88-43EE-71DE2313B5B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8603" y="4820463"/>
                  <a:ext cx="6943717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Pharmabest Inc. &amp; Philtel Inc.</a:t>
                  </a:r>
                  <a:r>
                    <a:rPr lang="it-IT" sz="105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| </a:t>
                  </a:r>
                  <a:r>
                    <a:rPr lang="it-IT" sz="1050" b="1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Exec. QA Manager </a:t>
                  </a: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   		</a:t>
                  </a:r>
                  <a:r>
                    <a:rPr lang="it-IT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               2011 - 2013</a:t>
                  </a:r>
                  <a:endParaRPr lang="it-IT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Managed QA processes for medical devices, ensuring compliance (ISO standards) under strict deadlines.</a:t>
                  </a:r>
                  <a:endParaRPr lang="it-IT" sz="1600" i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" name="Text Placeholder 52">
                  <a:extLst>
                    <a:ext uri="{FF2B5EF4-FFF2-40B4-BE49-F238E27FC236}">
                      <a16:creationId xmlns:a16="http://schemas.microsoft.com/office/drawing/2014/main" id="{BA499EBC-730C-6472-42B1-4FBCAD1BA55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6035" y="5050262"/>
                  <a:ext cx="6931149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4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Blau Pharmaceuticals Services Inc.</a:t>
                  </a:r>
                  <a:r>
                    <a:rPr lang="it-IT" sz="1050" b="1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| Regulatory Affairs Consultant </a:t>
                  </a: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</a:t>
                  </a:r>
                  <a:r>
                    <a:rPr lang="it-IT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               2009 - 2011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Advised pharma companies on regulatory project documentation and compliance affairs</a:t>
                  </a:r>
                  <a:r>
                    <a:rPr lang="it-IT" sz="110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C75DF8-197B-BFD3-34D2-297D5EA3D2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399" y="4415821"/>
                <a:ext cx="6713716" cy="1140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u="sng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TouchE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050" i="1" dirty="0">
                    <a:latin typeface="Overpass" pitchFamily="2" charset="0"/>
                  </a:rPr>
                  <a:t>AI interactive video SaaS</a:t>
                </a:r>
                <a:r>
                  <a:rPr lang="en-US" sz="1050" b="1" i="1" dirty="0">
                    <a:latin typeface="Overpass" pitchFamily="2" charset="0"/>
                  </a:rPr>
                  <a:t>  </a:t>
                </a:r>
                <a:r>
                  <a:rPr lang="en-US" sz="1050" b="1" i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| </a:t>
                </a:r>
                <a:r>
                  <a:rPr lang="en-US" sz="1050" b="1" i="1" dirty="0">
                    <a:latin typeface="Overpass" pitchFamily="2" charset="0"/>
                  </a:rPr>
                  <a:t>Co-Founder &amp; Product/Project Lead 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	     2018 - 2024</a:t>
                </a: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Overpass" pitchFamily="2" charset="0"/>
                  </a:rPr>
                  <a:t>Backend Strategy</a:t>
                </a:r>
                <a:r>
                  <a:rPr lang="en-US" sz="1100" dirty="0">
                    <a:latin typeface="Overpass" pitchFamily="2" charset="0"/>
                  </a:rPr>
                  <a:t>: Led the product strategy for a high-throughput video PaaS. Defined roadmap for core infrastructure, </a:t>
                </a:r>
                <a:r>
                  <a:rPr lang="en-US" sz="1100" b="1" dirty="0">
                    <a:latin typeface="Overpass" pitchFamily="2" charset="0"/>
                  </a:rPr>
                  <a:t>API distribution</a:t>
                </a:r>
                <a:r>
                  <a:rPr lang="en-US" sz="1100" dirty="0">
                    <a:latin typeface="Overpass" pitchFamily="2" charset="0"/>
                  </a:rPr>
                  <a:t>, and cloud scalability (AWS) to support real-time streaming, securing $2.5M in funding.</a:t>
                </a:r>
                <a:endParaRPr lang="he-IL" sz="1100" dirty="0">
                  <a:latin typeface="Overpass" pitchFamily="2" charset="0"/>
                </a:endParaRP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Overpass" pitchFamily="2" charset="0"/>
                  </a:rPr>
                  <a:t>Architecture &amp; Microservices</a:t>
                </a:r>
                <a:r>
                  <a:rPr lang="en-US" sz="1100" dirty="0">
                    <a:latin typeface="Overpass" pitchFamily="2" charset="0"/>
                  </a:rPr>
                  <a:t>: Managed prioritization of </a:t>
                </a:r>
                <a:r>
                  <a:rPr lang="en-US" sz="1100" b="1" dirty="0">
                    <a:latin typeface="Overpass" pitchFamily="2" charset="0"/>
                  </a:rPr>
                  <a:t>microservices</a:t>
                </a:r>
                <a:r>
                  <a:rPr lang="en-US" sz="1100" dirty="0">
                    <a:latin typeface="Overpass" pitchFamily="2" charset="0"/>
                  </a:rPr>
                  <a:t> and data pipelines for Web, Mobile, and Smart-TV endpoints. Collaborated with System Architects to define </a:t>
                </a:r>
                <a:r>
                  <a:rPr lang="en-US" sz="1100" b="1" dirty="0">
                    <a:latin typeface="Overpass" pitchFamily="2" charset="0"/>
                  </a:rPr>
                  <a:t>API contracts </a:t>
                </a:r>
                <a:r>
                  <a:rPr lang="en-US" sz="1100" dirty="0">
                    <a:latin typeface="Overpass" pitchFamily="2" charset="0"/>
                  </a:rPr>
                  <a:t>and data flow requirements.</a:t>
                </a:r>
                <a:endParaRPr lang="he-IL" sz="1100" dirty="0">
                  <a:latin typeface="Overpass" pitchFamily="2" charset="0"/>
                </a:endParaRP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Overpass" pitchFamily="2" charset="0"/>
                  </a:rPr>
                  <a:t>Security &amp; Identity</a:t>
                </a:r>
                <a:r>
                  <a:rPr lang="en-US" sz="1100" dirty="0">
                    <a:latin typeface="Overpass" pitchFamily="2" charset="0"/>
                  </a:rPr>
                  <a:t>: Directed complex 3rd-party integrations and </a:t>
                </a:r>
                <a:r>
                  <a:rPr lang="en-US" sz="1100" b="1" dirty="0">
                    <a:latin typeface="Overpass" pitchFamily="2" charset="0"/>
                  </a:rPr>
                  <a:t>Identity Management (IAM) </a:t>
                </a:r>
                <a:r>
                  <a:rPr lang="en-US" sz="1100" dirty="0">
                    <a:latin typeface="Overpass" pitchFamily="2" charset="0"/>
                  </a:rPr>
                  <a:t>workflows (SSO/Auth) for enterprise partners, ensuring secure data distribution.</a:t>
                </a:r>
                <a:endParaRPr lang="he-IL" sz="1100" dirty="0">
                  <a:latin typeface="Overpass" pitchFamily="2" charset="0"/>
                </a:endParaRPr>
              </a:p>
              <a:p>
                <a:pPr marL="85725" indent="-85725"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b="1" dirty="0">
                    <a:latin typeface="Overpass" pitchFamily="2" charset="0"/>
                  </a:rPr>
                  <a:t>Agile Leadership: </a:t>
                </a:r>
                <a:r>
                  <a:rPr lang="en-US" sz="1100" dirty="0">
                    <a:latin typeface="Overpass" pitchFamily="2" charset="0"/>
                  </a:rPr>
                  <a:t>Led development processes, defining user stories and acceptance criteria in collaboration with engineering and algorithm teams, boosting efficiency by </a:t>
                </a:r>
                <a:r>
                  <a:rPr lang="en-US" sz="1100">
                    <a:latin typeface="Overpass" pitchFamily="2" charset="0"/>
                  </a:rPr>
                  <a:t>38%.</a:t>
                </a:r>
                <a:endParaRPr lang="en-US" sz="1100" dirty="0">
                  <a:latin typeface="Overpass" pitchFamily="2" charset="0"/>
                </a:endParaRPr>
              </a:p>
            </p:txBody>
          </p:sp>
        </p:grpSp>
        <p:sp>
          <p:nvSpPr>
            <p:cNvPr id="7" name="Text Placeholder 52">
              <a:extLst>
                <a:ext uri="{FF2B5EF4-FFF2-40B4-BE49-F238E27FC236}">
                  <a16:creationId xmlns:a16="http://schemas.microsoft.com/office/drawing/2014/main" id="{C74AC998-3F7B-596D-682D-63841FD8BC26}"/>
                </a:ext>
              </a:extLst>
            </p:cNvPr>
            <p:cNvSpPr txBox="1">
              <a:spLocks/>
            </p:cNvSpPr>
            <p:nvPr/>
          </p:nvSpPr>
          <p:spPr>
            <a:xfrm>
              <a:off x="179665" y="3582181"/>
              <a:ext cx="6568161" cy="121660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200" b="1" u="sng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Inon Baasov Ltd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</a:t>
              </a:r>
              <a:r>
                <a:rPr lang="it-IT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|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it-IT" sz="1050" b="1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Product Strategy Consultant  </a:t>
              </a:r>
              <a:r>
                <a:rPr lang="it-IT" sz="105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	              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2024 - Present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Designing </a:t>
              </a:r>
              <a:r>
                <a:rPr lang="en-US" sz="1100" b="1" dirty="0">
                  <a:latin typeface="Overpass" pitchFamily="2" charset="0"/>
                </a:rPr>
                <a:t>model orchestration layers </a:t>
              </a:r>
              <a:r>
                <a:rPr lang="en-US" sz="1100" dirty="0">
                  <a:latin typeface="Overpass" pitchFamily="2" charset="0"/>
                </a:rPr>
                <a:t>and data pipelines for AI startups, focusing on latency, cost-optimization, and backend stability.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Defining technical product strategy for GenAI models, including </a:t>
              </a:r>
              <a:r>
                <a:rPr lang="en-US" sz="1100" b="1" dirty="0">
                  <a:latin typeface="Overpass" pitchFamily="2" charset="0"/>
                </a:rPr>
                <a:t>API usage patterns </a:t>
              </a:r>
              <a:r>
                <a:rPr lang="en-US" sz="1100" dirty="0">
                  <a:latin typeface="Overpass" pitchFamily="2" charset="0"/>
                </a:rPr>
                <a:t>and data evaluation loops to ensure system quality and performance.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Leading project delivery for digital ventures (</a:t>
              </a:r>
              <a:r>
                <a:rPr lang="en-US" sz="1100" dirty="0" err="1">
                  <a:latin typeface="Overpass" pitchFamily="2" charset="0"/>
                </a:rPr>
                <a:t>AiRakoon</a:t>
              </a:r>
              <a:r>
                <a:rPr lang="en-US" sz="1100" dirty="0">
                  <a:latin typeface="Overpass" pitchFamily="2" charset="0"/>
                </a:rPr>
                <a:t>, </a:t>
              </a:r>
              <a:r>
                <a:rPr lang="en-US" sz="1100" dirty="0" err="1">
                  <a:latin typeface="Overpass" pitchFamily="2" charset="0"/>
                </a:rPr>
                <a:t>Medicrowd</a:t>
              </a:r>
              <a:r>
                <a:rPr lang="en-US" sz="1100" dirty="0">
                  <a:latin typeface="Overpass" pitchFamily="2" charset="0"/>
                </a:rPr>
                <a:t>), translating complex operational needs into scalable </a:t>
              </a:r>
              <a:r>
                <a:rPr lang="en-US" sz="1100" b="1" dirty="0">
                  <a:latin typeface="Overpass" pitchFamily="2" charset="0"/>
                </a:rPr>
                <a:t>backend architectures</a:t>
              </a:r>
              <a:r>
                <a:rPr lang="en-US" sz="1100" dirty="0">
                  <a:latin typeface="Overpass" pitchFamily="2" charset="0"/>
                </a:rPr>
                <a:t>.</a:t>
              </a:r>
            </a:p>
            <a:p>
              <a:pPr marL="85725" indent="-85725">
                <a:lnSpc>
                  <a:spcPct val="1000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Defining project milestones and resource allocation for </a:t>
              </a:r>
              <a:r>
                <a:rPr lang="en-US" sz="1100" b="1" dirty="0">
                  <a:latin typeface="Overpass" pitchFamily="2" charset="0"/>
                </a:rPr>
                <a:t>cloud-based solutions</a:t>
              </a:r>
              <a:r>
                <a:rPr lang="en-US" sz="1100" dirty="0">
                  <a:latin typeface="Overpass" pitchFamily="2" charset="0"/>
                </a:rPr>
                <a:t>, ensuring alignment with regulatory and security standards.</a:t>
              </a:r>
              <a:endParaRPr lang="it-IT" sz="1100" i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131164</TotalTime>
  <Words>549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15</cp:revision>
  <dcterms:created xsi:type="dcterms:W3CDTF">2024-07-25T09:15:15Z</dcterms:created>
  <dcterms:modified xsi:type="dcterms:W3CDTF">2026-01-25T09:42:34Z</dcterms:modified>
</cp:coreProperties>
</file>