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7559675" cy="10691813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98" userDrawn="1">
          <p15:clr>
            <a:srgbClr val="A4A3A4"/>
          </p15:clr>
        </p15:guide>
        <p15:guide id="2" pos="291" userDrawn="1">
          <p15:clr>
            <a:srgbClr val="A4A3A4"/>
          </p15:clr>
        </p15:guide>
        <p15:guide id="3" pos="4471" userDrawn="1">
          <p15:clr>
            <a:srgbClr val="A4A3A4"/>
          </p15:clr>
        </p15:guide>
        <p15:guide id="4" orient="horz" pos="561" userDrawn="1">
          <p15:clr>
            <a:srgbClr val="A4A3A4"/>
          </p15:clr>
        </p15:guide>
        <p15:guide id="5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988F9F-622E-4031-AEAA-C827C7FFE545}" v="10" dt="2026-01-18T14:07:18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125" d="100"/>
          <a:sy n="125" d="100"/>
        </p:scale>
        <p:origin x="2172" y="-2364"/>
      </p:cViewPr>
      <p:guideLst>
        <p:guide orient="horz" pos="6398"/>
        <p:guide pos="291"/>
        <p:guide pos="4471"/>
        <p:guide orient="horz" pos="561"/>
        <p:guide pos="24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undo custSel modSld">
      <pc:chgData name="Inon Baasov" userId="675f8575db202d33" providerId="LiveId" clId="{6535A8C2-D6D1-40A6-B57B-6CAB1510FB70}" dt="2026-01-18T14:07:23.130" v="203" actId="6549"/>
      <pc:docMkLst>
        <pc:docMk/>
      </pc:docMkLst>
      <pc:sldChg chg="modSp mod">
        <pc:chgData name="Inon Baasov" userId="675f8575db202d33" providerId="LiveId" clId="{6535A8C2-D6D1-40A6-B57B-6CAB1510FB70}" dt="2026-01-18T14:07:23.130" v="203" actId="6549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6-01-18T14:01:19.534" v="197" actId="113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6-01-18T14:07:23.130" v="203" actId="6549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6-01-18T13:41:24.649" v="100" actId="14100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6-01-18T13:59:20.797" v="152" actId="1035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6-01-18T14:07:20.071" v="202" actId="6549"/>
          <ac:spMkLst>
            <pc:docMk/>
            <pc:sldMk cId="1945325877" sldId="260"/>
            <ac:spMk id="11" creationId="{D6C75DF8-197B-BFD3-34D2-297D5EA3D213}"/>
          </ac:spMkLst>
        </pc:spChg>
        <pc:spChg chg="mod">
          <ac:chgData name="Inon Baasov" userId="675f8575db202d33" providerId="LiveId" clId="{6535A8C2-D6D1-40A6-B57B-6CAB1510FB70}" dt="2026-01-18T13:32:48.772" v="2" actId="113"/>
          <ac:spMkLst>
            <pc:docMk/>
            <pc:sldMk cId="1945325877" sldId="260"/>
            <ac:spMk id="13" creationId="{D7A61062-88AB-991A-E1C7-AC59E76603A3}"/>
          </ac:spMkLst>
        </pc:spChg>
        <pc:spChg chg="mod">
          <ac:chgData name="Inon Baasov" userId="675f8575db202d33" providerId="LiveId" clId="{6535A8C2-D6D1-40A6-B57B-6CAB1510FB70}" dt="2026-01-18T13:59:43.969" v="193" actId="1036"/>
          <ac:spMkLst>
            <pc:docMk/>
            <pc:sldMk cId="1945325877" sldId="260"/>
            <ac:spMk id="18" creationId="{842ACF48-7446-A31B-CA96-F0E10E33C668}"/>
          </ac:spMkLst>
        </pc:spChg>
        <pc:spChg chg="mod">
          <ac:chgData name="Inon Baasov" userId="675f8575db202d33" providerId="LiveId" clId="{6535A8C2-D6D1-40A6-B57B-6CAB1510FB70}" dt="2026-01-18T13:59:25.210" v="163" actId="1035"/>
          <ac:spMkLst>
            <pc:docMk/>
            <pc:sldMk cId="1945325877" sldId="260"/>
            <ac:spMk id="19" creationId="{4FE13FAD-7EA0-AA62-3CBF-FD3DF01448AE}"/>
          </ac:spMkLst>
        </pc:spChg>
        <pc:spChg chg="mod">
          <ac:chgData name="Inon Baasov" userId="675f8575db202d33" providerId="LiveId" clId="{6535A8C2-D6D1-40A6-B57B-6CAB1510FB70}" dt="2026-01-18T14:07:10.933" v="200" actId="6549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6535A8C2-D6D1-40A6-B57B-6CAB1510FB70}" dt="2026-01-18T13:59:29.889" v="173" actId="1035"/>
          <ac:spMkLst>
            <pc:docMk/>
            <pc:sldMk cId="1945325877" sldId="260"/>
            <ac:spMk id="174" creationId="{67D1E309-1ED9-E676-89A4-61C198105A97}"/>
          </ac:spMkLst>
        </pc:spChg>
        <pc:spChg chg="mod">
          <ac:chgData name="Inon Baasov" userId="675f8575db202d33" providerId="LiveId" clId="{6535A8C2-D6D1-40A6-B57B-6CAB1510FB70}" dt="2026-01-18T13:38:29.609" v="50" actId="14100"/>
          <ac:spMkLst>
            <pc:docMk/>
            <pc:sldMk cId="1945325877" sldId="260"/>
            <ac:spMk id="242" creationId="{736313EA-3C2D-C5A9-2ED3-22681A16B477}"/>
          </ac:spMkLst>
        </pc:spChg>
        <pc:grpChg chg="mod">
          <ac:chgData name="Inon Baasov" userId="675f8575db202d33" providerId="LiveId" clId="{6535A8C2-D6D1-40A6-B57B-6CAB1510FB70}" dt="2026-01-18T13:35:50.050" v="9"/>
          <ac:grpSpMkLst>
            <pc:docMk/>
            <pc:sldMk cId="1945325877" sldId="260"/>
            <ac:grpSpMk id="8" creationId="{0706554B-DAEA-F04A-7818-F1555F0613DF}"/>
          </ac:grpSpMkLst>
        </pc:grpChg>
        <pc:grpChg chg="mod">
          <ac:chgData name="Inon Baasov" userId="675f8575db202d33" providerId="LiveId" clId="{6535A8C2-D6D1-40A6-B57B-6CAB1510FB70}" dt="2026-01-18T13:35:50.050" v="9"/>
          <ac:grpSpMkLst>
            <pc:docMk/>
            <pc:sldMk cId="1945325877" sldId="260"/>
            <ac:grpSpMk id="12" creationId="{CA96F9C5-B4EE-2CE6-5E39-6D2B06DDBAA4}"/>
          </ac:grpSpMkLst>
        </pc:grpChg>
        <pc:grpChg chg="mod">
          <ac:chgData name="Inon Baasov" userId="675f8575db202d33" providerId="LiveId" clId="{6535A8C2-D6D1-40A6-B57B-6CAB1510FB70}" dt="2026-01-18T13:38:16.443" v="49" actId="14100"/>
          <ac:grpSpMkLst>
            <pc:docMk/>
            <pc:sldMk cId="1945325877" sldId="260"/>
            <ac:grpSpMk id="22" creationId="{587478D1-9B71-F4A7-2DE0-DC1E6EB2A12E}"/>
          </ac:grpSpMkLst>
        </pc:grpChg>
        <pc:grpChg chg="mod">
          <ac:chgData name="Inon Baasov" userId="675f8575db202d33" providerId="LiveId" clId="{6535A8C2-D6D1-40A6-B57B-6CAB1510FB70}" dt="2026-01-18T13:59:33.370" v="185" actId="1035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427053" cy="106918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3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427" y="391048"/>
            <a:ext cx="2808595" cy="2066589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3427" y="2526988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3914" y="2963717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0872" y="296052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33914" y="3254448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0872" y="325343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3914" y="3558544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0872" y="355364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427" y="4158175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1978" y="461232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3785" y="4834106"/>
            <a:ext cx="2486644" cy="659880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505" y="5675743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81142" y="6182131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81142" y="6182131"/>
            <a:ext cx="144137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9988" y="6247118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81142" y="6604379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81142" y="6604379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988" y="6670335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81142" y="7032218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81142" y="7032218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9988" y="7111203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81142" y="7460784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81142" y="7460784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3427" y="7533471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81142" y="7890056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81142" y="7890056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0505" y="7959197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2670" y="855763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3785" y="899716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3785" y="9306334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3785" y="957613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0251" y="850719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0251" y="13110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60251" y="15327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0251" y="1787216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60252" y="2049679"/>
            <a:ext cx="3260109" cy="1491815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60251" y="360392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60251" y="3861348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60251" y="4115765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0251" y="4399611"/>
            <a:ext cx="3362938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0251" y="57141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60251" y="59358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60251" y="620457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60252" y="6481290"/>
            <a:ext cx="3356597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0251" y="802722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60251" y="8471838"/>
            <a:ext cx="2486644" cy="15071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532" y="475488"/>
            <a:ext cx="5656172" cy="62618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9318" y="7362192"/>
            <a:ext cx="1691461" cy="27398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0073" y="7721705"/>
            <a:ext cx="1499124" cy="316959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0073" y="8001634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0073" y="8227082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8545" y="8231936"/>
            <a:ext cx="764678" cy="236789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545" y="7779653"/>
            <a:ext cx="764678" cy="46016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532" y="1834989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8532" y="2175261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8532" y="2404349"/>
            <a:ext cx="3224945" cy="80022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532" y="1339314"/>
            <a:ext cx="3224947" cy="342890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8532" y="3321421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532" y="3661693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8532" y="3890780"/>
            <a:ext cx="3224945" cy="782231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8532" y="4802265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532" y="5142538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8532" y="5371625"/>
            <a:ext cx="3224945" cy="82947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83244" y="8880129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3244" y="9425001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83244" y="9975957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63744" y="5093190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63744" y="5298796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63744" y="5498412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63744" y="4901474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63744" y="4687638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63744" y="6295985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63744" y="6609368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963744" y="6925580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59049" y="9526649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59049" y="9840033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9049" y="10170210"/>
            <a:ext cx="1597897" cy="27931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9049" y="8879303"/>
            <a:ext cx="1597897" cy="337973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59049" y="9211556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308444" y="954207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08444" y="986468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308444" y="10171423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308444" y="9243446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308846" y="8879303"/>
            <a:ext cx="1203730" cy="345881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311543"/>
            <a:ext cx="75596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19317" y="1340189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819317" y="4235204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819317" y="5863650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9" y="569244"/>
            <a:ext cx="6520220" cy="2066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9" y="2846201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4" y="9909730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1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87159" y="921338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21204" y="922732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65" y="513374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31102" y="922284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466520" y="9177031"/>
            <a:ext cx="6645792" cy="936324"/>
            <a:chOff x="93673" y="1854031"/>
            <a:chExt cx="2936874" cy="349903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4997"/>
              <a:ext cx="2936874" cy="27893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Executive MBA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(Entrepreneurship &amp; High-Tech Management),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2016–2018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B.Sc., Biotechnology &amp; Food Engineering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2005–2008</a:t>
              </a:r>
              <a:endParaRPr lang="en-US" sz="11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Chemical Engineering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McGill University, Montreal, Canada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2004–2005</a:t>
              </a: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70F0FB-4809-F6CB-EC0A-A2A7F57E19A6}"/>
              </a:ext>
            </a:extLst>
          </p:cNvPr>
          <p:cNvGrpSpPr/>
          <p:nvPr/>
        </p:nvGrpSpPr>
        <p:grpSpPr>
          <a:xfrm>
            <a:off x="377611" y="1214982"/>
            <a:ext cx="6734712" cy="2040360"/>
            <a:chOff x="377611" y="1214982"/>
            <a:chExt cx="6734712" cy="20403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8F3DD04-3596-890A-0289-4F6EC51FBB48}"/>
                </a:ext>
              </a:extLst>
            </p:cNvPr>
            <p:cNvGrpSpPr/>
            <p:nvPr/>
          </p:nvGrpSpPr>
          <p:grpSpPr>
            <a:xfrm>
              <a:off x="381133" y="1595983"/>
              <a:ext cx="6731190" cy="1659359"/>
              <a:chOff x="2690932" y="1324440"/>
              <a:chExt cx="4130583" cy="2388607"/>
            </a:xfrm>
          </p:grpSpPr>
          <p:sp>
            <p:nvSpPr>
              <p:cNvPr id="4" name="Text Placeholder 45">
                <a:extLst>
                  <a:ext uri="{FF2B5EF4-FFF2-40B4-BE49-F238E27FC236}">
                    <a16:creationId xmlns:a16="http://schemas.microsoft.com/office/drawing/2014/main" id="{A14E25B9-74B7-1D86-F100-61C9666B8B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90932" y="1324440"/>
                <a:ext cx="1514170" cy="4095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5"/>
                    </a:solidFill>
                    <a:latin typeface="+mj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500" u="sng" dirty="0">
                    <a:solidFill>
                      <a:srgbClr val="10ABE2"/>
                    </a:solidFill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Professional summary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85A639-1B8A-878B-04BB-3EE82339007A}"/>
                  </a:ext>
                </a:extLst>
              </p:cNvPr>
              <p:cNvSpPr txBox="1"/>
              <p:nvPr/>
            </p:nvSpPr>
            <p:spPr>
              <a:xfrm>
                <a:off x="2730795" y="1778337"/>
                <a:ext cx="4090720" cy="19347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100" dirty="0">
                    <a:latin typeface="Overpass" pitchFamily="2" charset="0"/>
                  </a:rPr>
                  <a:t>QA &amp; Product Validation Manager with 10+ years of experience leading </a:t>
                </a:r>
                <a:r>
                  <a:rPr lang="en-US" sz="1100" b="1" dirty="0">
                    <a:latin typeface="Overpass" pitchFamily="2" charset="0"/>
                  </a:rPr>
                  <a:t>E2E quality strategies </a:t>
                </a:r>
                <a:r>
                  <a:rPr lang="en-US" sz="1100" dirty="0">
                    <a:latin typeface="Overpass" pitchFamily="2" charset="0"/>
                  </a:rPr>
                  <a:t>in complex, multidisciplinary environments (SW/HW). Proven record in </a:t>
                </a:r>
                <a:r>
                  <a:rPr lang="en-US" sz="1100" b="1" dirty="0">
                    <a:latin typeface="Overpass" pitchFamily="2" charset="0"/>
                  </a:rPr>
                  <a:t>managing QA teams</a:t>
                </a:r>
                <a:r>
                  <a:rPr lang="en-US" sz="1100" dirty="0">
                    <a:latin typeface="Overpass" pitchFamily="2" charset="0"/>
                  </a:rPr>
                  <a:t>, including recruitment, onboarding, and mentorship. Expert in transitioning from manual to </a:t>
                </a:r>
                <a:r>
                  <a:rPr lang="en-US" sz="1100" b="1" dirty="0">
                    <a:latin typeface="Overpass" pitchFamily="2" charset="0"/>
                  </a:rPr>
                  <a:t>automated testing</a:t>
                </a:r>
                <a:r>
                  <a:rPr lang="en-US" sz="1100" dirty="0">
                    <a:latin typeface="Overpass" pitchFamily="2" charset="0"/>
                  </a:rPr>
                  <a:t>, defining quality KPIs, and managing software versions from design to customer site deployment. Strong engineering background combined with hands-on leadership in </a:t>
                </a:r>
                <a:r>
                  <a:rPr lang="en-US" sz="1100" b="1" dirty="0">
                    <a:latin typeface="Overpass" pitchFamily="2" charset="0"/>
                  </a:rPr>
                  <a:t>Agile/Jira </a:t>
                </a:r>
                <a:r>
                  <a:rPr lang="en-US" sz="1100" dirty="0">
                    <a:latin typeface="Overpass" pitchFamily="2" charset="0"/>
                  </a:rPr>
                  <a:t>environments.</a:t>
                </a:r>
              </a:p>
              <a:p>
                <a:r>
                  <a:rPr lang="en-US" sz="1100" dirty="0">
                    <a:latin typeface="Overpass" pitchFamily="2" charset="0"/>
                  </a:rPr>
                  <a:t>Key Skills: QA Team Management &amp; Recruitment | Test Automation Strategy | E2E Validation Cycles | Quality KPIs &amp; Roadmap | Agile &amp; Jira/Xray Expert | Multidisciplinary System Integration | Customer Site Support.</a:t>
                </a:r>
              </a:p>
            </p:txBody>
          </p:sp>
        </p:grpSp>
        <p:sp>
          <p:nvSpPr>
            <p:cNvPr id="13" name="Text Placeholder 45">
              <a:extLst>
                <a:ext uri="{FF2B5EF4-FFF2-40B4-BE49-F238E27FC236}">
                  <a16:creationId xmlns:a16="http://schemas.microsoft.com/office/drawing/2014/main" id="{D7A61062-88AB-991A-E1C7-AC59E76603A3}"/>
                </a:ext>
              </a:extLst>
            </p:cNvPr>
            <p:cNvSpPr txBox="1">
              <a:spLocks/>
            </p:cNvSpPr>
            <p:nvPr/>
          </p:nvSpPr>
          <p:spPr>
            <a:xfrm>
              <a:off x="377611" y="1214982"/>
              <a:ext cx="6734702" cy="35762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>
                  <a:solidFill>
                    <a:schemeClr val="tx1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QA &amp; PRODUCT VALIDATION MANAGER B.Sc. Engineering | E2E Quality Strategy | Automation Leadership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87478D1-9B71-F4A7-2DE0-DC1E6EB2A12E}"/>
              </a:ext>
            </a:extLst>
          </p:cNvPr>
          <p:cNvGrpSpPr/>
          <p:nvPr/>
        </p:nvGrpSpPr>
        <p:grpSpPr>
          <a:xfrm>
            <a:off x="359503" y="3268693"/>
            <a:ext cx="6752819" cy="5928655"/>
            <a:chOff x="359503" y="3268693"/>
            <a:chExt cx="6752819" cy="557031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2ACF48-7446-A31B-CA96-F0E10E33C668}"/>
                </a:ext>
              </a:extLst>
            </p:cNvPr>
            <p:cNvSpPr txBox="1"/>
            <p:nvPr/>
          </p:nvSpPr>
          <p:spPr>
            <a:xfrm>
              <a:off x="359503" y="7102975"/>
              <a:ext cx="675281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200" b="1" dirty="0">
                  <a:latin typeface="Overpass" pitchFamily="2" charset="0"/>
                </a:rPr>
                <a:t>PREVIOUS EXPERIENCE (QUALITY &amp; REGULATION)</a:t>
              </a:r>
              <a:endParaRPr lang="en-IL" sz="1200" b="1" dirty="0">
                <a:latin typeface="Overpass" pitchFamily="2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30F4EEB-C689-B514-04B2-A13D7D648B32}"/>
                </a:ext>
              </a:extLst>
            </p:cNvPr>
            <p:cNvGrpSpPr/>
            <p:nvPr/>
          </p:nvGrpSpPr>
          <p:grpSpPr>
            <a:xfrm>
              <a:off x="359504" y="3268693"/>
              <a:ext cx="6726870" cy="5570319"/>
              <a:chOff x="359504" y="3268693"/>
              <a:chExt cx="6726870" cy="5570319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706554B-DAEA-F04A-7818-F1555F0613DF}"/>
                  </a:ext>
                </a:extLst>
              </p:cNvPr>
              <p:cNvGrpSpPr/>
              <p:nvPr/>
            </p:nvGrpSpPr>
            <p:grpSpPr>
              <a:xfrm>
                <a:off x="359504" y="3268693"/>
                <a:ext cx="6726870" cy="4959149"/>
                <a:chOff x="161926" y="3425453"/>
                <a:chExt cx="6590843" cy="3635955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CA96F9C5-B4EE-2CE6-5E39-6D2B06DDBAA4}"/>
                    </a:ext>
                  </a:extLst>
                </p:cNvPr>
                <p:cNvGrpSpPr/>
                <p:nvPr/>
              </p:nvGrpSpPr>
              <p:grpSpPr>
                <a:xfrm>
                  <a:off x="161926" y="3425453"/>
                  <a:ext cx="6590843" cy="3635955"/>
                  <a:chOff x="78398" y="3403414"/>
                  <a:chExt cx="6718755" cy="2730228"/>
                </a:xfrm>
              </p:grpSpPr>
              <p:grpSp>
                <p:nvGrpSpPr>
                  <p:cNvPr id="6" name="Group 5">
                    <a:extLst>
                      <a:ext uri="{FF2B5EF4-FFF2-40B4-BE49-F238E27FC236}">
                        <a16:creationId xmlns:a16="http://schemas.microsoft.com/office/drawing/2014/main" id="{D943FD8F-B645-F5DD-0443-9670451D8FB5}"/>
                      </a:ext>
                    </a:extLst>
                  </p:cNvPr>
                  <p:cNvGrpSpPr/>
                  <p:nvPr/>
                </p:nvGrpSpPr>
                <p:grpSpPr>
                  <a:xfrm>
                    <a:off x="78398" y="3403414"/>
                    <a:ext cx="6718755" cy="2730228"/>
                    <a:chOff x="-24741" y="2575123"/>
                    <a:chExt cx="6949855" cy="2117471"/>
                  </a:xfrm>
                </p:grpSpPr>
                <p:sp>
                  <p:nvSpPr>
                    <p:cNvPr id="154" name="Text Placeholder 52">
                      <a:extLst>
                        <a:ext uri="{FF2B5EF4-FFF2-40B4-BE49-F238E27FC236}">
                          <a16:creationId xmlns:a16="http://schemas.microsoft.com/office/drawing/2014/main" id="{7B120799-BCC3-8E46-2EA5-CFAE368C1FC7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-24741" y="3693939"/>
                      <a:ext cx="6943718" cy="493890"/>
                    </a:xfrm>
                    <a:prstGeom prst="rect">
                      <a:avLst/>
                    </a:prstGeom>
                  </p:spPr>
                  <p:txBody>
                    <a:bodyPr vert="horz" lIns="91440" tIns="45720" rIns="91440" bIns="45720" rtlCol="0">
                      <a:noAutofit/>
                    </a:bodyPr>
                    <a:lstStyle>
                      <a:lvl1pPr marL="0" indent="0" algn="l" defTabSz="685800" rtl="0" eaLnBrk="1" latinLnBrk="0" hangingPunct="1">
                        <a:lnSpc>
                          <a:spcPts val="15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buNone/>
                        <a:defRPr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8859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2288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5717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9146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IL" sz="1200" b="1" u="sng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Arena Plus</a:t>
                      </a:r>
                      <a:r>
                        <a:rPr lang="en-US" sz="1200" b="1" i="1" dirty="0">
                          <a:latin typeface="Overpass" pitchFamily="2" charset="0"/>
                        </a:rPr>
                        <a:t> </a:t>
                      </a:r>
                      <a:r>
                        <a:rPr lang="en-US" sz="1200" b="1" i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| </a:t>
                      </a:r>
                      <a:r>
                        <a:rPr lang="en-IL" sz="1050" b="1" i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Financial Services</a:t>
                      </a:r>
                      <a:r>
                        <a:rPr lang="en-US" sz="1050" b="1" i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| </a:t>
                      </a:r>
                      <a:r>
                        <a:rPr lang="en-US" sz="1050" b="1" i="1" dirty="0">
                          <a:latin typeface="Overpass" pitchFamily="2" charset="0"/>
                        </a:rPr>
                        <a:t>Senior QA &amp; Methodology Lead | </a:t>
                      </a:r>
                      <a:r>
                        <a:rPr lang="en-US" sz="1200" b="1" dirty="0">
                          <a:latin typeface="Overpass" pitchFamily="2" charset="0"/>
                        </a:rPr>
                        <a:t>2013 - 2018 </a:t>
                      </a:r>
                      <a:endParaRPr lang="en-US" sz="1100" dirty="0">
                        <a:latin typeface="Overpass" pitchFamily="2" charset="0"/>
                      </a:endParaRPr>
                    </a:p>
                    <a:p>
                      <a:pPr marL="85725" indent="-85725">
                        <a:lnSpc>
                          <a:spcPct val="10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dirty="0">
                          <a:latin typeface="Overpass" pitchFamily="2" charset="0"/>
                        </a:rPr>
                        <a:t>Process Improvement:</a:t>
                      </a:r>
                      <a:r>
                        <a:rPr lang="en-US" sz="1100" dirty="0">
                          <a:latin typeface="Overpass" pitchFamily="2" charset="0"/>
                        </a:rPr>
                        <a:t> Led the adoption of Agile QA methodologies, improving the collaboration between Development and QA teams.</a:t>
                      </a:r>
                    </a:p>
                    <a:p>
                      <a:pPr marL="85725" indent="-85725">
                        <a:lnSpc>
                          <a:spcPct val="10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dirty="0">
                          <a:latin typeface="Overpass" pitchFamily="2" charset="0"/>
                        </a:rPr>
                        <a:t>KPI Management:</a:t>
                      </a:r>
                      <a:r>
                        <a:rPr lang="en-US" sz="1100" dirty="0">
                          <a:latin typeface="Overpass" pitchFamily="2" charset="0"/>
                        </a:rPr>
                        <a:t> Defined and monitored </a:t>
                      </a:r>
                      <a:r>
                        <a:rPr lang="en-US" sz="1100" b="1" dirty="0">
                          <a:latin typeface="Overpass" pitchFamily="2" charset="0"/>
                        </a:rPr>
                        <a:t>quality KPIs</a:t>
                      </a:r>
                      <a:r>
                        <a:rPr lang="en-US" sz="1100" dirty="0">
                          <a:latin typeface="Overpass" pitchFamily="2" charset="0"/>
                        </a:rPr>
                        <a:t>, identifying bottlenecks in the release cycle and implementing corrective actions.</a:t>
                      </a:r>
                    </a:p>
                    <a:p>
                      <a:pPr marL="85725" indent="-85725">
                        <a:lnSpc>
                          <a:spcPct val="10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dirty="0">
                          <a:latin typeface="Overpass" pitchFamily="2" charset="0"/>
                        </a:rPr>
                        <a:t>Cross-Functional Leadership:</a:t>
                      </a:r>
                      <a:r>
                        <a:rPr lang="en-US" sz="1100" dirty="0">
                          <a:latin typeface="Overpass" pitchFamily="2" charset="0"/>
                        </a:rPr>
                        <a:t> Managed validation cycles for critical releases in a matrix environment, ensuring zero critical defects in production.</a:t>
                      </a:r>
                    </a:p>
                  </p:txBody>
                </p:sp>
                <p:sp>
                  <p:nvSpPr>
                    <p:cNvPr id="242" name="Text Placeholder 45">
                      <a:extLst>
                        <a:ext uri="{FF2B5EF4-FFF2-40B4-BE49-F238E27FC236}">
                          <a16:creationId xmlns:a16="http://schemas.microsoft.com/office/drawing/2014/main" id="{736313EA-3C2D-C5A9-2ED3-22681A16B477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-19577" y="2575123"/>
                      <a:ext cx="2719752" cy="108534"/>
                    </a:xfrm>
                    <a:prstGeom prst="rect">
                      <a:avLst/>
                    </a:prstGeom>
                  </p:spPr>
                  <p:txBody>
                    <a:bodyPr vert="horz" lIns="91440" tIns="45720" rIns="91440" bIns="45720" rtlCol="0">
                      <a:noAutofit/>
                    </a:bodyPr>
                    <a:lstStyle>
                      <a:lvl1pPr marL="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buNone/>
                        <a:defRPr sz="1600" b="1" kern="120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defRPr>
                      </a:lvl1pPr>
                      <a:lvl2pPr marL="3429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8859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2288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5717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9146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sz="1500" u="sng" dirty="0">
                          <a:solidFill>
                            <a:srgbClr val="10ABE2"/>
                          </a:solidFill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Professional experience</a:t>
                      </a:r>
                    </a:p>
                  </p:txBody>
                </p:sp>
                <p:sp>
                  <p:nvSpPr>
                    <p:cNvPr id="9" name="Text Placeholder 52">
                      <a:extLst>
                        <a:ext uri="{FF2B5EF4-FFF2-40B4-BE49-F238E27FC236}">
                          <a16:creationId xmlns:a16="http://schemas.microsoft.com/office/drawing/2014/main" id="{6871FAD5-DAC9-2E88-43EE-71DE2313B5BC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-18603" y="4296639"/>
                      <a:ext cx="6943717" cy="191662"/>
                    </a:xfrm>
                    <a:prstGeom prst="rect">
                      <a:avLst/>
                    </a:prstGeom>
                  </p:spPr>
                  <p:txBody>
                    <a:bodyPr vert="horz" lIns="91440" tIns="45720" rIns="91440" bIns="45720" rtlCol="0">
                      <a:noAutofit/>
                    </a:bodyPr>
                    <a:lstStyle>
                      <a:lvl1pPr marL="0" indent="0" algn="l" defTabSz="685800" rtl="0" eaLnBrk="1" latinLnBrk="0" hangingPunct="1">
                        <a:lnSpc>
                          <a:spcPts val="15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buNone/>
                        <a:defRPr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8859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2288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5717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9146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it-IT" sz="1200" b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Pharmabest Inc. &amp; Philtel Inc.</a:t>
                      </a:r>
                      <a:r>
                        <a:rPr lang="it-IT" sz="1200" b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it-IT" sz="1050" b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| </a:t>
                      </a:r>
                      <a:r>
                        <a:rPr lang="it-IT" sz="1050" b="1" i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Executive QA Manager</a:t>
                      </a:r>
                      <a:r>
                        <a:rPr lang="en-US" sz="1050" b="1" i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| </a:t>
                      </a:r>
                      <a:r>
                        <a:rPr lang="it-IT" sz="1200" b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2011 - 2013</a:t>
                      </a:r>
                      <a:endParaRPr lang="it-IT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85725" indent="-85725">
                        <a:lnSpc>
                          <a:spcPct val="10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latin typeface="Overpass" pitchFamily="2" charset="0"/>
                        </a:rPr>
                        <a:t>Managed quality policies and certifications (ISO), leading organizational quality audits and training.</a:t>
                      </a:r>
                      <a:endParaRPr lang="it-IT" sz="1600" i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10" name="Text Placeholder 52">
                      <a:extLst>
                        <a:ext uri="{FF2B5EF4-FFF2-40B4-BE49-F238E27FC236}">
                          <a16:creationId xmlns:a16="http://schemas.microsoft.com/office/drawing/2014/main" id="{BA499EBC-730C-6472-42B1-4FBCAD1BA552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-6035" y="4456128"/>
                      <a:ext cx="6931149" cy="236466"/>
                    </a:xfrm>
                    <a:prstGeom prst="rect">
                      <a:avLst/>
                    </a:prstGeom>
                  </p:spPr>
                  <p:txBody>
                    <a:bodyPr vert="horz" lIns="91440" tIns="45720" rIns="91440" bIns="45720" rtlCol="0">
                      <a:noAutofit/>
                    </a:bodyPr>
                    <a:lstStyle>
                      <a:lvl1pPr marL="0" indent="0" algn="l" defTabSz="685800" rtl="0" eaLnBrk="1" latinLnBrk="0" hangingPunct="1">
                        <a:lnSpc>
                          <a:spcPts val="15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buNone/>
                        <a:defRPr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indent="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None/>
                        <a:defRPr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8859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2288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5717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914650" indent="-171450" algn="l" defTabSz="685800" rtl="0" eaLnBrk="1" latinLnBrk="0" hangingPunct="1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buChar char="•"/>
                        <a:defRPr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it-IT" sz="1200" b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Blau Pharmaceuticals Services Inc.</a:t>
                      </a:r>
                      <a:r>
                        <a:rPr lang="it-IT" sz="1200" b="1" i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it-IT" sz="1050" b="1" i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| Regulatory Affairs Consultant</a:t>
                      </a:r>
                      <a:r>
                        <a:rPr lang="en-US" sz="1050" b="1" i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&amp; Team Lead</a:t>
                      </a:r>
                      <a:r>
                        <a:rPr lang="it-IT" sz="1050" b="1" i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| </a:t>
                      </a:r>
                      <a:r>
                        <a:rPr lang="it-IT" sz="1200" b="1" dirty="0">
                          <a:latin typeface="Overpass" pitchFamily="2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2009 - 2011</a:t>
                      </a:r>
                    </a:p>
                    <a:p>
                      <a:pPr marL="85725" indent="-85725">
                        <a:lnSpc>
                          <a:spcPct val="100000"/>
                        </a:lnSpc>
                        <a:spcBef>
                          <a:spcPts val="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dirty="0">
                          <a:latin typeface="Overpass" pitchFamily="2" charset="0"/>
                        </a:rPr>
                        <a:t>Team Management:</a:t>
                      </a:r>
                      <a:r>
                        <a:rPr lang="en-US" sz="1100" dirty="0">
                          <a:latin typeface="Overpass" pitchFamily="2" charset="0"/>
                        </a:rPr>
                        <a:t> Managed a specialized team (6 employees), overseeing regulatory compliance projects and submission timelines.</a:t>
                      </a:r>
                    </a:p>
                  </p:txBody>
                </p:sp>
              </p:grp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D6C75DF8-197B-BFD3-34D2-297D5EA3D21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8399" y="3801670"/>
                    <a:ext cx="6713716" cy="108523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b="1" u="sng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TouchE</a:t>
                    </a:r>
                    <a:r>
                      <a:rPr lang="en-US" sz="1200" b="1" i="1" dirty="0">
                        <a:latin typeface="Overpass" pitchFamily="2" charset="0"/>
                      </a:rPr>
                      <a:t> </a:t>
                    </a:r>
                    <a:r>
                      <a:rPr lang="en-US" sz="1200" b="1" i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| </a:t>
                    </a:r>
                    <a:r>
                      <a:rPr lang="en-US" sz="1050" b="1" i="1" dirty="0">
                        <a:latin typeface="Overpass" pitchFamily="2" charset="0"/>
                      </a:rPr>
                      <a:t>AI interactive video SaaS </a:t>
                    </a:r>
                    <a:r>
                      <a:rPr lang="en-US" sz="1050" b="1" i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| </a:t>
                    </a:r>
                    <a:r>
                      <a:rPr lang="en-US" sz="1050" b="1" i="1" dirty="0">
                        <a:latin typeface="Overpass" pitchFamily="2" charset="0"/>
                      </a:rPr>
                      <a:t>Co-Founder &amp; QA/Delivery Manager | </a:t>
                    </a:r>
                    <a:r>
                      <a:rPr lang="en-US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2018 - 2024</a:t>
                    </a:r>
                  </a:p>
                  <a:p>
                    <a:pPr marL="85725" indent="-85725"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QA Team Leadership:</a:t>
                    </a:r>
                    <a:r>
                      <a:rPr lang="en-US" sz="1100" dirty="0">
                        <a:latin typeface="Overpass" pitchFamily="2" charset="0"/>
                      </a:rPr>
                      <a:t> Built and managed the QA &amp; Validation function, including recruiting, onboarding, and mentoring QA engineers.</a:t>
                    </a:r>
                  </a:p>
                  <a:p>
                    <a:pPr marL="85725" indent="-85725"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Quality Strategy:</a:t>
                    </a:r>
                    <a:r>
                      <a:rPr lang="en-US" sz="1100" dirty="0">
                        <a:latin typeface="Overpass" pitchFamily="2" charset="0"/>
                      </a:rPr>
                      <a:t> Defined </a:t>
                    </a:r>
                    <a:r>
                      <a:rPr lang="en-US" sz="1100" b="1" dirty="0">
                        <a:latin typeface="Overpass" pitchFamily="2" charset="0"/>
                      </a:rPr>
                      <a:t>E2E validation roadmaps </a:t>
                    </a:r>
                    <a:r>
                      <a:rPr lang="en-US" sz="1100" dirty="0">
                        <a:latin typeface="Overpass" pitchFamily="2" charset="0"/>
                      </a:rPr>
                      <a:t>for complex software-to-hardware integrations (TV/Mobile), ensuring high quality and reduced Time-to-Market.</a:t>
                    </a:r>
                  </a:p>
                  <a:p>
                    <a:pPr marL="85725" indent="-85725"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Automation Promotion:</a:t>
                    </a:r>
                    <a:r>
                      <a:rPr lang="en-US" sz="1100" dirty="0">
                        <a:latin typeface="Overpass" pitchFamily="2" charset="0"/>
                      </a:rPr>
                      <a:t> Led the strategic transition from manual testing to </a:t>
                    </a:r>
                    <a:r>
                      <a:rPr lang="en-US" sz="1100" b="1" dirty="0">
                        <a:latin typeface="Overpass" pitchFamily="2" charset="0"/>
                      </a:rPr>
                      <a:t>automated flows</a:t>
                    </a:r>
                    <a:r>
                      <a:rPr lang="en-US" sz="1100" dirty="0">
                        <a:latin typeface="Overpass" pitchFamily="2" charset="0"/>
                      </a:rPr>
                      <a:t>, significantly improving regression testing efficiency and coverage.</a:t>
                    </a:r>
                  </a:p>
                  <a:p>
                    <a:pPr marL="85725" indent="-85725"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Version Management:</a:t>
                    </a:r>
                    <a:r>
                      <a:rPr lang="en-US" sz="1100" dirty="0">
                        <a:latin typeface="Overpass" pitchFamily="2" charset="0"/>
                      </a:rPr>
                      <a:t> Managed end-to-end SW versions, overseeing functionality, value, and stability before releasing to production environments.</a:t>
                    </a:r>
                  </a:p>
                  <a:p>
                    <a:pPr marL="85725" indent="-85725"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Methodology:</a:t>
                    </a:r>
                    <a:r>
                      <a:rPr lang="en-US" sz="1100" dirty="0">
                        <a:latin typeface="Overpass" pitchFamily="2" charset="0"/>
                      </a:rPr>
                      <a:t> Implemented structured QA methodologies using </a:t>
                    </a:r>
                    <a:r>
                      <a:rPr lang="en-US" sz="1100" b="1" dirty="0">
                        <a:latin typeface="Overpass" pitchFamily="2" charset="0"/>
                      </a:rPr>
                      <a:t>Jira</a:t>
                    </a:r>
                    <a:r>
                      <a:rPr lang="en-US" sz="1100" dirty="0">
                        <a:latin typeface="Overpass" pitchFamily="2" charset="0"/>
                      </a:rPr>
                      <a:t>, defining clear acceptance criteria and bug lifecycles in an Agile environment.</a:t>
                    </a:r>
                  </a:p>
                </p:txBody>
              </p:sp>
            </p:grpSp>
            <p:sp>
              <p:nvSpPr>
                <p:cNvPr id="7" name="Text Placeholder 52">
                  <a:extLst>
                    <a:ext uri="{FF2B5EF4-FFF2-40B4-BE49-F238E27FC236}">
                      <a16:creationId xmlns:a16="http://schemas.microsoft.com/office/drawing/2014/main" id="{C74AC998-3F7B-596D-682D-63841FD8BC2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79665" y="3582181"/>
                  <a:ext cx="6568161" cy="40798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0" indent="0" algn="l" defTabSz="685800" rtl="0" eaLnBrk="1" latinLnBrk="0" hangingPunct="1">
                    <a:lnSpc>
                      <a:spcPts val="1500"/>
                    </a:lnSpc>
                    <a:spcBef>
                      <a:spcPts val="750"/>
                    </a:spcBef>
                    <a:buFont typeface="Arial" panose="020B0604020202020204" pitchFamily="34" charset="0"/>
                    <a:buNone/>
                    <a:defRPr sz="10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indent="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None/>
                    <a:defRPr sz="10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ts val="0"/>
                    </a:spcBef>
                  </a:pPr>
                  <a:r>
                    <a:rPr lang="it-IT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Inon Baasov </a:t>
                  </a:r>
                  <a:r>
                    <a:rPr lang="it-IT" sz="1200" b="1" u="sng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Ltd</a:t>
                  </a:r>
                  <a:r>
                    <a:rPr lang="it-IT" sz="1200" b="1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it-IT" sz="120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|</a:t>
                  </a:r>
                  <a:r>
                    <a:rPr lang="it-IT" sz="1200" b="1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Technical</a:t>
                  </a:r>
                  <a:r>
                    <a:rPr lang="it-IT" sz="1050" b="1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Strategy Consultant  | </a:t>
                  </a:r>
                  <a:r>
                    <a:rPr lang="it-IT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2024 - Present</a:t>
                  </a:r>
                </a:p>
                <a:p>
                  <a:pPr marL="85725" indent="-85725">
                    <a:lnSpc>
                      <a:spcPct val="100000"/>
                    </a:lnSpc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Overpass" pitchFamily="2" charset="0"/>
                    </a:rPr>
                    <a:t>Advising startups on </a:t>
                  </a:r>
                  <a:r>
                    <a:rPr lang="en-US" sz="1100" b="1" dirty="0">
                      <a:latin typeface="Overpass" pitchFamily="2" charset="0"/>
                    </a:rPr>
                    <a:t>technical product strategy</a:t>
                  </a:r>
                  <a:r>
                    <a:rPr lang="en-US" sz="1100" dirty="0">
                      <a:latin typeface="Overpass" pitchFamily="2" charset="0"/>
                    </a:rPr>
                    <a:t>, focusing on system stability, API usage patterns, and data evaluation loops.</a:t>
                  </a:r>
                  <a:endParaRPr lang="it-IT" sz="1100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9" name="Text Placeholder 52">
                <a:extLst>
                  <a:ext uri="{FF2B5EF4-FFF2-40B4-BE49-F238E27FC236}">
                    <a16:creationId xmlns:a16="http://schemas.microsoft.com/office/drawing/2014/main" id="{4FE13FAD-7EA0-AA62-3CBF-FD3DF01448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7610" y="8222497"/>
                <a:ext cx="6708764" cy="6165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u="sng" dirty="0">
                    <a:latin typeface="Overpass" pitchFamily="2" charset="0"/>
                  </a:rPr>
                  <a:t>Protalix Biotherapeutics</a:t>
                </a:r>
                <a:r>
                  <a:rPr lang="it-IT" sz="1200" b="1" dirty="0">
                    <a:latin typeface="Overpass" pitchFamily="2" charset="0"/>
                  </a:rPr>
                  <a:t> </a:t>
                </a:r>
                <a:r>
                  <a:rPr lang="it-IT" sz="1100" b="1" dirty="0">
                    <a:latin typeface="Overpass" pitchFamily="2" charset="0"/>
                  </a:rPr>
                  <a:t>| </a:t>
                </a:r>
                <a:r>
                  <a:rPr lang="it-IT" sz="1050" b="1" dirty="0">
                    <a:latin typeface="Overpass" pitchFamily="2" charset="0"/>
                  </a:rPr>
                  <a:t>QA/Process Analyst </a:t>
                </a:r>
                <a:r>
                  <a:rPr lang="it-IT" sz="1100" b="1" dirty="0">
                    <a:latin typeface="Overpass" pitchFamily="2" charset="0"/>
                  </a:rPr>
                  <a:t>| </a:t>
                </a:r>
                <a:r>
                  <a:rPr lang="it-IT" sz="1200" b="1" dirty="0">
                    <a:latin typeface="Overpass" pitchFamily="2" charset="0"/>
                  </a:rPr>
                  <a:t>2008 – 2009</a:t>
                </a:r>
                <a:endParaRPr lang="it-IT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85725" indent="-85725">
                  <a:lnSpc>
                    <a:spcPct val="10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Executed QA protocols in a </a:t>
                </a:r>
                <a:r>
                  <a:rPr lang="en-US" sz="1100" b="1" dirty="0">
                    <a:latin typeface="Overpass" pitchFamily="2" charset="0"/>
                  </a:rPr>
                  <a:t>complex multidisciplinary environment </a:t>
                </a:r>
                <a:r>
                  <a:rPr lang="en-US" sz="1100" dirty="0">
                    <a:latin typeface="Overpass" pitchFamily="2" charset="0"/>
                  </a:rPr>
                  <a:t>(Bioreactors/Chemistry), strictly adhering to GMP standards.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131314</TotalTime>
  <Words>529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17</cp:revision>
  <dcterms:created xsi:type="dcterms:W3CDTF">2024-07-25T09:15:15Z</dcterms:created>
  <dcterms:modified xsi:type="dcterms:W3CDTF">2026-01-18T14:07:24Z</dcterms:modified>
</cp:coreProperties>
</file>