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472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pos="4056" userDrawn="1">
          <p15:clr>
            <a:srgbClr val="A4A3A4"/>
          </p15:clr>
        </p15:guide>
        <p15:guide id="4" orient="horz" pos="480" userDrawn="1">
          <p15:clr>
            <a:srgbClr val="A4A3A4"/>
          </p15:clr>
        </p15:guide>
        <p15:guide id="5" pos="22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BE2"/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42" autoAdjust="0"/>
    <p:restoredTop sz="95223" autoAdjust="0"/>
  </p:normalViewPr>
  <p:slideViewPr>
    <p:cSldViewPr snapToGrid="0" snapToObjects="1" showGuides="1">
      <p:cViewPr>
        <p:scale>
          <a:sx n="125" d="100"/>
          <a:sy n="125" d="100"/>
        </p:scale>
        <p:origin x="2448" y="330"/>
      </p:cViewPr>
      <p:guideLst>
        <p:guide orient="horz" pos="5472"/>
        <p:guide pos="264"/>
        <p:guide pos="4056"/>
        <p:guide orient="horz" pos="480"/>
        <p:guide pos="22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n Baasov" userId="675f8575db202d33" providerId="LiveId" clId="{6535A8C2-D6D1-40A6-B57B-6CAB1510FB70}"/>
    <pc:docChg chg="modSld">
      <pc:chgData name="Inon Baasov" userId="675f8575db202d33" providerId="LiveId" clId="{6535A8C2-D6D1-40A6-B57B-6CAB1510FB70}" dt="2026-04-04T16:13:07.197" v="0"/>
      <pc:docMkLst>
        <pc:docMk/>
      </pc:docMkLst>
      <pc:sldChg chg="modSp mod">
        <pc:chgData name="Inon Baasov" userId="675f8575db202d33" providerId="LiveId" clId="{6535A8C2-D6D1-40A6-B57B-6CAB1510FB70}" dt="2026-04-04T16:13:07.197" v="0"/>
        <pc:sldMkLst>
          <pc:docMk/>
          <pc:sldMk cId="1945325877" sldId="260"/>
        </pc:sldMkLst>
        <pc:spChg chg="mod">
          <ac:chgData name="Inon Baasov" userId="675f8575db202d33" providerId="LiveId" clId="{6535A8C2-D6D1-40A6-B57B-6CAB1510FB70}" dt="2026-04-04T16:13:07.197" v="0"/>
          <ac:spMkLst>
            <pc:docMk/>
            <pc:sldMk cId="1945325877" sldId="260"/>
            <ac:spMk id="5" creationId="{CD85A639-1B8A-878B-04BB-3EE82339007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108960" cy="91440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982" y="334437"/>
            <a:ext cx="2547906" cy="1767417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982" y="216116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93639" y="2534671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8603" y="2531944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93639" y="2783314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8603" y="2782446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3639" y="3043387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8603" y="3039200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982" y="3556211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6524" y="394461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8163" y="4134291"/>
            <a:ext cx="2255838" cy="56435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4259" y="4854087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36483" y="528716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36483" y="5287168"/>
            <a:ext cx="1307592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3790" y="534274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36483" y="564828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36483" y="5648288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3790" y="570469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36483" y="6014191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36483" y="6014191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3790" y="608174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36483" y="6380715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36483" y="6380715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5982" y="6442879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36483" y="6747843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36483" y="6747843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259" y="6806974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223" y="731877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8163" y="7694677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8163" y="795909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8163" y="8189832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1232" y="727563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1232" y="112122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1232" y="131090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1232" y="152848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1232" y="1752954"/>
            <a:ext cx="2957512" cy="127585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1232" y="308219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11232" y="3302355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1232" y="351994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11232" y="3762696"/>
            <a:ext cx="3050796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11232" y="488690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11232" y="507658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11232" y="5306359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11232" y="5543018"/>
            <a:ext cx="3045044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1232" y="6865150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1232" y="7245402"/>
            <a:ext cx="2255838" cy="12889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684" y="406653"/>
            <a:ext cx="5131177" cy="535531"/>
          </a:xfrm>
        </p:spPr>
        <p:txBody>
          <a:bodyPr lIns="0" rIns="0">
            <a:noAutofit/>
          </a:bodyPr>
          <a:lstStyle>
            <a:lvl1pPr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4815" y="6296395"/>
            <a:ext cx="1534463" cy="23431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0528" y="6603863"/>
            <a:ext cx="1359978" cy="27107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0528" y="6843268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0528" y="7036079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04434" y="7040230"/>
            <a:ext cx="693702" cy="202510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04434" y="6653422"/>
            <a:ext cx="693702" cy="39355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9684" y="1569344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684" y="1860357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684" y="2056280"/>
            <a:ext cx="2925612" cy="684375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684" y="1145426"/>
            <a:ext cx="2925613" cy="293251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684" y="2840591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684" y="3131604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9684" y="3327527"/>
            <a:ext cx="2925612" cy="66899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9684" y="4107059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684" y="4398072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9684" y="4593995"/>
            <a:ext cx="2925612" cy="70939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6399" y="7594586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76399" y="8060579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976399" y="8531775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10200" y="4355868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10200" y="4531709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10200" y="4702427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200" y="419190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10200" y="400902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10200" y="5384539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10200" y="5652555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10200" y="5922990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97877" y="8147512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97877" y="8415528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7877" y="8697907"/>
            <a:ext cx="1449583" cy="238881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7877" y="7593880"/>
            <a:ext cx="1449583" cy="28904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97877" y="7878034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94178" y="8160704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94178" y="8436611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94178" y="8698945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94178" y="7905308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094543" y="7593880"/>
            <a:ext cx="1092002" cy="29580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121676"/>
            <a:ext cx="685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464815" y="1146174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464815" y="3622089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464815" y="5014791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iltel.co.il/" TargetMode="External"/><Relationship Id="rId2" Type="http://schemas.openxmlformats.org/officeDocument/2006/relationships/hyperlink" Target="https://www.linkedin.com/in/InonBaasov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blau-p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36321" y="696707"/>
            <a:ext cx="1379219" cy="227110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680265" y="697652"/>
            <a:ext cx="1545026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70366" y="698100"/>
            <a:ext cx="1451313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2" y="231593"/>
            <a:ext cx="6858000" cy="50233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 BAASOV</a:t>
            </a:r>
            <a:endParaRPr lang="en-IL" sz="2400" dirty="0">
              <a:solidFill>
                <a:schemeClr val="tx1"/>
              </a:solidFill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A846034-E5B0-1F9D-ABEB-DA7831B54ABD}"/>
              </a:ext>
            </a:extLst>
          </p:cNvPr>
          <p:cNvGrpSpPr/>
          <p:nvPr/>
        </p:nvGrpSpPr>
        <p:grpSpPr>
          <a:xfrm>
            <a:off x="227665" y="2094467"/>
            <a:ext cx="6400585" cy="1341939"/>
            <a:chOff x="93673" y="1854031"/>
            <a:chExt cx="2936874" cy="500236"/>
          </a:xfrm>
        </p:grpSpPr>
        <p:sp>
          <p:nvSpPr>
            <p:cNvPr id="174" name="Text Placeholder 71">
              <a:extLst>
                <a:ext uri="{FF2B5EF4-FFF2-40B4-BE49-F238E27FC236}">
                  <a16:creationId xmlns:a16="http://schemas.microsoft.com/office/drawing/2014/main" id="{67D1E309-1ED9-E676-89A4-61C198105A97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929725"/>
              <a:ext cx="2936874" cy="42454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 </a:t>
              </a:r>
              <a:r>
                <a:rPr lang="he-IL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-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Israel institute of technology </a:t>
              </a:r>
              <a:r>
                <a:rPr lang="he-IL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2016-2018</a:t>
              </a:r>
              <a:endParaRPr lang="en-US" sz="12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87313">
                <a:lnSpc>
                  <a:spcPts val="1300"/>
                </a:lnSpc>
                <a:spcBef>
                  <a:spcPts val="200"/>
                </a:spcBef>
              </a:pPr>
              <a:r>
                <a:rPr lang="en-US" sz="1100" b="1" dirty="0">
                  <a:latin typeface="Overpass" pitchFamily="2" charset="0"/>
                </a:rPr>
                <a:t>Executive MBA, </a:t>
              </a:r>
              <a:r>
                <a:rPr lang="en-US" sz="1100" dirty="0">
                  <a:latin typeface="Overpass" pitchFamily="2" charset="0"/>
                </a:rPr>
                <a:t>Entrepreneurship &amp; Management in High-Tech Industries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b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US" sz="1100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Focused on strategic product development, global leadership, and high-tech innovation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- Israel Institute of Technology </a:t>
              </a:r>
              <a:r>
                <a:rPr lang="he-IL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2005-2008</a:t>
              </a:r>
              <a:endParaRPr lang="he-IL" sz="12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87313">
                <a:lnSpc>
                  <a:spcPts val="1300"/>
                </a:lnSpc>
                <a:spcBef>
                  <a:spcPts val="200"/>
                </a:spcBef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B.Sc.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Biotechnology and Food Engineering, 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McGill University, Montreal, 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Canada </a:t>
              </a:r>
              <a:r>
                <a:rPr lang="he-IL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	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2004-2005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endParaRPr lang="en-US" sz="11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854031"/>
              <a:ext cx="629175" cy="12702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8F3DD04-3596-890A-0289-4F6EC51FBB48}"/>
              </a:ext>
            </a:extLst>
          </p:cNvPr>
          <p:cNvGrpSpPr/>
          <p:nvPr/>
        </p:nvGrpSpPr>
        <p:grpSpPr>
          <a:xfrm>
            <a:off x="227685" y="881036"/>
            <a:ext cx="6503315" cy="1164934"/>
            <a:chOff x="2730795" y="1315393"/>
            <a:chExt cx="4090720" cy="1725676"/>
          </a:xfrm>
        </p:grpSpPr>
        <p:sp>
          <p:nvSpPr>
            <p:cNvPr id="4" name="Text Placeholder 45">
              <a:extLst>
                <a:ext uri="{FF2B5EF4-FFF2-40B4-BE49-F238E27FC236}">
                  <a16:creationId xmlns:a16="http://schemas.microsoft.com/office/drawing/2014/main" id="{A14E25B9-74B7-1D86-F100-61C9666B8B8B}"/>
                </a:ext>
              </a:extLst>
            </p:cNvPr>
            <p:cNvSpPr txBox="1">
              <a:spLocks/>
            </p:cNvSpPr>
            <p:nvPr/>
          </p:nvSpPr>
          <p:spPr>
            <a:xfrm>
              <a:off x="2733799" y="1315393"/>
              <a:ext cx="1514170" cy="4095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Professional summary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85A639-1B8A-878B-04BB-3EE82339007A}"/>
                </a:ext>
              </a:extLst>
            </p:cNvPr>
            <p:cNvSpPr txBox="1"/>
            <p:nvPr/>
          </p:nvSpPr>
          <p:spPr>
            <a:xfrm>
              <a:off x="2730795" y="1650497"/>
              <a:ext cx="4090720" cy="1390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Overpass" pitchFamily="2" charset="0"/>
                </a:rPr>
                <a:t>Product leader with over 10 years of experience bridging the gap between high-level engineering execution and AI-driven product strategy. Specialist in transforming complex operational needs into scalable, data-driven solutions. Proven track record in leading GenAI/NLP POCs from concept to large-scale deployment, while maintaining a systems-level perspective on cloud architecture and cross-functional integration."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706554B-DAEA-F04A-7818-F1555F0613DF}"/>
              </a:ext>
            </a:extLst>
          </p:cNvPr>
          <p:cNvGrpSpPr/>
          <p:nvPr/>
        </p:nvGrpSpPr>
        <p:grpSpPr>
          <a:xfrm>
            <a:off x="174171" y="3388327"/>
            <a:ext cx="6682857" cy="5488042"/>
            <a:chOff x="161926" y="3400043"/>
            <a:chExt cx="6680554" cy="512375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A96F9C5-B4EE-2CE6-5E39-6D2B06DDBAA4}"/>
                </a:ext>
              </a:extLst>
            </p:cNvPr>
            <p:cNvGrpSpPr/>
            <p:nvPr/>
          </p:nvGrpSpPr>
          <p:grpSpPr>
            <a:xfrm>
              <a:off x="161926" y="3400043"/>
              <a:ext cx="6680554" cy="5123758"/>
              <a:chOff x="78398" y="3384334"/>
              <a:chExt cx="6810207" cy="3847405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D943FD8F-B645-F5DD-0443-9670451D8FB5}"/>
                  </a:ext>
                </a:extLst>
              </p:cNvPr>
              <p:cNvGrpSpPr/>
              <p:nvPr/>
            </p:nvGrpSpPr>
            <p:grpSpPr>
              <a:xfrm>
                <a:off x="78398" y="3384334"/>
                <a:ext cx="6718755" cy="3847405"/>
                <a:chOff x="-24741" y="2560328"/>
                <a:chExt cx="6949855" cy="2983895"/>
              </a:xfrm>
            </p:grpSpPr>
            <p:sp>
              <p:nvSpPr>
                <p:cNvPr id="154" name="Text Placeholder 52">
                  <a:extLst>
                    <a:ext uri="{FF2B5EF4-FFF2-40B4-BE49-F238E27FC236}">
                      <a16:creationId xmlns:a16="http://schemas.microsoft.com/office/drawing/2014/main" id="{7B120799-BCC3-8E46-2EA5-CFAE368C1FC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24741" y="4172199"/>
                  <a:ext cx="6943718" cy="98608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en-IL" sz="1200" b="1" u="sng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Arena Plus</a:t>
                  </a:r>
                  <a:r>
                    <a:rPr lang="en-IL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US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-</a:t>
                  </a:r>
                  <a:r>
                    <a:rPr lang="en-US" sz="105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IL" sz="105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Financial Services</a:t>
                  </a:r>
                  <a:r>
                    <a:rPr lang="en-US" sz="12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    </a:t>
                  </a:r>
                  <a:r>
                    <a:rPr lang="en-US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		</a:t>
                  </a:r>
                  <a:r>
                    <a:rPr lang="en-IL" sz="12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2013 - 2018</a:t>
                  </a:r>
                  <a:endPara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>
                    <a:lnSpc>
                      <a:spcPct val="100000"/>
                    </a:lnSpc>
                    <a:spcBef>
                      <a:spcPts val="200"/>
                    </a:spcBef>
                  </a:pPr>
                  <a:r>
                    <a:rPr lang="en-US" sz="1100" b="1" dirty="0">
                      <a:latin typeface="Overpass" pitchFamily="2" charset="0"/>
                    </a:rPr>
                    <a:t>Senior Product Manager            			2015 - 2018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Managed delivery of multiple platform initiatives; introduced Agile frameworks that reduced time‑to‑market by 20% and increased execution predictability.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Led global development and external UX partners; aligned stakeholders, budgets, and timelines to meet business goals.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Set data‑driven KPIs; improved engagement and retention.</a:t>
                  </a:r>
                </a:p>
                <a:p>
                  <a:pPr>
                    <a:lnSpc>
                      <a:spcPct val="100000"/>
                    </a:lnSpc>
                    <a:spcBef>
                      <a:spcPts val="200"/>
                    </a:spcBef>
                  </a:pPr>
                  <a:r>
                    <a:rPr lang="en-US" sz="1100" b="1" dirty="0">
                      <a:latin typeface="Overpass" pitchFamily="2" charset="0"/>
                    </a:rPr>
                    <a:t>Product Manager  				2013 - 2015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Grew adoption +22% QoQ; revenue +15% via focused delivery.</a:t>
                  </a:r>
                </a:p>
              </p:txBody>
            </p:sp>
            <p:sp>
              <p:nvSpPr>
                <p:cNvPr id="242" name="Text Placeholder 45">
                  <a:extLst>
                    <a:ext uri="{FF2B5EF4-FFF2-40B4-BE49-F238E27FC236}">
                      <a16:creationId xmlns:a16="http://schemas.microsoft.com/office/drawing/2014/main" id="{736313EA-3C2D-C5A9-2ED3-22681A16B47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9577" y="2560328"/>
                  <a:ext cx="2719752" cy="199157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600" b="1" kern="1200">
                      <a:solidFill>
                        <a:schemeClr val="accent5"/>
                      </a:solidFill>
                      <a:latin typeface="+mj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500" u="sng" dirty="0">
                      <a:solidFill>
                        <a:srgbClr val="10ABE2"/>
                      </a:solidFill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Professional experience</a:t>
                  </a:r>
                </a:p>
              </p:txBody>
            </p:sp>
            <p:sp>
              <p:nvSpPr>
                <p:cNvPr id="9" name="Text Placeholder 52">
                  <a:extLst>
                    <a:ext uri="{FF2B5EF4-FFF2-40B4-BE49-F238E27FC236}">
                      <a16:creationId xmlns:a16="http://schemas.microsoft.com/office/drawing/2014/main" id="{6871FAD5-DAC9-2E88-43EE-71DE2313B5B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8603" y="5097738"/>
                  <a:ext cx="6943717" cy="23646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3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Pharmabest Inc. &amp; Philtel Inc.</a:t>
                  </a: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	      		2011 - 2013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i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Exec. QA Manager - Led QA and compliance for medical food/device products.</a:t>
                  </a:r>
                  <a:endParaRPr lang="it-IT" sz="11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0" name="Text Placeholder 52">
                  <a:extLst>
                    <a:ext uri="{FF2B5EF4-FFF2-40B4-BE49-F238E27FC236}">
                      <a16:creationId xmlns:a16="http://schemas.microsoft.com/office/drawing/2014/main" id="{BA499EBC-730C-6472-42B1-4FBCAD1BA55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6035" y="5307757"/>
                  <a:ext cx="6931149" cy="23646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it-IT" sz="11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4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Blau Pharmaceuticals Services Inc.</a:t>
                  </a:r>
                  <a:r>
                    <a:rPr lang="it-IT" sz="11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	2009 - 2011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it-IT" sz="110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Pharmaceuticals Regulatory Consultant -</a:t>
                  </a:r>
                  <a:r>
                    <a:rPr lang="en-US" sz="1100" i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Managed pharma regulatory submissions and documentation.</a:t>
                  </a:r>
                  <a:endParaRPr lang="it-IT" sz="11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C75DF8-197B-BFD3-34D2-297D5EA3D2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399" y="4477742"/>
                <a:ext cx="6810206" cy="1042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200" b="1" u="sng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TouchE </a:t>
                </a:r>
                <a:r>
                  <a: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-</a:t>
                </a:r>
                <a:r>
                  <a:rPr lang="en-US" sz="1200" i="1" dirty="0">
                    <a:latin typeface="Overpass" pitchFamily="2" charset="0"/>
                  </a:rPr>
                  <a:t> </a:t>
                </a:r>
                <a:r>
                  <a:rPr lang="en-US" sz="1050" i="1" dirty="0">
                    <a:latin typeface="Overpass" pitchFamily="2" charset="0"/>
                  </a:rPr>
                  <a:t>AI-powered Interactive Video SaaS</a:t>
                </a:r>
                <a:r>
                  <a: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	      2018 - 2024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en-US" sz="1100" b="1" dirty="0">
                    <a:latin typeface="Overpass" pitchFamily="2" charset="0"/>
                  </a:rPr>
                  <a:t>Co-Founder &amp; Product Lead</a:t>
                </a:r>
                <a:endParaRPr lang="en-US" sz="1100" i="1" dirty="0">
                  <a:latin typeface="Overpass" pitchFamily="2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Defined and executed roadmap for an AI‑powered interactive video SaaS; raised $2.5M seed funding.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Led cross‑functional teams (engineering, design, QA, data) to ship multi‑platform releases across Web, Mobile, and Smart‑TV under Agile.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Drove experimentation and feature iteration using analytics and product telemetry; improved user engagement/retention via smarter on‑video interactions and flows.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Built partnerships with enterprise clients and tech vendors;</a:t>
                </a:r>
              </a:p>
            </p:txBody>
          </p:sp>
        </p:grpSp>
        <p:sp>
          <p:nvSpPr>
            <p:cNvPr id="7" name="Text Placeholder 52">
              <a:extLst>
                <a:ext uri="{FF2B5EF4-FFF2-40B4-BE49-F238E27FC236}">
                  <a16:creationId xmlns:a16="http://schemas.microsoft.com/office/drawing/2014/main" id="{C74AC998-3F7B-596D-682D-63841FD8BC26}"/>
                </a:ext>
              </a:extLst>
            </p:cNvPr>
            <p:cNvSpPr txBox="1">
              <a:spLocks/>
            </p:cNvSpPr>
            <p:nvPr/>
          </p:nvSpPr>
          <p:spPr>
            <a:xfrm>
              <a:off x="179665" y="3584260"/>
              <a:ext cx="6568161" cy="130443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it-IT" sz="1200" b="1" u="sng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Inon Baasov Ltd  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- </a:t>
              </a:r>
              <a:r>
                <a:rPr lang="it-IT" sz="1050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Self-employed		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2024 - Present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it-IT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Product Strategy Consultant</a:t>
              </a:r>
            </a:p>
            <a:p>
              <a:pPr marL="171450" indent="-17145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Advise startups on AI product strategy, from problem discovery to prototype. Companies: </a:t>
              </a:r>
              <a:r>
                <a:rPr lang="en-US" sz="1100" dirty="0" err="1">
                  <a:latin typeface="Overpass" pitchFamily="2" charset="0"/>
                </a:rPr>
                <a:t>AiRakoon</a:t>
              </a:r>
              <a:r>
                <a:rPr lang="en-US" sz="1100" dirty="0">
                  <a:latin typeface="Overpass" pitchFamily="2" charset="0"/>
                </a:rPr>
                <a:t>, Smash+, </a:t>
              </a:r>
              <a:r>
                <a:rPr lang="en-US" sz="1100" dirty="0" err="1">
                  <a:latin typeface="Overpass" pitchFamily="2" charset="0"/>
                </a:rPr>
                <a:t>Medicrowd</a:t>
              </a:r>
              <a:r>
                <a:rPr lang="en-US" sz="1100" dirty="0">
                  <a:latin typeface="Overpass" pitchFamily="2" charset="0"/>
                </a:rPr>
                <a:t>, </a:t>
              </a:r>
              <a:r>
                <a:rPr lang="en-US" sz="1100" dirty="0" err="1">
                  <a:latin typeface="Overpass" pitchFamily="2" charset="0"/>
                </a:rPr>
                <a:t>Yazamos</a:t>
              </a:r>
              <a:r>
                <a:rPr lang="en-US" sz="1100" dirty="0">
                  <a:latin typeface="Overpass" pitchFamily="2" charset="0"/>
                </a:rPr>
                <a:t>.</a:t>
              </a:r>
            </a:p>
            <a:p>
              <a:pPr marL="171450" indent="-17145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Translate customer problems into GenAI opportunities; frame hypotheses, define success metrics, and run lean experiments/prototypes to validate UX and impact. Collaborate with founders/engineering on model usage patterns (APIs, orchestration), data pipelines, and evaluation loops to improve quality, latency, and cost.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117291</TotalTime>
  <Words>477</Words>
  <Application>Microsoft Office PowerPoint</Application>
  <PresentationFormat>Letter Paper (8.5x11 in)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15</cp:revision>
  <dcterms:created xsi:type="dcterms:W3CDTF">2024-07-25T09:15:15Z</dcterms:created>
  <dcterms:modified xsi:type="dcterms:W3CDTF">2026-04-04T16:13:17Z</dcterms:modified>
</cp:coreProperties>
</file>