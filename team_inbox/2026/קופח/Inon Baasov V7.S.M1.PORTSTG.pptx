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9674E-9EC4-43C8-8F25-C302DDD00506}" v="7" dt="2026-01-21T14:10:19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172" y="-492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6-01-21T14:19:07.774" v="529" actId="113"/>
      <pc:docMkLst>
        <pc:docMk/>
      </pc:docMkLst>
      <pc:sldChg chg="addSp modSp mod">
        <pc:chgData name="Inon Baasov" userId="675f8575db202d33" providerId="LiveId" clId="{6535A8C2-D6D1-40A6-B57B-6CAB1510FB70}" dt="2026-01-21T14:19:07.774" v="529" actId="113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21T14:19:07.774" v="529" actId="113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21T14:16:42.212" v="502" actId="1035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21T14:16:42.212" v="502" actId="1035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21T14:16:42.212" v="502" actId="1035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21T14:16:42.212" v="502" actId="1035"/>
          <ac:spMkLst>
            <pc:docMk/>
            <pc:sldMk cId="1945325877" sldId="260"/>
            <ac:spMk id="11" creationId="{D6C75DF8-197B-BFD3-34D2-297D5EA3D213}"/>
          </ac:spMkLst>
        </pc:spChg>
        <pc:spChg chg="add mod">
          <ac:chgData name="Inon Baasov" userId="675f8575db202d33" providerId="LiveId" clId="{6535A8C2-D6D1-40A6-B57B-6CAB1510FB70}" dt="2026-01-21T14:16:51.212" v="507" actId="1036"/>
          <ac:spMkLst>
            <pc:docMk/>
            <pc:sldMk cId="1945325877" sldId="260"/>
            <ac:spMk id="14" creationId="{5F106058-B623-EBD4-17DD-B9A0D179F02F}"/>
          </ac:spMkLst>
        </pc:spChg>
        <pc:spChg chg="mod">
          <ac:chgData name="Inon Baasov" userId="675f8575db202d33" providerId="LiveId" clId="{6535A8C2-D6D1-40A6-B57B-6CAB1510FB70}" dt="2026-01-21T14:15:39.283" v="485" actId="1036"/>
          <ac:spMkLst>
            <pc:docMk/>
            <pc:sldMk cId="1945325877" sldId="260"/>
            <ac:spMk id="15" creationId="{0E720D97-3110-CB60-B24C-F3AA2D9C9476}"/>
          </ac:spMkLst>
        </pc:spChg>
        <pc:spChg chg="mod">
          <ac:chgData name="Inon Baasov" userId="675f8575db202d33" providerId="LiveId" clId="{6535A8C2-D6D1-40A6-B57B-6CAB1510FB70}" dt="2026-01-21T14:16:55.105" v="528" actId="1035"/>
          <ac:spMkLst>
            <pc:docMk/>
            <pc:sldMk cId="1945325877" sldId="260"/>
            <ac:spMk id="16" creationId="{21CF99D9-56A9-5A12-E1B2-4D8E6AC972CE}"/>
          </ac:spMkLst>
        </pc:spChg>
        <pc:spChg chg="mod">
          <ac:chgData name="Inon Baasov" userId="675f8575db202d33" providerId="LiveId" clId="{6535A8C2-D6D1-40A6-B57B-6CAB1510FB70}" dt="2026-01-21T14:16:42.212" v="502" actId="1035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21T14:15:21.672" v="472" actId="1036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6-01-21T14:15:45.595" v="490" actId="1036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21T13:55:15.897" v="30"/>
          <ac:grpSpMkLst>
            <pc:docMk/>
            <pc:sldMk cId="1945325877" sldId="260"/>
            <ac:grpSpMk id="6" creationId="{D943FD8F-B645-F5DD-0443-9670451D8FB5}"/>
          </ac:grpSpMkLst>
        </pc:grpChg>
        <pc:grpChg chg="mod">
          <ac:chgData name="Inon Baasov" userId="675f8575db202d33" providerId="LiveId" clId="{6535A8C2-D6D1-40A6-B57B-6CAB1510FB70}" dt="2026-01-21T14:10:19.853" v="260" actId="164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21T13:55:15.897" v="30"/>
          <ac:grpSpMkLst>
            <pc:docMk/>
            <pc:sldMk cId="1945325877" sldId="260"/>
            <ac:grpSpMk id="12" creationId="{CA96F9C5-B4EE-2CE6-5E39-6D2B06DDBAA4}"/>
          </ac:grpSpMkLst>
        </pc:grpChg>
        <pc:grpChg chg="add mod">
          <ac:chgData name="Inon Baasov" userId="675f8575db202d33" providerId="LiveId" clId="{6535A8C2-D6D1-40A6-B57B-6CAB1510FB70}" dt="2026-01-21T14:16:23.257" v="498" actId="1035"/>
          <ac:grpSpMkLst>
            <pc:docMk/>
            <pc:sldMk cId="1945325877" sldId="260"/>
            <ac:grpSpMk id="17" creationId="{31DCA8C4-B7DA-1022-A193-8F6D54B34C8C}"/>
          </ac:grpSpMkLst>
        </pc:grpChg>
        <pc:grpChg chg="mod">
          <ac:chgData name="Inon Baasov" userId="675f8575db202d33" providerId="LiveId" clId="{6535A8C2-D6D1-40A6-B57B-6CAB1510FB70}" dt="2026-01-21T14:16:03.611" v="497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657813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658759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695043" y="659207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192699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12556" y="2920480"/>
            <a:ext cx="7115758" cy="938671"/>
            <a:chOff x="93673" y="1854031"/>
            <a:chExt cx="2936874" cy="350779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9819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 </a:t>
              </a:r>
              <a:r>
                <a:rPr lang="en-US" sz="1200" b="1" dirty="0">
                  <a:latin typeface="Overpass" pitchFamily="2" charset="0"/>
                </a:rPr>
                <a:t>Executive MBA, </a:t>
              </a:r>
              <a:r>
                <a:rPr lang="en-US" sz="1200" dirty="0">
                  <a:latin typeface="Overpass" pitchFamily="2" charset="0"/>
                </a:rPr>
                <a:t>Entrepreneurship &amp; Management - </a:t>
              </a:r>
              <a:r>
                <a:rPr lang="en-US" sz="12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strategic product development, global leadership, and high-tech innovation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 Technion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Technology.			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 B.Sc.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Biotechnology and Food Engineering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Technion - Israel Institute of Technology.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 Chemical Engineering -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		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176666" y="1503725"/>
            <a:ext cx="7151648" cy="1411155"/>
            <a:chOff x="2730795" y="1315393"/>
            <a:chExt cx="4090720" cy="2090417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7553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Senior Manager with 10+ years of experience leading </a:t>
              </a:r>
              <a:r>
                <a:rPr lang="en-US" sz="1100" b="1" dirty="0">
                  <a:latin typeface="Overpass" pitchFamily="2" charset="0"/>
                </a:rPr>
                <a:t>organizational work plans (Portfolio) </a:t>
              </a:r>
              <a:r>
                <a:rPr lang="en-US" sz="1100" dirty="0">
                  <a:latin typeface="Overpass" pitchFamily="2" charset="0"/>
                </a:rPr>
                <a:t>and strategic programs in complex environments. </a:t>
              </a:r>
              <a:r>
                <a:rPr lang="en-US" sz="1100" b="1" dirty="0">
                  <a:latin typeface="Overpass" pitchFamily="2" charset="0"/>
                </a:rPr>
                <a:t>B.Sc. in Engineering and Executive MBA</a:t>
              </a:r>
              <a:r>
                <a:rPr lang="en-US" sz="1100" dirty="0">
                  <a:latin typeface="Overpass" pitchFamily="2" charset="0"/>
                </a:rPr>
                <a:t>. Expert in defining and implementing </a:t>
              </a:r>
              <a:r>
                <a:rPr lang="en-US" sz="1100" b="1" dirty="0">
                  <a:latin typeface="Overpass" pitchFamily="2" charset="0"/>
                </a:rPr>
                <a:t>management methodologies </a:t>
              </a:r>
              <a:r>
                <a:rPr lang="en-US" sz="1100" dirty="0">
                  <a:latin typeface="Overpass" pitchFamily="2" charset="0"/>
                </a:rPr>
                <a:t>and operational infrastructure (Monday/Jira). Proven record in bridging Strategy, Operations, and IT to drive cross-functional execution. Skilled in working with </a:t>
              </a:r>
              <a:r>
                <a:rPr lang="en-US" sz="1100" b="1" dirty="0">
                  <a:latin typeface="Overpass" pitchFamily="2" charset="0"/>
                </a:rPr>
                <a:t>senior management</a:t>
              </a:r>
              <a:r>
                <a:rPr lang="en-US" sz="1100" dirty="0">
                  <a:latin typeface="Overpass" pitchFamily="2" charset="0"/>
                </a:rPr>
                <a:t>, managing matrix interfaces, and leading organizational change.</a:t>
              </a:r>
            </a:p>
            <a:p>
              <a:r>
                <a:rPr lang="en-US" sz="1100" b="1" dirty="0">
                  <a:latin typeface="Overpass" pitchFamily="2" charset="0"/>
                </a:rPr>
                <a:t>KEY SKILLS Portfolio </a:t>
              </a:r>
              <a:r>
                <a:rPr lang="en-US" sz="1100" dirty="0">
                  <a:latin typeface="Overpass" pitchFamily="2" charset="0"/>
                </a:rPr>
                <a:t>Management (PPM) | Annual Work Plans | Monday.com &amp; Jira Architecture | Cross-Organizational Methodologies | Strategy Implementation | Matrix Management | Data Analysis &amp; KPI Definition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E720D97-3110-CB60-B24C-F3AA2D9C9476}"/>
              </a:ext>
            </a:extLst>
          </p:cNvPr>
          <p:cNvSpPr txBox="1"/>
          <p:nvPr/>
        </p:nvSpPr>
        <p:spPr>
          <a:xfrm>
            <a:off x="176667" y="1119704"/>
            <a:ext cx="725739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latin typeface="Overpass" pitchFamily="2" charset="0"/>
              </a:rPr>
              <a:t>SENIOR PORTFOLIO &amp; STRATEGY OPERATIONS MANAGER B.Sc. Engineering | MBA | Organizational Excellence &amp; Methodologies</a:t>
            </a:r>
          </a:p>
        </p:txBody>
      </p:sp>
      <p:sp>
        <p:nvSpPr>
          <p:cNvPr id="16" name="Text Placeholder 52">
            <a:extLst>
              <a:ext uri="{FF2B5EF4-FFF2-40B4-BE49-F238E27FC236}">
                <a16:creationId xmlns:a16="http://schemas.microsoft.com/office/drawing/2014/main" id="{21CF99D9-56A9-5A12-E1B2-4D8E6AC972CE}"/>
              </a:ext>
            </a:extLst>
          </p:cNvPr>
          <p:cNvSpPr txBox="1">
            <a:spLocks/>
          </p:cNvSpPr>
          <p:nvPr/>
        </p:nvSpPr>
        <p:spPr>
          <a:xfrm>
            <a:off x="109992" y="9345178"/>
            <a:ext cx="7257396" cy="707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15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2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Military Service | </a:t>
            </a:r>
            <a:r>
              <a: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Israeli Air Force | Planning and Control Department | </a:t>
            </a:r>
            <a:r>
              <a:rPr lang="it-IT" sz="12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2000 - 2003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Operations &amp; Control: </a:t>
            </a:r>
            <a:r>
              <a: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Served in the </a:t>
            </a:r>
            <a:r>
              <a: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Planning and Control center</a:t>
            </a:r>
            <a:r>
              <a: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, managing real-time resources, shift planning, and operational readiness in a high-pressure environment.</a:t>
            </a:r>
            <a:endParaRPr lang="it-IT" sz="1100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DCA8C4-B7DA-1022-A193-8F6D54B34C8C}"/>
              </a:ext>
            </a:extLst>
          </p:cNvPr>
          <p:cNvGrpSpPr/>
          <p:nvPr/>
        </p:nvGrpSpPr>
        <p:grpSpPr>
          <a:xfrm>
            <a:off x="109993" y="3867511"/>
            <a:ext cx="7324070" cy="5433876"/>
            <a:chOff x="109993" y="3677011"/>
            <a:chExt cx="7324070" cy="54338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06554B-DAEA-F04A-7818-F1555F0613DF}"/>
                </a:ext>
              </a:extLst>
            </p:cNvPr>
            <p:cNvGrpSpPr/>
            <p:nvPr/>
          </p:nvGrpSpPr>
          <p:grpSpPr>
            <a:xfrm>
              <a:off x="176002" y="3677011"/>
              <a:ext cx="7140332" cy="5433876"/>
              <a:chOff x="161926" y="3562746"/>
              <a:chExt cx="6590843" cy="429672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96F9C5-B4EE-2CE6-5E39-6D2B06DDBAA4}"/>
                  </a:ext>
                </a:extLst>
              </p:cNvPr>
              <p:cNvGrpSpPr/>
              <p:nvPr/>
            </p:nvGrpSpPr>
            <p:grpSpPr>
              <a:xfrm>
                <a:off x="161926" y="3562746"/>
                <a:ext cx="6590843" cy="4296725"/>
                <a:chOff x="78398" y="3506510"/>
                <a:chExt cx="6718755" cy="322639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D943FD8F-B645-F5DD-0443-9670451D8FB5}"/>
                    </a:ext>
                  </a:extLst>
                </p:cNvPr>
                <p:cNvGrpSpPr/>
                <p:nvPr/>
              </p:nvGrpSpPr>
              <p:grpSpPr>
                <a:xfrm>
                  <a:off x="78398" y="3506510"/>
                  <a:ext cx="6718755" cy="3226392"/>
                  <a:chOff x="-24741" y="2655071"/>
                  <a:chExt cx="6949855" cy="2502248"/>
                </a:xfrm>
              </p:grpSpPr>
              <p:sp>
                <p:nvSpPr>
                  <p:cNvPr id="154" name="Text Placeholder 52">
                    <a:extLst>
                      <a:ext uri="{FF2B5EF4-FFF2-40B4-BE49-F238E27FC236}">
                        <a16:creationId xmlns:a16="http://schemas.microsoft.com/office/drawing/2014/main" id="{7B120799-BCC3-8E46-2EA5-CFAE368C1FC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4741" y="3791111"/>
                    <a:ext cx="6943718" cy="586743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en-IL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Arena Plus</a:t>
                    </a:r>
                    <a:r>
                      <a:rPr lang="en-IL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- </a:t>
                    </a:r>
                    <a:r>
                      <a:rPr lang="en-IL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Financial Services</a:t>
                    </a:r>
                    <a:r>
                      <a:rPr lang="en-US" sz="1100" b="1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</a:t>
                    </a:r>
                    <a:r>
                      <a:rPr lang="en-US" sz="1100" b="1" dirty="0">
                        <a:latin typeface="Overpass" pitchFamily="2" charset="0"/>
                      </a:rPr>
                      <a:t>Senior Program &amp; PMO Lead | </a:t>
                    </a:r>
                    <a:r>
                      <a:rPr lang="en-IL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2013 - 2018</a:t>
                    </a:r>
                    <a:endPara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Organizational Processes: </a:t>
                    </a:r>
                    <a:r>
                      <a:rPr lang="en-US" sz="1100" dirty="0">
                        <a:latin typeface="Overpass" pitchFamily="2" charset="0"/>
                      </a:rPr>
                      <a:t>Led the strategic transition to </a:t>
                    </a:r>
                    <a:r>
                      <a:rPr lang="en-US" sz="1100" b="1" dirty="0">
                        <a:latin typeface="Overpass" pitchFamily="2" charset="0"/>
                      </a:rPr>
                      <a:t>Agile methodologies</a:t>
                    </a:r>
                    <a:r>
                      <a:rPr lang="en-US" sz="1100" dirty="0">
                        <a:latin typeface="Overpass" pitchFamily="2" charset="0"/>
                      </a:rPr>
                      <a:t>, implementing cross-organizational work processes that improved delivery predictability.</a:t>
                    </a: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Matrix Leadership:</a:t>
                    </a:r>
                    <a:r>
                      <a:rPr lang="en-US" sz="1100" dirty="0">
                        <a:latin typeface="Overpass" pitchFamily="2" charset="0"/>
                      </a:rPr>
                      <a:t> Managed complex programs in a </a:t>
                    </a:r>
                    <a:r>
                      <a:rPr lang="en-US" sz="1100" b="1" dirty="0">
                        <a:latin typeface="Overpass" pitchFamily="2" charset="0"/>
                      </a:rPr>
                      <a:t>matrix structure</a:t>
                    </a:r>
                    <a:r>
                      <a:rPr lang="en-US" sz="1100" dirty="0">
                        <a:latin typeface="Overpass" pitchFamily="2" charset="0"/>
                      </a:rPr>
                      <a:t>, coordinating between Business Units, IT, and HQ to deliver strategic projects.</a:t>
                    </a: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Management Reporting:</a:t>
                    </a:r>
                    <a:r>
                      <a:rPr lang="en-US" sz="1100" dirty="0">
                        <a:latin typeface="Overpass" pitchFamily="2" charset="0"/>
                      </a:rPr>
                      <a:t> Defined and presented status reports to senior management, highlighting risks, timeline deviations, and resource gaps.</a:t>
                    </a:r>
                  </a:p>
                </p:txBody>
              </p:sp>
              <p:sp>
                <p:nvSpPr>
                  <p:cNvPr id="242" name="Text Placeholder 45">
                    <a:extLst>
                      <a:ext uri="{FF2B5EF4-FFF2-40B4-BE49-F238E27FC236}">
                        <a16:creationId xmlns:a16="http://schemas.microsoft.com/office/drawing/2014/main" id="{736313EA-3C2D-C5A9-2ED3-22681A16B47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9577" y="2655071"/>
                    <a:ext cx="2719752" cy="199157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600" b="1" kern="1200">
                        <a:solidFill>
                          <a:schemeClr val="accent5"/>
                        </a:solidFill>
                        <a:latin typeface="+mj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500" u="sng" dirty="0">
                        <a:solidFill>
                          <a:srgbClr val="10ABE2"/>
                        </a:solidFill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Professional experience</a:t>
                    </a:r>
                  </a:p>
                </p:txBody>
              </p:sp>
              <p:sp>
                <p:nvSpPr>
                  <p:cNvPr id="9" name="Text Placeholder 52">
                    <a:extLst>
                      <a:ext uri="{FF2B5EF4-FFF2-40B4-BE49-F238E27FC236}">
                        <a16:creationId xmlns:a16="http://schemas.microsoft.com/office/drawing/2014/main" id="{6871FAD5-DAC9-2E88-43EE-71DE2313B5B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8603" y="4497730"/>
                    <a:ext cx="6943717" cy="445425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Pharmabest Inc. &amp; Philtel Inc.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it-IT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Head of Quality &amp; Methodologies | 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2011 - 2013</a:t>
                    </a: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Methodology Implementation: </a:t>
                    </a: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Led the organizational implementation of </a:t>
                    </a:r>
                    <a:r>
                      <a:rPr lang="en-US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ISO 9001 standards</a:t>
                    </a: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, defining work procedures (SOPs) and cross-departmental workflows.</a:t>
                    </a: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Audit Management: </a:t>
                    </a: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Managed internal and external audits, creating control mechanisms to ensure compliance with strategic objectives.</a:t>
                    </a:r>
                    <a:endParaRPr lang="it-IT" sz="11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10" name="Text Placeholder 52">
                    <a:extLst>
                      <a:ext uri="{FF2B5EF4-FFF2-40B4-BE49-F238E27FC236}">
                        <a16:creationId xmlns:a16="http://schemas.microsoft.com/office/drawing/2014/main" id="{BA499EBC-730C-6472-42B1-4FBCAD1BA5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6035" y="4920853"/>
                    <a:ext cx="6931149" cy="236466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4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Blau Pharmaceuticals Services Inc.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Regulatory Affairs Consultant | 2009 - 2011</a:t>
                    </a: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Process Documentation: </a:t>
                    </a: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Translated complex regulatory requirements into operational directives and submission plans for global pharma companies.</a:t>
                    </a:r>
                    <a:endParaRPr lang="it-IT" sz="11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C75DF8-197B-BFD3-34D2-297D5EA3D21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399" y="3959995"/>
                  <a:ext cx="6713716" cy="10142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TouchE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-</a:t>
                  </a:r>
                  <a:r>
                    <a:rPr lang="en-US" sz="1200" i="1" dirty="0">
                      <a:latin typeface="Overpass" pitchFamily="2" charset="0"/>
                    </a:rPr>
                    <a:t> </a:t>
                  </a:r>
                  <a:r>
                    <a:rPr lang="en-US" sz="1100" b="1" dirty="0">
                      <a:latin typeface="Overpass" pitchFamily="2" charset="0"/>
                    </a:rPr>
                    <a:t>AI-powered interactive video platform | Co-Founder &amp; Head of Operations </a:t>
                  </a:r>
                  <a:r>
                    <a:rPr lang="en-US" sz="1050" b="1" dirty="0">
                      <a:latin typeface="Overpass" pitchFamily="2" charset="0"/>
                    </a:rPr>
                    <a:t>|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2018 - 2024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Portfolio Management: </a:t>
                  </a:r>
                  <a:r>
                    <a:rPr lang="en-US" sz="1100" dirty="0">
                      <a:latin typeface="Overpass" pitchFamily="2" charset="0"/>
                    </a:rPr>
                    <a:t>Led the </a:t>
                  </a:r>
                  <a:r>
                    <a:rPr lang="en-US" sz="1100" b="1" dirty="0">
                      <a:latin typeface="Overpass" pitchFamily="2" charset="0"/>
                    </a:rPr>
                    <a:t>annual organizational work plan</a:t>
                  </a:r>
                  <a:r>
                    <a:rPr lang="en-US" sz="1100" dirty="0">
                      <a:latin typeface="Overpass" pitchFamily="2" charset="0"/>
                    </a:rPr>
                    <a:t>, synchronizing R&amp;D, Product, and Marketing streams to meet strategic company goals.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System Infrastructure (Monday/Jira):</a:t>
                  </a:r>
                  <a:r>
                    <a:rPr lang="en-US" sz="1100" dirty="0">
                      <a:latin typeface="Overpass" pitchFamily="2" charset="0"/>
                    </a:rPr>
                    <a:t> Owned the architecture and implementation of the </a:t>
                  </a:r>
                  <a:r>
                    <a:rPr lang="en-US" sz="1100" b="1" dirty="0">
                      <a:latin typeface="Overpass" pitchFamily="2" charset="0"/>
                    </a:rPr>
                    <a:t>organizational management tools</a:t>
                  </a:r>
                  <a:r>
                    <a:rPr lang="en-US" sz="1100" dirty="0">
                      <a:latin typeface="Overpass" pitchFamily="2" charset="0"/>
                    </a:rPr>
                    <a:t> (Jira/Monday). Defined workflows, automations, and dashboards to track project health and resources.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Methodology Implementation: </a:t>
                  </a:r>
                  <a:r>
                    <a:rPr lang="en-US" sz="1100" dirty="0">
                      <a:latin typeface="Overpass" pitchFamily="2" charset="0"/>
                    </a:rPr>
                    <a:t>Established structured </a:t>
                  </a:r>
                  <a:r>
                    <a:rPr lang="en-US" sz="1100" b="1" dirty="0">
                      <a:latin typeface="Overpass" pitchFamily="2" charset="0"/>
                    </a:rPr>
                    <a:t>management routines </a:t>
                  </a:r>
                  <a:r>
                    <a:rPr lang="en-US" sz="1100" dirty="0">
                      <a:latin typeface="Overpass" pitchFamily="2" charset="0"/>
                    </a:rPr>
                    <a:t>and control mechanisms, enabling management to monitor KPIs and budget utilization ($2.5M).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Supplier Management:</a:t>
                  </a:r>
                  <a:r>
                    <a:rPr lang="en-US" sz="1100" dirty="0">
                      <a:latin typeface="Overpass" pitchFamily="2" charset="0"/>
                    </a:rPr>
                    <a:t> Managed external vendors and technological partners, serving as the focal point for contract negotiations and delivery tracking.</a:t>
                  </a:r>
                </a:p>
              </p:txBody>
            </p:sp>
          </p:grpSp>
          <p:sp>
            <p:nvSpPr>
              <p:cNvPr id="7" name="Text Placeholder 52">
                <a:extLst>
                  <a:ext uri="{FF2B5EF4-FFF2-40B4-BE49-F238E27FC236}">
                    <a16:creationId xmlns:a16="http://schemas.microsoft.com/office/drawing/2014/main" id="{C74AC998-3F7B-596D-682D-63841FD8BC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665" y="3746760"/>
                <a:ext cx="6568161" cy="415027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Inon Baasov Ltd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| 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Strategy &amp; Operations Consultant </a:t>
                </a:r>
                <a:r>
                  <a:rPr lang="it-IT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2024 - Present</a:t>
                </a:r>
              </a:p>
              <a:p>
                <a:pPr marL="171450" indent="-1714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Advising organizations on </a:t>
                </a:r>
                <a:r>
                  <a:rPr lang="en-US" sz="1100" b="1" dirty="0">
                    <a:latin typeface="Overpass" pitchFamily="2" charset="0"/>
                  </a:rPr>
                  <a:t>strategic planning</a:t>
                </a:r>
                <a:r>
                  <a:rPr lang="en-US" sz="1100" dirty="0">
                    <a:latin typeface="Overpass" pitchFamily="2" charset="0"/>
                  </a:rPr>
                  <a:t>, process optimization, and the implementation of management tools to improve operational efficiency.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106058-B623-EBD4-17DD-B9A0D179F02F}"/>
                </a:ext>
              </a:extLst>
            </p:cNvPr>
            <p:cNvSpPr txBox="1"/>
            <p:nvPr/>
          </p:nvSpPr>
          <p:spPr>
            <a:xfrm>
              <a:off x="109993" y="7414652"/>
              <a:ext cx="73240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latin typeface="Overpass" pitchFamily="2" charset="0"/>
                </a:rPr>
                <a:t>PREVIOUS EXPERIENCE (PROCESS &amp; METHODOLOGIES)</a:t>
              </a:r>
              <a:endParaRPr lang="en-IL" sz="1200" b="1" dirty="0">
                <a:latin typeface="Overpas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116947</TotalTime>
  <Words>582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15</cp:revision>
  <dcterms:created xsi:type="dcterms:W3CDTF">2024-07-25T09:15:15Z</dcterms:created>
  <dcterms:modified xsi:type="dcterms:W3CDTF">2026-01-21T14:19:16Z</dcterms:modified>
</cp:coreProperties>
</file>