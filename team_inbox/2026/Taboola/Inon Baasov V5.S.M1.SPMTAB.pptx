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7131D-2C70-407C-BC96-733F154A443A}" v="15" dt="2026-01-19T13:37:24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172" y="-2652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redo custSel modSld">
      <pc:chgData name="Inon Baasov" userId="675f8575db202d33" providerId="LiveId" clId="{6535A8C2-D6D1-40A6-B57B-6CAB1510FB70}" dt="2026-01-19T13:42:37.656" v="791" actId="20577"/>
      <pc:docMkLst>
        <pc:docMk/>
      </pc:docMkLst>
      <pc:sldChg chg="addSp delSp modSp mod">
        <pc:chgData name="Inon Baasov" userId="675f8575db202d33" providerId="LiveId" clId="{6535A8C2-D6D1-40A6-B57B-6CAB1510FB70}" dt="2026-01-19T13:42:37.656" v="791" actId="20577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19T13:32:26.563" v="638" actId="1036"/>
          <ac:spMkLst>
            <pc:docMk/>
            <pc:sldMk cId="1945325877" sldId="260"/>
            <ac:spMk id="4" creationId="{A14E25B9-74B7-1D86-F100-61C9666B8B8B}"/>
          </ac:spMkLst>
        </pc:spChg>
        <pc:spChg chg="mod">
          <ac:chgData name="Inon Baasov" userId="675f8575db202d33" providerId="LiveId" clId="{6535A8C2-D6D1-40A6-B57B-6CAB1510FB70}" dt="2026-01-19T13:32:23.160" v="629" actId="1036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19T13:31:13.681" v="530" actId="1036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19T13:42:37.656" v="791" actId="20577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19T13:36:53.487" v="739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19T13:31:09.712" v="528" actId="1036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19T13:32:30.193" v="647" actId="1036"/>
          <ac:spMkLst>
            <pc:docMk/>
            <pc:sldMk cId="1945325877" sldId="260"/>
            <ac:spMk id="13" creationId="{981BFF6D-71CB-EE46-EEF4-5FE5810377A5}"/>
          </ac:spMkLst>
        </pc:spChg>
        <pc:spChg chg="add mod">
          <ac:chgData name="Inon Baasov" userId="675f8575db202d33" providerId="LiveId" clId="{6535A8C2-D6D1-40A6-B57B-6CAB1510FB70}" dt="2026-01-19T13:28:05.628" v="444" actId="164"/>
          <ac:spMkLst>
            <pc:docMk/>
            <pc:sldMk cId="1945325877" sldId="260"/>
            <ac:spMk id="15" creationId="{B9922527-6FE9-E6CB-D2C8-33D772CD8E67}"/>
          </ac:spMkLst>
        </pc:spChg>
        <pc:spChg chg="add mod">
          <ac:chgData name="Inon Baasov" userId="675f8575db202d33" providerId="LiveId" clId="{6535A8C2-D6D1-40A6-B57B-6CAB1510FB70}" dt="2026-01-19T13:37:24.317" v="779" actId="164"/>
          <ac:spMkLst>
            <pc:docMk/>
            <pc:sldMk cId="1945325877" sldId="260"/>
            <ac:spMk id="17" creationId="{71C0995E-FBCA-6FEB-CDBA-FF92ABB0404A}"/>
          </ac:spMkLst>
        </pc:spChg>
        <pc:spChg chg="mod">
          <ac:chgData name="Inon Baasov" userId="675f8575db202d33" providerId="LiveId" clId="{6535A8C2-D6D1-40A6-B57B-6CAB1510FB70}" dt="2026-01-19T13:42:09.687" v="788" actId="20577"/>
          <ac:spMkLst>
            <pc:docMk/>
            <pc:sldMk cId="1945325877" sldId="260"/>
            <ac:spMk id="154" creationId="{7B120799-BCC3-8E46-2EA5-CFAE368C1FC7}"/>
          </ac:spMkLst>
        </pc:spChg>
        <pc:spChg chg="del mod topLvl">
          <ac:chgData name="Inon Baasov" userId="675f8575db202d33" providerId="LiveId" clId="{6535A8C2-D6D1-40A6-B57B-6CAB1510FB70}" dt="2026-01-19T13:27:37.232" v="418" actId="478"/>
          <ac:spMkLst>
            <pc:docMk/>
            <pc:sldMk cId="1945325877" sldId="260"/>
            <ac:spMk id="174" creationId="{67D1E309-1ED9-E676-89A4-61C198105A97}"/>
          </ac:spMkLst>
        </pc:spChg>
        <pc:spChg chg="mod topLvl">
          <ac:chgData name="Inon Baasov" userId="675f8575db202d33" providerId="LiveId" clId="{6535A8C2-D6D1-40A6-B57B-6CAB1510FB70}" dt="2026-01-19T13:28:05.628" v="444" actId="164"/>
          <ac:spMkLst>
            <pc:docMk/>
            <pc:sldMk cId="1945325877" sldId="260"/>
            <ac:spMk id="231" creationId="{341669B1-8344-D7A4-D12E-8D04FAB5F455}"/>
          </ac:spMkLst>
        </pc:spChg>
        <pc:spChg chg="mod">
          <ac:chgData name="Inon Baasov" userId="675f8575db202d33" providerId="LiveId" clId="{6535A8C2-D6D1-40A6-B57B-6CAB1510FB70}" dt="2026-01-19T13:24:26.921" v="316" actId="3064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19T13:16:25.823" v="75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19T13:21:17.856" v="286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6535A8C2-D6D1-40A6-B57B-6CAB1510FB70}" dt="2026-01-19T13:37:24.317" v="779" actId="164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19T13:21:17.856" v="286"/>
          <ac:grpSpMkLst>
            <pc:docMk/>
            <pc:sldMk cId="1945325877" sldId="260"/>
            <ac:grpSpMk id="12" creationId="{CA96F9C5-B4EE-2CE6-5E39-6D2B06DDBAA4}"/>
          </ac:grpSpMkLst>
        </pc:grpChg>
        <pc:grpChg chg="add mod">
          <ac:chgData name="Inon Baasov" userId="675f8575db202d33" providerId="LiveId" clId="{6535A8C2-D6D1-40A6-B57B-6CAB1510FB70}" dt="2026-01-19T13:16:25.823" v="75"/>
          <ac:grpSpMkLst>
            <pc:docMk/>
            <pc:sldMk cId="1945325877" sldId="260"/>
            <ac:grpSpMk id="14" creationId="{682C02A4-1F60-1236-43AF-F0760EC9796F}"/>
          </ac:grpSpMkLst>
        </pc:grpChg>
        <pc:grpChg chg="add mod">
          <ac:chgData name="Inon Baasov" userId="675f8575db202d33" providerId="LiveId" clId="{6535A8C2-D6D1-40A6-B57B-6CAB1510FB70}" dt="2026-01-19T13:37:34.424" v="786" actId="1035"/>
          <ac:grpSpMkLst>
            <pc:docMk/>
            <pc:sldMk cId="1945325877" sldId="260"/>
            <ac:grpSpMk id="16" creationId="{A3D36E24-BDEF-E312-5C96-60AB7012624A}"/>
          </ac:grpSpMkLst>
        </pc:grpChg>
        <pc:grpChg chg="add mod">
          <ac:chgData name="Inon Baasov" userId="675f8575db202d33" providerId="LiveId" clId="{6535A8C2-D6D1-40A6-B57B-6CAB1510FB70}" dt="2026-01-19T13:37:30.175" v="781" actId="14100"/>
          <ac:grpSpMkLst>
            <pc:docMk/>
            <pc:sldMk cId="1945325877" sldId="260"/>
            <ac:grpSpMk id="18" creationId="{8DAF65B6-55E3-4548-F014-523709E26C98}"/>
          </ac:grpSpMkLst>
        </pc:grpChg>
        <pc:grpChg chg="del mod">
          <ac:chgData name="Inon Baasov" userId="675f8575db202d33" providerId="LiveId" clId="{6535A8C2-D6D1-40A6-B57B-6CAB1510FB70}" dt="2026-01-19T13:27:37.232" v="418" actId="478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6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409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968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 i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54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527" b="1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32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  <a:latin typeface="+mn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102">
                <a:solidFill>
                  <a:schemeClr val="bg1"/>
                </a:solidFill>
                <a:latin typeface="+mn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75595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9" indent="-188989" algn="l" defTabSz="75595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68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47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925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904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83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861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840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819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79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57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36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915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93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72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851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829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142352" y="1074113"/>
            <a:ext cx="1520334" cy="250347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954495" y="1075156"/>
            <a:ext cx="1703105" cy="228956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817519" y="1075649"/>
            <a:ext cx="1599804" cy="228956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72" y="561411"/>
            <a:ext cx="7559675" cy="553735"/>
          </a:xfrm>
        </p:spPr>
        <p:txBody>
          <a:bodyPr>
            <a:normAutofit/>
          </a:bodyPr>
          <a:lstStyle/>
          <a:p>
            <a:pPr algn="ctr"/>
            <a:r>
              <a:rPr lang="en-US" sz="2646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646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2C02A4-1F60-1236-43AF-F0760EC9796F}"/>
              </a:ext>
            </a:extLst>
          </p:cNvPr>
          <p:cNvGrpSpPr/>
          <p:nvPr/>
        </p:nvGrpSpPr>
        <p:grpSpPr>
          <a:xfrm>
            <a:off x="211552" y="1443582"/>
            <a:ext cx="7208129" cy="2037373"/>
            <a:chOff x="211552" y="1443582"/>
            <a:chExt cx="7208129" cy="203737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F3DD04-3596-890A-0289-4F6EC51FBB48}"/>
                </a:ext>
              </a:extLst>
            </p:cNvPr>
            <p:cNvGrpSpPr/>
            <p:nvPr/>
          </p:nvGrpSpPr>
          <p:grpSpPr>
            <a:xfrm>
              <a:off x="250981" y="1858325"/>
              <a:ext cx="7168700" cy="1622630"/>
              <a:chOff x="2730795" y="1532993"/>
              <a:chExt cx="4090720" cy="2180578"/>
            </a:xfrm>
          </p:grpSpPr>
          <p:sp>
            <p:nvSpPr>
              <p:cNvPr id="4" name="Text Placeholder 45">
                <a:extLst>
                  <a:ext uri="{FF2B5EF4-FFF2-40B4-BE49-F238E27FC236}">
                    <a16:creationId xmlns:a16="http://schemas.microsoft.com/office/drawing/2014/main" id="{A14E25B9-74B7-1D86-F100-61C9666B8B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3799" y="1532993"/>
                <a:ext cx="1514170" cy="409576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53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summary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5A639-1B8A-878B-04BB-3EE82339007A}"/>
                  </a:ext>
                </a:extLst>
              </p:cNvPr>
              <p:cNvSpPr txBox="1"/>
              <p:nvPr/>
            </p:nvSpPr>
            <p:spPr>
              <a:xfrm>
                <a:off x="2730795" y="1893699"/>
                <a:ext cx="4090720" cy="1819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>
                    <a:latin typeface="Overpass" pitchFamily="2" charset="0"/>
                  </a:rPr>
                  <a:t>Senior Product Manager with 10+ years of experience leading </a:t>
                </a:r>
                <a:r>
                  <a:rPr lang="en-US" sz="1100" b="1" dirty="0">
                    <a:latin typeface="Overpass" pitchFamily="2" charset="0"/>
                  </a:rPr>
                  <a:t>AdTech</a:t>
                </a:r>
                <a:r>
                  <a:rPr lang="en-US" sz="1100" dirty="0">
                    <a:latin typeface="Overpass" pitchFamily="2" charset="0"/>
                  </a:rPr>
                  <a:t> and </a:t>
                </a:r>
                <a:r>
                  <a:rPr lang="en-US" sz="1100" b="1" dirty="0">
                    <a:latin typeface="Overpass" pitchFamily="2" charset="0"/>
                  </a:rPr>
                  <a:t>GenAI</a:t>
                </a:r>
                <a:r>
                  <a:rPr lang="en-US" sz="1100" dirty="0">
                    <a:latin typeface="Overpass" pitchFamily="2" charset="0"/>
                  </a:rPr>
                  <a:t> products from concept to launch. Proven record in empowering </a:t>
                </a:r>
                <a:r>
                  <a:rPr lang="en-US" sz="1100" b="1" dirty="0">
                    <a:latin typeface="Overpass" pitchFamily="2" charset="0"/>
                  </a:rPr>
                  <a:t>publishers</a:t>
                </a:r>
                <a:r>
                  <a:rPr lang="en-US" sz="1100" dirty="0">
                    <a:latin typeface="Overpass" pitchFamily="2" charset="0"/>
                  </a:rPr>
                  <a:t> and content creators to increase revenue and engagement through AI-driven solutions. Expert in driving </a:t>
                </a:r>
                <a:r>
                  <a:rPr lang="en-US" sz="1100" b="1" dirty="0">
                    <a:latin typeface="Overpass" pitchFamily="2" charset="0"/>
                  </a:rPr>
                  <a:t>A/B testing</a:t>
                </a:r>
                <a:r>
                  <a:rPr lang="en-US" sz="1100" dirty="0">
                    <a:latin typeface="Overpass" pitchFamily="2" charset="0"/>
                  </a:rPr>
                  <a:t>, analyzing user behavior, and translating business goals into data-driven roadmaps. Co-founder of a video platform that served top-tier publishers (e.g., Eros Now, HOT), leveraging </a:t>
                </a:r>
                <a:r>
                  <a:rPr lang="en-US" sz="1100" b="1" dirty="0">
                    <a:latin typeface="Overpass" pitchFamily="2" charset="0"/>
                  </a:rPr>
                  <a:t>Generative AI</a:t>
                </a:r>
                <a:r>
                  <a:rPr lang="en-US" sz="1100" dirty="0">
                    <a:latin typeface="Overpass" pitchFamily="2" charset="0"/>
                  </a:rPr>
                  <a:t> to optimize content performance.</a:t>
                </a:r>
              </a:p>
              <a:p>
                <a:r>
                  <a:rPr lang="en-US" sz="1100" dirty="0">
                    <a:latin typeface="Overpass" pitchFamily="2" charset="0"/>
                  </a:rPr>
                  <a:t>Key Skills: Generative AI Product Lifecycle | AdTech &amp; Publisher Ecosystems | A/B Testing &amp; Experimentation | Data Analytics &amp; User Insights | Revenue Optimization (Monetization) | Cross-Functional Leadership | Agile &amp; Roadmap Execution</a:t>
                </a:r>
              </a:p>
            </p:txBody>
          </p:sp>
        </p:grpSp>
        <p:sp>
          <p:nvSpPr>
            <p:cNvPr id="13" name="Text Placeholder 45">
              <a:extLst>
                <a:ext uri="{FF2B5EF4-FFF2-40B4-BE49-F238E27FC236}">
                  <a16:creationId xmlns:a16="http://schemas.microsoft.com/office/drawing/2014/main" id="{981BFF6D-71CB-EE46-EEF4-5FE5810377A5}"/>
                </a:ext>
              </a:extLst>
            </p:cNvPr>
            <p:cNvSpPr txBox="1">
              <a:spLocks/>
            </p:cNvSpPr>
            <p:nvPr/>
          </p:nvSpPr>
          <p:spPr>
            <a:xfrm>
              <a:off x="211552" y="1443582"/>
              <a:ext cx="7208129" cy="357623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tx1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SENIOR PRODUCT MANAGER | GEN-AI &amp; ADTECH B.Sc. Engineering | Data-Driven Product Strategy | Publisher Growth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D36E24-BDEF-E312-5C96-60AB7012624A}"/>
              </a:ext>
            </a:extLst>
          </p:cNvPr>
          <p:cNvGrpSpPr/>
          <p:nvPr/>
        </p:nvGrpSpPr>
        <p:grpSpPr>
          <a:xfrm>
            <a:off x="211551" y="8923610"/>
            <a:ext cx="7208129" cy="1002420"/>
            <a:chOff x="211551" y="8863285"/>
            <a:chExt cx="7208129" cy="1002420"/>
          </a:xfrm>
        </p:grpSpPr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250958" y="8863285"/>
              <a:ext cx="1511512" cy="37561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653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  <p:sp>
          <p:nvSpPr>
            <p:cNvPr id="15" name="Text Placeholder 71">
              <a:extLst>
                <a:ext uri="{FF2B5EF4-FFF2-40B4-BE49-F238E27FC236}">
                  <a16:creationId xmlns:a16="http://schemas.microsoft.com/office/drawing/2014/main" id="{B9922527-6FE9-E6CB-D2C8-33D772CD8E67}"/>
                </a:ext>
              </a:extLst>
            </p:cNvPr>
            <p:cNvSpPr txBox="1">
              <a:spLocks/>
            </p:cNvSpPr>
            <p:nvPr/>
          </p:nvSpPr>
          <p:spPr>
            <a:xfrm>
              <a:off x="211551" y="9119283"/>
              <a:ext cx="7208129" cy="7464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  <a:endPara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McGill University, Montreal, Canada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AF65B6-55E3-4548-F014-523709E26C98}"/>
              </a:ext>
            </a:extLst>
          </p:cNvPr>
          <p:cNvGrpSpPr/>
          <p:nvPr/>
        </p:nvGrpSpPr>
        <p:grpSpPr>
          <a:xfrm>
            <a:off x="111853" y="3561695"/>
            <a:ext cx="7347826" cy="5417702"/>
            <a:chOff x="111853" y="3561695"/>
            <a:chExt cx="7347826" cy="54177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06554B-DAEA-F04A-7818-F1555F0613DF}"/>
                </a:ext>
              </a:extLst>
            </p:cNvPr>
            <p:cNvGrpSpPr/>
            <p:nvPr/>
          </p:nvGrpSpPr>
          <p:grpSpPr>
            <a:xfrm>
              <a:off x="191991" y="3561695"/>
              <a:ext cx="7267688" cy="5417702"/>
              <a:chOff x="161926" y="3400040"/>
              <a:chExt cx="6680554" cy="458860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96F9C5-B4EE-2CE6-5E39-6D2B06DDBAA4}"/>
                  </a:ext>
                </a:extLst>
              </p:cNvPr>
              <p:cNvGrpSpPr/>
              <p:nvPr/>
            </p:nvGrpSpPr>
            <p:grpSpPr>
              <a:xfrm>
                <a:off x="161926" y="3400040"/>
                <a:ext cx="6680554" cy="4588609"/>
                <a:chOff x="78398" y="3384334"/>
                <a:chExt cx="6810207" cy="344556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D943FD8F-B645-F5DD-0443-9670451D8FB5}"/>
                    </a:ext>
                  </a:extLst>
                </p:cNvPr>
                <p:cNvGrpSpPr/>
                <p:nvPr/>
              </p:nvGrpSpPr>
              <p:grpSpPr>
                <a:xfrm>
                  <a:off x="78398" y="3384334"/>
                  <a:ext cx="6718755" cy="3445566"/>
                  <a:chOff x="-24741" y="2560328"/>
                  <a:chExt cx="6949855" cy="2672253"/>
                </a:xfrm>
              </p:grpSpPr>
              <p:sp>
                <p:nvSpPr>
                  <p:cNvPr id="154" name="Text Placeholder 52">
                    <a:extLst>
                      <a:ext uri="{FF2B5EF4-FFF2-40B4-BE49-F238E27FC236}">
                        <a16:creationId xmlns:a16="http://schemas.microsoft.com/office/drawing/2014/main" id="{7B120799-BCC3-8E46-2EA5-CFAE368C1FC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4741" y="3993668"/>
                    <a:ext cx="6943718" cy="632781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en-IL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Arena Plus</a:t>
                    </a:r>
                    <a:r>
                      <a:rPr lang="en-US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Financial Services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Senior Product Manager | 2013 – 2018</a:t>
                    </a:r>
                    <a:r>
                      <a:rPr lang="en-US" sz="1200" b="1" dirty="0">
                        <a:latin typeface="Overpass" pitchFamily="2" charset="0"/>
                      </a:rPr>
                      <a:t>	</a:t>
                    </a:r>
                    <a:r>
                      <a:rPr lang="en-US" sz="1213" b="1" dirty="0">
                        <a:latin typeface="Overpass" pitchFamily="2" charset="0"/>
                      </a:rPr>
                      <a:t>	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Performance Optimization: </a:t>
                    </a:r>
                    <a:r>
                      <a:rPr lang="en-US" sz="1100" dirty="0">
                        <a:latin typeface="Overpass" pitchFamily="2" charset="0"/>
                      </a:rPr>
                      <a:t>Led cross-functional teams to deliver data-driven products, utilizing </a:t>
                    </a:r>
                    <a:r>
                      <a:rPr lang="en-US" sz="1100" b="1" dirty="0">
                        <a:latin typeface="Overpass" pitchFamily="2" charset="0"/>
                      </a:rPr>
                      <a:t>A/B experiments</a:t>
                    </a:r>
                    <a:r>
                      <a:rPr lang="en-US" sz="1100" dirty="0">
                        <a:latin typeface="Overpass" pitchFamily="2" charset="0"/>
                      </a:rPr>
                      <a:t> to validate hypotheses and improve conversion funnels.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Agile Leadership: </a:t>
                    </a:r>
                    <a:r>
                      <a:rPr lang="en-US" sz="1100" dirty="0">
                        <a:latin typeface="Overpass" pitchFamily="2" charset="0"/>
                      </a:rPr>
                      <a:t>Introduced Agile methodologies that accelerated Time-to-Market by 20% for complex, high-traffic platforms.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Analytics:</a:t>
                    </a:r>
                    <a:r>
                      <a:rPr lang="en-US" sz="1100" dirty="0">
                        <a:latin typeface="Overpass" pitchFamily="2" charset="0"/>
                      </a:rPr>
                      <a:t> Defined product KPIs and monitored user behavior to drive continuous improvement in adoption (+22% QoQ).</a:t>
                    </a:r>
                  </a:p>
                </p:txBody>
              </p:sp>
              <p:sp>
                <p:nvSpPr>
                  <p:cNvPr id="242" name="Text Placeholder 45">
                    <a:extLst>
                      <a:ext uri="{FF2B5EF4-FFF2-40B4-BE49-F238E27FC236}">
                        <a16:creationId xmlns:a16="http://schemas.microsoft.com/office/drawing/2014/main" id="{736313EA-3C2D-C5A9-2ED3-22681A16B47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9577" y="2560328"/>
                    <a:ext cx="2719752" cy="199157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600" b="1" kern="1200">
                        <a:solidFill>
                          <a:schemeClr val="accent5"/>
                        </a:solidFill>
                        <a:latin typeface="+mj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53" u="sng" dirty="0">
                        <a:solidFill>
                          <a:srgbClr val="10ABE2"/>
                        </a:solidFill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Professional experience</a:t>
                    </a:r>
                  </a:p>
                </p:txBody>
              </p:sp>
              <p:sp>
                <p:nvSpPr>
                  <p:cNvPr id="9" name="Text Placeholder 52">
                    <a:extLst>
                      <a:ext uri="{FF2B5EF4-FFF2-40B4-BE49-F238E27FC236}">
                        <a16:creationId xmlns:a16="http://schemas.microsoft.com/office/drawing/2014/main" id="{6871FAD5-DAC9-2E88-43EE-71DE2313B5B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8603" y="4795505"/>
                    <a:ext cx="6943717" cy="193368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Pharmabest Inc. &amp; Philtel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Executive QA Manager | 2011 </a:t>
                    </a:r>
                    <a:r>
                      <a:rPr lang="en-US" sz="1200" b="1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– 2013</a:t>
                    </a:r>
                    <a:endPara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Led QA and compliance for medical food/device products.</a:t>
                    </a:r>
                    <a:endPara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10" name="Text Placeholder 52">
                    <a:extLst>
                      <a:ext uri="{FF2B5EF4-FFF2-40B4-BE49-F238E27FC236}">
                        <a16:creationId xmlns:a16="http://schemas.microsoft.com/office/drawing/2014/main" id="{BA499EBC-730C-6472-42B1-4FBCAD1BA5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6035" y="4996115"/>
                    <a:ext cx="6931149" cy="236466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4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Blau Pharmaceuticals Services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Regulatory Affairs Consultant &amp; Team Lead 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2009 - 2011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it-IT" sz="1100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Pharmaceuticals Regulatory Consultant -</a:t>
                    </a:r>
                    <a:r>
                      <a:rPr lang="en-US" sz="1100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Managed pharma regulatory submissions and documentation.</a:t>
                    </a:r>
                    <a:endPara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C75DF8-197B-BFD3-34D2-297D5EA3D2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399" y="4017353"/>
                  <a:ext cx="6810206" cy="12060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TouchE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AI interactive video Platform | Co-Founder &amp; Product Lead | 2018 - 2024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GenAI for Publishers: </a:t>
                  </a:r>
                  <a:r>
                    <a:rPr lang="en-US" sz="1100" dirty="0">
                      <a:latin typeface="Overpass" pitchFamily="2" charset="0"/>
                    </a:rPr>
                    <a:t>Led the development of </a:t>
                  </a:r>
                  <a:r>
                    <a:rPr lang="en-US" sz="1100" b="1" dirty="0">
                      <a:latin typeface="Overpass" pitchFamily="2" charset="0"/>
                    </a:rPr>
                    <a:t>Generative AI tools </a:t>
                  </a:r>
                  <a:r>
                    <a:rPr lang="en-US" sz="1100" dirty="0">
                      <a:latin typeface="Overpass" pitchFamily="2" charset="0"/>
                    </a:rPr>
                    <a:t>that enabled publishers to automate content creation and enrichment, significantly reducing production time.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Monetization &amp; Engagement: </a:t>
                  </a:r>
                  <a:r>
                    <a:rPr lang="en-US" sz="1100" dirty="0">
                      <a:latin typeface="Overpass" pitchFamily="2" charset="0"/>
                    </a:rPr>
                    <a:t>Designed interactive ad-units and content experiences for major media partners (Eros Now, HOT), driving a </a:t>
                  </a:r>
                  <a:r>
                    <a:rPr lang="en-US" sz="1100" b="1" dirty="0">
                      <a:latin typeface="Overpass" pitchFamily="2" charset="0"/>
                    </a:rPr>
                    <a:t>24% increase in audience engagement </a:t>
                  </a:r>
                  <a:r>
                    <a:rPr lang="en-US" sz="1100" dirty="0">
                      <a:latin typeface="Overpass" pitchFamily="2" charset="0"/>
                    </a:rPr>
                    <a:t>and revenue growth.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Data-Driven Roadmap: </a:t>
                  </a:r>
                  <a:r>
                    <a:rPr lang="en-US" sz="1100" dirty="0">
                      <a:latin typeface="Overpass" pitchFamily="2" charset="0"/>
                    </a:rPr>
                    <a:t>Managed the product lifecycle based on rigorous A/B testing and user analytics, identifying opportunities to optimize click-through rates (CTR) and retention.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End-to-End Execution: </a:t>
                  </a:r>
                  <a:r>
                    <a:rPr lang="en-US" sz="1100" dirty="0">
                      <a:latin typeface="Overpass" pitchFamily="2" charset="0"/>
                    </a:rPr>
                    <a:t>Collaborated with Engineering, Data, and Marketing teams to launch multi-platform products (Web, Mobile, TV), ensuring alignment with strategic business goals.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Market Strategy: </a:t>
                  </a:r>
                  <a:r>
                    <a:rPr lang="en-US" sz="1100" dirty="0">
                      <a:latin typeface="Overpass" pitchFamily="2" charset="0"/>
                    </a:rPr>
                    <a:t>Conducted market research and user testing to tailor the product for the </a:t>
                  </a:r>
                  <a:r>
                    <a:rPr lang="en-US" sz="1100" b="1" dirty="0">
                      <a:latin typeface="Overpass" pitchFamily="2" charset="0"/>
                    </a:rPr>
                    <a:t>Publisher ecosystem</a:t>
                  </a:r>
                  <a:r>
                    <a:rPr lang="en-US" sz="1100" dirty="0">
                      <a:latin typeface="Overpass" pitchFamily="2" charset="0"/>
                    </a:rPr>
                    <a:t>, bridging the gap between editorial needs and commercial KPIs</a:t>
                  </a:r>
                </a:p>
              </p:txBody>
            </p:sp>
          </p:grpSp>
          <p:sp>
            <p:nvSpPr>
              <p:cNvPr id="7" name="Text Placeholder 52">
                <a:extLst>
                  <a:ext uri="{FF2B5EF4-FFF2-40B4-BE49-F238E27FC236}">
                    <a16:creationId xmlns:a16="http://schemas.microsoft.com/office/drawing/2014/main" id="{C74AC998-3F7B-596D-682D-63841FD8B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665" y="3624596"/>
                <a:ext cx="6568161" cy="633470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Inon Baasov Ltd.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| GenAI Product Consultant | 2024 – Present</a:t>
                </a:r>
              </a:p>
              <a:p>
                <a:pPr marL="188989" indent="-188989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Advising startups on Generative AI strategies, defining use cases for LLMs in content generation and user personalization.</a:t>
                </a:r>
              </a:p>
              <a:p>
                <a:pPr marL="188989" indent="-188989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Translating complex AI capabilities into intuitive product features that drive measurable business outcomes.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C0995E-FBCA-6FEB-CDBA-FF92ABB0404A}"/>
                </a:ext>
              </a:extLst>
            </p:cNvPr>
            <p:cNvSpPr txBox="1"/>
            <p:nvPr/>
          </p:nvSpPr>
          <p:spPr>
            <a:xfrm>
              <a:off x="111853" y="7794133"/>
              <a:ext cx="6752819" cy="29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latin typeface="Overpass" pitchFamily="2" charset="0"/>
                </a:rPr>
                <a:t>PREVIOUS EXPERIENCE (QUALITY &amp; REGULATION)</a:t>
              </a:r>
              <a:endParaRPr lang="en-IL" sz="1200" b="1" dirty="0"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117315</TotalTime>
  <Words>543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2026-01-19T13:42:45Z</dcterms:modified>
</cp:coreProperties>
</file>