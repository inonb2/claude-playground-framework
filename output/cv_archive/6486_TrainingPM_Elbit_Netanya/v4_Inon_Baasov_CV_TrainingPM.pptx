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7559675" cy="10691813"/>
  <p:notesSz cx="6858000" cy="9144000"/>
  <p:defaultTextStyle>
    <a:defPPr>
      <a:defRPr lang="en-US"/>
    </a:defPPr>
    <a:lvl1pPr marL="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398" userDrawn="1">
          <p15:clr>
            <a:srgbClr val="A4A3A4"/>
          </p15:clr>
        </p15:guide>
        <p15:guide id="2" pos="291" userDrawn="1">
          <p15:clr>
            <a:srgbClr val="A4A3A4"/>
          </p15:clr>
        </p15:guide>
        <p15:guide id="3" pos="4471" userDrawn="1">
          <p15:clr>
            <a:srgbClr val="A4A3A4"/>
          </p15:clr>
        </p15:guide>
        <p15:guide id="4" orient="horz" pos="561" userDrawn="1">
          <p15:clr>
            <a:srgbClr val="A4A3A4"/>
          </p15:clr>
        </p15:guide>
        <p15:guide id="5" pos="243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ABE2"/>
    <a:srgbClr val="5E429C"/>
    <a:srgbClr val="4E3781"/>
    <a:srgbClr val="7233FF"/>
    <a:srgbClr val="726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55DF29-EEDA-4695-8AD7-D679D952D93F}" v="6" dt="2026-01-25T09:42:30.2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42" autoAdjust="0"/>
    <p:restoredTop sz="95223" autoAdjust="0"/>
  </p:normalViewPr>
  <p:slideViewPr>
    <p:cSldViewPr snapToGrid="0" snapToObjects="1" showGuides="1">
      <p:cViewPr varScale="1">
        <p:scale>
          <a:sx n="61" d="100"/>
          <a:sy n="61" d="100"/>
        </p:scale>
        <p:origin x="3708" y="282"/>
      </p:cViewPr>
      <p:guideLst>
        <p:guide orient="horz" pos="6398"/>
        <p:guide pos="291"/>
        <p:guide pos="4471"/>
        <p:guide orient="horz" pos="561"/>
        <p:guide pos="24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6/11/relationships/changesInfo" Target="changesInfos/changesInfo1.xml"/><Relationship Id="rId10" Type="http://schemas.microsoft.com/office/2015/10/relationships/revisionInfo" Target="revisionInfo.xml"/><Relationship Id="rId11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on Baasov" userId="675f8575db202d33" providerId="LiveId" clId="{6535A8C2-D6D1-40A6-B57B-6CAB1510FB70}"/>
    <pc:docChg chg="undo custSel modSld">
      <pc:chgData name="Inon Baasov" userId="675f8575db202d33" providerId="LiveId" clId="{6535A8C2-D6D1-40A6-B57B-6CAB1510FB70}" dt="2026-01-25T09:42:29.749" v="906" actId="1038"/>
      <pc:docMkLst>
        <pc:docMk/>
      </pc:docMkLst>
      <pc:sldChg chg="addSp delSp modSp mod modClrScheme chgLayout">
        <pc:chgData name="Inon Baasov" userId="675f8575db202d33" providerId="LiveId" clId="{6535A8C2-D6D1-40A6-B57B-6CAB1510FB70}" dt="2026-01-25T09:42:29.749" v="906" actId="1038"/>
        <pc:sldMkLst>
          <pc:docMk/>
          <pc:sldMk cId="1945325877" sldId="260"/>
        </pc:sldMkLst>
        <pc:spChg chg="mod">
          <ac:chgData name="Inon Baasov" userId="675f8575db202d33" providerId="LiveId" clId="{6535A8C2-D6D1-40A6-B57B-6CAB1510FB70}" dt="2026-01-01T17:03:44.071" v="734" actId="1035"/>
          <ac:spMkLst>
            <pc:docMk/>
            <pc:sldMk cId="1945325877" sldId="260"/>
            <ac:spMk id="3" creationId="{550F18B5-1245-2B4C-AA47-F39938FA615F}"/>
          </ac:spMkLst>
        </pc:spChg>
        <pc:spChg chg="mod">
          <ac:chgData name="Inon Baasov" userId="675f8575db202d33" providerId="LiveId" clId="{6535A8C2-D6D1-40A6-B57B-6CAB1510FB70}" dt="2026-01-01T17:05:44.588" v="778" actId="3064"/>
          <ac:spMkLst>
            <pc:docMk/>
            <pc:sldMk cId="1945325877" sldId="260"/>
            <ac:spMk id="5" creationId="{CD85A639-1B8A-878B-04BB-3EE82339007A}"/>
          </ac:spMkLst>
        </pc:spChg>
        <pc:spChg chg="mod">
          <ac:chgData name="Inon Baasov" userId="675f8575db202d33" providerId="LiveId" clId="{6535A8C2-D6D1-40A6-B57B-6CAB1510FB70}" dt="2026-01-01T17:11:30.676" v="871" actId="6549"/>
          <ac:spMkLst>
            <pc:docMk/>
            <pc:sldMk cId="1945325877" sldId="260"/>
            <ac:spMk id="7" creationId="{C74AC998-3F7B-596D-682D-63841FD8BC26}"/>
          </ac:spMkLst>
        </pc:spChg>
        <pc:spChg chg="mod">
          <ac:chgData name="Inon Baasov" userId="675f8575db202d33" providerId="LiveId" clId="{6535A8C2-D6D1-40A6-B57B-6CAB1510FB70}" dt="2026-01-01T17:11:47.326" v="875" actId="6549"/>
          <ac:spMkLst>
            <pc:docMk/>
            <pc:sldMk cId="1945325877" sldId="260"/>
            <ac:spMk id="9" creationId="{6871FAD5-DAC9-2E88-43EE-71DE2313B5BC}"/>
          </ac:spMkLst>
        </pc:spChg>
        <pc:spChg chg="mod">
          <ac:chgData name="Inon Baasov" userId="675f8575db202d33" providerId="LiveId" clId="{6535A8C2-D6D1-40A6-B57B-6CAB1510FB70}" dt="2026-01-01T17:11:50.164" v="876" actId="6549"/>
          <ac:spMkLst>
            <pc:docMk/>
            <pc:sldMk cId="1945325877" sldId="260"/>
            <ac:spMk id="10" creationId="{BA499EBC-730C-6472-42B1-4FBCAD1BA552}"/>
          </ac:spMkLst>
        </pc:spChg>
        <pc:spChg chg="mod">
          <ac:chgData name="Inon Baasov" userId="675f8575db202d33" providerId="LiveId" clId="{6535A8C2-D6D1-40A6-B57B-6CAB1510FB70}" dt="2026-01-01T17:12:00.015" v="879" actId="20577"/>
          <ac:spMkLst>
            <pc:docMk/>
            <pc:sldMk cId="1945325877" sldId="260"/>
            <ac:spMk id="11" creationId="{D6C75DF8-197B-BFD3-34D2-297D5EA3D213}"/>
          </ac:spMkLst>
        </pc:spChg>
        <pc:spChg chg="add mod">
          <ac:chgData name="Inon Baasov" userId="675f8575db202d33" providerId="LiveId" clId="{6535A8C2-D6D1-40A6-B57B-6CAB1510FB70}" dt="2026-01-25T09:42:29.749" v="906" actId="1038"/>
          <ac:spMkLst>
            <pc:docMk/>
            <pc:sldMk cId="1945325877" sldId="260"/>
            <ac:spMk id="13" creationId="{4249E103-E362-6B04-7D88-6E8B0D33FDDF}"/>
          </ac:spMkLst>
        </pc:spChg>
        <pc:spChg chg="mod ord">
          <ac:chgData name="Inon Baasov" userId="675f8575db202d33" providerId="LiveId" clId="{6535A8C2-D6D1-40A6-B57B-6CAB1510FB70}" dt="2026-01-01T17:03:44.071" v="734" actId="1035"/>
          <ac:spMkLst>
            <pc:docMk/>
            <pc:sldMk cId="1945325877" sldId="260"/>
            <ac:spMk id="73" creationId="{2FD50699-45B5-88EC-1B42-E5597AB067CD}"/>
          </ac:spMkLst>
        </pc:spChg>
        <pc:spChg chg="mod ord">
          <ac:chgData name="Inon Baasov" userId="675f8575db202d33" providerId="LiveId" clId="{6535A8C2-D6D1-40A6-B57B-6CAB1510FB70}" dt="2026-01-01T17:03:44.071" v="734" actId="1035"/>
          <ac:spMkLst>
            <pc:docMk/>
            <pc:sldMk cId="1945325877" sldId="260"/>
            <ac:spMk id="74" creationId="{132E1DF2-8DF7-6940-4374-52DB65EC3761}"/>
          </ac:spMkLst>
        </pc:spChg>
        <pc:spChg chg="mod ord">
          <ac:chgData name="Inon Baasov" userId="675f8575db202d33" providerId="LiveId" clId="{6535A8C2-D6D1-40A6-B57B-6CAB1510FB70}" dt="2026-01-01T17:03:44.071" v="734" actId="1035"/>
          <ac:spMkLst>
            <pc:docMk/>
            <pc:sldMk cId="1945325877" sldId="260"/>
            <ac:spMk id="75" creationId="{23DA089B-1D05-556D-253C-262F0FA50B68}"/>
          </ac:spMkLst>
        </pc:spChg>
        <pc:spChg chg="mod">
          <ac:chgData name="Inon Baasov" userId="675f8575db202d33" providerId="LiveId" clId="{6535A8C2-D6D1-40A6-B57B-6CAB1510FB70}" dt="2026-01-01T17:11:41.287" v="874" actId="20577"/>
          <ac:spMkLst>
            <pc:docMk/>
            <pc:sldMk cId="1945325877" sldId="260"/>
            <ac:spMk id="154" creationId="{7B120799-BCC3-8E46-2EA5-CFAE368C1FC7}"/>
          </ac:spMkLst>
        </pc:spChg>
        <pc:spChg chg="mod">
          <ac:chgData name="Inon Baasov" userId="675f8575db202d33" providerId="LiveId" clId="{6535A8C2-D6D1-40A6-B57B-6CAB1510FB70}" dt="2026-01-01T17:05:32.422" v="768" actId="3064"/>
          <ac:spMkLst>
            <pc:docMk/>
            <pc:sldMk cId="1945325877" sldId="260"/>
            <ac:spMk id="174" creationId="{67D1E309-1ED9-E676-89A4-61C198105A97}"/>
          </ac:spMkLst>
        </pc:spChg>
        <pc:spChg chg="mod">
          <ac:chgData name="Inon Baasov" userId="675f8575db202d33" providerId="LiveId" clId="{6535A8C2-D6D1-40A6-B57B-6CAB1510FB70}" dt="2026-01-01T17:05:32.422" v="768" actId="3064"/>
          <ac:spMkLst>
            <pc:docMk/>
            <pc:sldMk cId="1945325877" sldId="260"/>
            <ac:spMk id="231" creationId="{341669B1-8344-D7A4-D12E-8D04FAB5F455}"/>
          </ac:spMkLst>
        </pc:spChg>
        <pc:grpChg chg="mod">
          <ac:chgData name="Inon Baasov" userId="675f8575db202d33" providerId="LiveId" clId="{6535A8C2-D6D1-40A6-B57B-6CAB1510FB70}" dt="2026-01-01T17:03:48.633" v="745" actId="1035"/>
          <ac:grpSpMkLst>
            <pc:docMk/>
            <pc:sldMk cId="1945325877" sldId="260"/>
            <ac:grpSpMk id="2" creationId="{E8F3DD04-3596-890A-0289-4F6EC51FBB48}"/>
          </ac:grpSpMkLst>
        </pc:grpChg>
        <pc:grpChg chg="mod">
          <ac:chgData name="Inon Baasov" userId="675f8575db202d33" providerId="LiveId" clId="{6535A8C2-D6D1-40A6-B57B-6CAB1510FB70}" dt="2026-01-01T17:06:55.329" v="819" actId="1037"/>
          <ac:grpSpMkLst>
            <pc:docMk/>
            <pc:sldMk cId="1945325877" sldId="260"/>
            <ac:grpSpMk id="8" creationId="{0706554B-DAEA-F04A-7818-F1555F0613DF}"/>
          </ac:grpSpMkLst>
        </pc:grpChg>
        <pc:grpChg chg="mod">
          <ac:chgData name="Inon Baasov" userId="675f8575db202d33" providerId="LiveId" clId="{6535A8C2-D6D1-40A6-B57B-6CAB1510FB70}" dt="2026-01-01T17:07:35.375" v="852" actId="1036"/>
          <ac:grpSpMkLst>
            <pc:docMk/>
            <pc:sldMk cId="1945325877" sldId="260"/>
            <ac:grpSpMk id="236" creationId="{BA846034-E5B0-1F9D-ABEB-DA7831B54ABD}"/>
          </ac:grpSpMkLst>
        </pc:gr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D6D3A-6FF1-3245-8C0C-0CDAD9137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1029F-5AC1-4540-B209-199E706F7F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396E7-87BF-864A-BE04-A221C272D6E1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ECBB-A41A-8545-BE90-99EEEFFE5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82C71-B8E6-9B4A-85BE-BA104C2C46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17898-3A10-CF44-A552-3280948685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5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DC7F0-27B3-48E7-9288-964E7EEDAEE4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E8996-8344-4FE8-B696-CB62494C5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59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3628FB-09C0-9218-8AD8-484522160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427053" cy="1069181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3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B405A6-4054-4F5B-DFE8-CC8F1C8A4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427" y="391048"/>
            <a:ext cx="2808595" cy="2066589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5" name="Subtitle 1">
            <a:extLst>
              <a:ext uri="{FF2B5EF4-FFF2-40B4-BE49-F238E27FC236}">
                <a16:creationId xmlns:a16="http://schemas.microsoft.com/office/drawing/2014/main" id="{B5BBB822-3F61-8847-9FE1-AC2152B707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3427" y="2526988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BB9DCF0-3C53-572B-BEDB-E6FF6DAEEE8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33914" y="2963717"/>
            <a:ext cx="221750" cy="2352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848FBFDE-1CD7-2BB9-4D11-81BF1341E12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70872" y="296052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D02C291-F6CF-ACA7-A85C-5A6C846621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33914" y="3254448"/>
            <a:ext cx="221750" cy="2352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A07DDA14-3480-A3E9-1F0C-6BFCC39A012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70872" y="325343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738550BD-6F22-25CD-EC94-B9BAA332E79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433914" y="3558544"/>
            <a:ext cx="221750" cy="2352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DD77BF0B-2F4E-26FF-6061-CE3BA6AE8A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70872" y="355364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D302E13-9436-7180-A8BD-EA7BB15859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3427" y="4158175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1F5ACFB8-6727-BA0B-8F16-5BD074AF86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81978" y="4612322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5537FE34-0820-E912-112A-604D2E8B6F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3785" y="4834106"/>
            <a:ext cx="2486644" cy="659880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Subtitle 3">
            <a:extLst>
              <a:ext uri="{FF2B5EF4-FFF2-40B4-BE49-F238E27FC236}">
                <a16:creationId xmlns:a16="http://schemas.microsoft.com/office/drawing/2014/main" id="{87ABDC44-9CB6-639F-8113-C39B4DC57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505" y="5675743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25B77BB7-8B1E-B710-335A-667CFA293FA8}"/>
              </a:ext>
            </a:extLst>
          </p:cNvPr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481142" y="6182131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05191D3-01D5-CF69-3362-65A63E79FFFB}"/>
              </a:ext>
            </a:extLst>
          </p:cNvPr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481142" y="6182131"/>
            <a:ext cx="1441378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7B91F810-8716-53AA-45FC-BEB0D90351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9988" y="6247118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5100E32E-1E3F-0B39-F82A-95CA4FABA806}"/>
              </a:ext>
            </a:extLst>
          </p:cNvPr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481142" y="6604379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4E4A64E9-E99A-661C-14D2-3651D11A4D39}"/>
              </a:ext>
            </a:extLst>
          </p:cNvPr>
          <p:cNvSpPr>
            <a:spLocks noGrp="1"/>
          </p:cNvSpPr>
          <p:nvPr userDrawn="1">
            <p:ph type="body" sz="quarter" idx="51" hasCustomPrompt="1"/>
          </p:nvPr>
        </p:nvSpPr>
        <p:spPr>
          <a:xfrm>
            <a:off x="481142" y="6604379"/>
            <a:ext cx="1915118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74C7F2F-446E-F9EB-F954-E1237F4FB3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89988" y="6670335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72285F55-A7F4-BFBA-87CF-6E9EC63501EA}"/>
              </a:ext>
            </a:extLst>
          </p:cNvPr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481142" y="7032218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61B721E-905B-B616-1FDC-23DA0F8D7988}"/>
              </a:ext>
            </a:extLst>
          </p:cNvPr>
          <p:cNvSpPr>
            <a:spLocks noGrp="1"/>
          </p:cNvSpPr>
          <p:nvPr userDrawn="1">
            <p:ph type="body" sz="quarter" idx="52" hasCustomPrompt="1"/>
          </p:nvPr>
        </p:nvSpPr>
        <p:spPr>
          <a:xfrm>
            <a:off x="481142" y="7032218"/>
            <a:ext cx="1915118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70A1DD9E-5637-BED4-D81D-26769E3A1D9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9988" y="7111203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8195B5E-5A92-9DF8-69E6-1FDEF8625DA3}"/>
              </a:ext>
            </a:extLst>
          </p:cNvPr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481142" y="7460784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9C13429E-3EB9-27EB-6C4C-198B8A05AE09}"/>
              </a:ext>
            </a:extLst>
          </p:cNvPr>
          <p:cNvSpPr>
            <a:spLocks noGrp="1"/>
          </p:cNvSpPr>
          <p:nvPr userDrawn="1">
            <p:ph type="body" sz="quarter" idx="53" hasCustomPrompt="1"/>
          </p:nvPr>
        </p:nvSpPr>
        <p:spPr>
          <a:xfrm>
            <a:off x="481142" y="7460784"/>
            <a:ext cx="1582492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30F8E052-026B-A2C7-00F9-5A8191673A2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3427" y="7533471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EFFA591-7752-F08D-E538-700399739FF7}"/>
              </a:ext>
            </a:extLst>
          </p:cNvPr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481142" y="7890056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84336FE2-8214-1829-A7AF-834DFC3FBA72}"/>
              </a:ext>
            </a:extLst>
          </p:cNvPr>
          <p:cNvSpPr>
            <a:spLocks noGrp="1"/>
          </p:cNvSpPr>
          <p:nvPr userDrawn="1">
            <p:ph type="body" sz="quarter" idx="54" hasCustomPrompt="1"/>
          </p:nvPr>
        </p:nvSpPr>
        <p:spPr>
          <a:xfrm>
            <a:off x="481142" y="7890056"/>
            <a:ext cx="1582492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2D92D201-D478-AF77-91E0-D694221200A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0505" y="7959197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Subtitle 4">
            <a:extLst>
              <a:ext uri="{FF2B5EF4-FFF2-40B4-BE49-F238E27FC236}">
                <a16:creationId xmlns:a16="http://schemas.microsoft.com/office/drawing/2014/main" id="{16EB345E-375D-D8CB-E3AB-9902A9952D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2670" y="8557631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C77B420B-6BBC-FE4B-C5A3-C2ACD2A877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3785" y="8997162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31D5C524-3FAF-06D9-E34A-A072BA1EE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3785" y="9306334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C2968ADF-5ABD-381F-F8DE-1924F7AE71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3785" y="9576132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Subtitle 5">
            <a:extLst>
              <a:ext uri="{FF2B5EF4-FFF2-40B4-BE49-F238E27FC236}">
                <a16:creationId xmlns:a16="http://schemas.microsoft.com/office/drawing/2014/main" id="{57B755CC-C1F4-1BA2-EE05-6161797B11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0251" y="850719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6701F2F4-7594-5D03-D154-7ABCBE39D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60251" y="131101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BFCDBE8-D7C4-CF4F-E94C-BBB350E776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60251" y="153279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6EACADD5-0C03-B318-5BE9-37EFC79D5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0251" y="1787216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6E42F90-B451-B5B0-7FE5-99BD43EE4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60252" y="2049679"/>
            <a:ext cx="3260109" cy="1491815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231BB45D-9F27-B4AC-930B-75553AB2F6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60251" y="360392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79396527-1343-6E5F-01F2-7F6787FC0A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60251" y="3861348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5DD329E3-4DD8-5AAB-F563-041FA3DA46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60251" y="4115765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AEF84B5D-0AD9-27D5-7981-DC077EDAA1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60251" y="4399611"/>
            <a:ext cx="3362938" cy="1276132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3DE965BF-79E4-51BB-D900-79E5988745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60251" y="571411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9045A0A8-0EF1-B403-236A-2DF3B7A058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760251" y="593589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1E1250C8-A56F-54E4-2F74-E8111C1EB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60251" y="6204572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49A63675-1646-B628-7CDF-CC4F1FB368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60252" y="6481290"/>
            <a:ext cx="3356597" cy="1276132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Subtitle 6">
            <a:extLst>
              <a:ext uri="{FF2B5EF4-FFF2-40B4-BE49-F238E27FC236}">
                <a16:creationId xmlns:a16="http://schemas.microsoft.com/office/drawing/2014/main" id="{99A0F316-873B-EF84-45C8-62541070FC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60251" y="8027221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4D514417-B19E-BA52-F9B2-8DCF47F55B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60251" y="8471838"/>
            <a:ext cx="2486644" cy="150718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1047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8C10ABA-8587-C140-975A-2657A4627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8532" y="475488"/>
            <a:ext cx="5656172" cy="626181"/>
          </a:xfrm>
        </p:spPr>
        <p:txBody>
          <a:bodyPr lIns="0" rIns="0">
            <a:noAutofit/>
          </a:bodyPr>
          <a:lstStyle>
            <a:lvl1pPr>
              <a:defRPr sz="3600" b="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NAME HERE</a:t>
            </a:r>
          </a:p>
        </p:txBody>
      </p:sp>
      <p:sp>
        <p:nvSpPr>
          <p:cNvPr id="20" name="Text Placeholder 18" hidden="1">
            <a:extLst>
              <a:ext uri="{FF2B5EF4-FFF2-40B4-BE49-F238E27FC236}">
                <a16:creationId xmlns:a16="http://schemas.microsoft.com/office/drawing/2014/main" id="{5B977851-1691-7D44-B07D-01B553D09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9318" y="7362192"/>
            <a:ext cx="1691461" cy="27398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EDUCATION</a:t>
            </a:r>
          </a:p>
        </p:txBody>
      </p:sp>
      <p:sp>
        <p:nvSpPr>
          <p:cNvPr id="25" name="Text Placeholder 18" hidden="1">
            <a:extLst>
              <a:ext uri="{FF2B5EF4-FFF2-40B4-BE49-F238E27FC236}">
                <a16:creationId xmlns:a16="http://schemas.microsoft.com/office/drawing/2014/main" id="{420A5075-C2B7-444D-BC6C-6938ACA01F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0073" y="7721705"/>
            <a:ext cx="1499124" cy="316959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School Name</a:t>
            </a:r>
          </a:p>
        </p:txBody>
      </p:sp>
      <p:sp>
        <p:nvSpPr>
          <p:cNvPr id="30" name="Text Placeholder 18" hidden="1">
            <a:extLst>
              <a:ext uri="{FF2B5EF4-FFF2-40B4-BE49-F238E27FC236}">
                <a16:creationId xmlns:a16="http://schemas.microsoft.com/office/drawing/2014/main" id="{5C2D1E8C-5EC6-3F41-93FE-E77D60FCAF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0073" y="8001634"/>
            <a:ext cx="1499124" cy="23813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[Date From]-[To]</a:t>
            </a:r>
          </a:p>
        </p:txBody>
      </p:sp>
      <p:sp>
        <p:nvSpPr>
          <p:cNvPr id="31" name="Text Placeholder 18" hidden="1">
            <a:extLst>
              <a:ext uri="{FF2B5EF4-FFF2-40B4-BE49-F238E27FC236}">
                <a16:creationId xmlns:a16="http://schemas.microsoft.com/office/drawing/2014/main" id="{5262C941-7E67-EA41-A288-3F705E28D2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20073" y="8227082"/>
            <a:ext cx="1499124" cy="23813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[Name of Degree]</a:t>
            </a:r>
          </a:p>
        </p:txBody>
      </p:sp>
      <p:sp>
        <p:nvSpPr>
          <p:cNvPr id="42" name="Text Placeholder 18" hidden="1">
            <a:extLst>
              <a:ext uri="{FF2B5EF4-FFF2-40B4-BE49-F238E27FC236}">
                <a16:creationId xmlns:a16="http://schemas.microsoft.com/office/drawing/2014/main" id="{BF56832D-FE58-2F46-9555-1CCA6C0981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08545" y="8231936"/>
            <a:ext cx="764678" cy="236789"/>
          </a:xfrm>
        </p:spPr>
        <p:txBody>
          <a:bodyPr lIns="0" rIns="0"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GPA</a:t>
            </a:r>
          </a:p>
        </p:txBody>
      </p:sp>
      <p:sp>
        <p:nvSpPr>
          <p:cNvPr id="43" name="Text Placeholder 18" hidden="1">
            <a:extLst>
              <a:ext uri="{FF2B5EF4-FFF2-40B4-BE49-F238E27FC236}">
                <a16:creationId xmlns:a16="http://schemas.microsoft.com/office/drawing/2014/main" id="{FDF93C53-2C8A-884C-B211-EF7B46AB7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8545" y="7779653"/>
            <a:ext cx="764678" cy="460169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4.0</a:t>
            </a:r>
          </a:p>
        </p:txBody>
      </p:sp>
      <p:sp>
        <p:nvSpPr>
          <p:cNvPr id="96" name="Text Placeholder 8" hidden="1">
            <a:extLst>
              <a:ext uri="{FF2B5EF4-FFF2-40B4-BE49-F238E27FC236}">
                <a16:creationId xmlns:a16="http://schemas.microsoft.com/office/drawing/2014/main" id="{2B1A41A9-8C5A-224E-9B99-968DDF5B82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8532" y="1834989"/>
            <a:ext cx="3224947" cy="2909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97" name="Text Placeholder 8" hidden="1">
            <a:extLst>
              <a:ext uri="{FF2B5EF4-FFF2-40B4-BE49-F238E27FC236}">
                <a16:creationId xmlns:a16="http://schemas.microsoft.com/office/drawing/2014/main" id="{621A3ADB-23BD-8F43-BACD-95921D4463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8532" y="2175261"/>
            <a:ext cx="3224947" cy="16888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98" name="Text Placeholder 8" hidden="1">
            <a:extLst>
              <a:ext uri="{FF2B5EF4-FFF2-40B4-BE49-F238E27FC236}">
                <a16:creationId xmlns:a16="http://schemas.microsoft.com/office/drawing/2014/main" id="{D6D17EAF-2F02-AA4A-8E44-8B309C23BE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8532" y="2404349"/>
            <a:ext cx="3224945" cy="800220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99" name="Text Placeholder 8" hidden="1">
            <a:extLst>
              <a:ext uri="{FF2B5EF4-FFF2-40B4-BE49-F238E27FC236}">
                <a16:creationId xmlns:a16="http://schemas.microsoft.com/office/drawing/2014/main" id="{6E210A9C-46CF-E34B-8A51-F4EB49C0E8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18532" y="1339314"/>
            <a:ext cx="3224947" cy="342890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EXPERIENCE</a:t>
            </a:r>
          </a:p>
        </p:txBody>
      </p:sp>
      <p:sp>
        <p:nvSpPr>
          <p:cNvPr id="104" name="Text Placeholder 8" hidden="1">
            <a:extLst>
              <a:ext uri="{FF2B5EF4-FFF2-40B4-BE49-F238E27FC236}">
                <a16:creationId xmlns:a16="http://schemas.microsoft.com/office/drawing/2014/main" id="{5B112CE7-45E8-2E43-A633-DB4096453E1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8532" y="3321421"/>
            <a:ext cx="3224947" cy="2909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5" name="Text Placeholder 8" hidden="1">
            <a:extLst>
              <a:ext uri="{FF2B5EF4-FFF2-40B4-BE49-F238E27FC236}">
                <a16:creationId xmlns:a16="http://schemas.microsoft.com/office/drawing/2014/main" id="{57C75573-1BA8-C749-8829-0A0E96DACB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8532" y="3661693"/>
            <a:ext cx="3224947" cy="16888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6" name="Text Placeholder 8" hidden="1">
            <a:extLst>
              <a:ext uri="{FF2B5EF4-FFF2-40B4-BE49-F238E27FC236}">
                <a16:creationId xmlns:a16="http://schemas.microsoft.com/office/drawing/2014/main" id="{03288328-BBC2-C043-ABA7-6DE1329DE9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8532" y="3890780"/>
            <a:ext cx="3224945" cy="782231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enm ad minim veniam, quis nostrud exercitation.</a:t>
            </a:r>
          </a:p>
        </p:txBody>
      </p:sp>
      <p:sp>
        <p:nvSpPr>
          <p:cNvPr id="107" name="Text Placeholder 8" hidden="1">
            <a:extLst>
              <a:ext uri="{FF2B5EF4-FFF2-40B4-BE49-F238E27FC236}">
                <a16:creationId xmlns:a16="http://schemas.microsoft.com/office/drawing/2014/main" id="{82046C4E-90DA-4347-A96F-BD316B2235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8532" y="4802265"/>
            <a:ext cx="3224947" cy="2909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8" name="Text Placeholder 8" hidden="1">
            <a:extLst>
              <a:ext uri="{FF2B5EF4-FFF2-40B4-BE49-F238E27FC236}">
                <a16:creationId xmlns:a16="http://schemas.microsoft.com/office/drawing/2014/main" id="{D7E3073B-1F03-B344-9CCF-D116EF9641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532" y="5142538"/>
            <a:ext cx="3224947" cy="16888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9" name="Text Placeholder 8" hidden="1">
            <a:extLst>
              <a:ext uri="{FF2B5EF4-FFF2-40B4-BE49-F238E27FC236}">
                <a16:creationId xmlns:a16="http://schemas.microsoft.com/office/drawing/2014/main" id="{2EE283F0-AFCD-5741-8C35-207ABF2D6E5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8532" y="5371625"/>
            <a:ext cx="3224945" cy="829478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141" name="Text Placeholder 18" hidden="1">
            <a:extLst>
              <a:ext uri="{FF2B5EF4-FFF2-40B4-BE49-F238E27FC236}">
                <a16:creationId xmlns:a16="http://schemas.microsoft.com/office/drawing/2014/main" id="{74300729-6F26-BF4C-84B9-420C9383BB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83244" y="8880129"/>
            <a:ext cx="2962622" cy="43933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[www.website.com]</a:t>
            </a:r>
          </a:p>
        </p:txBody>
      </p:sp>
      <p:sp>
        <p:nvSpPr>
          <p:cNvPr id="142" name="Text Placeholder 18" hidden="1">
            <a:extLst>
              <a:ext uri="{FF2B5EF4-FFF2-40B4-BE49-F238E27FC236}">
                <a16:creationId xmlns:a16="http://schemas.microsoft.com/office/drawing/2014/main" id="{DDE57839-AE02-5A48-BA9C-A372F59A8A9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83244" y="9425001"/>
            <a:ext cx="2962622" cy="43933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[E-mail@e-mail.com]</a:t>
            </a:r>
          </a:p>
        </p:txBody>
      </p:sp>
      <p:sp>
        <p:nvSpPr>
          <p:cNvPr id="143" name="Text Placeholder 18" hidden="1">
            <a:extLst>
              <a:ext uri="{FF2B5EF4-FFF2-40B4-BE49-F238E27FC236}">
                <a16:creationId xmlns:a16="http://schemas.microsoft.com/office/drawing/2014/main" id="{D9890AB4-F0C2-C14A-AE40-76B0671D77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383244" y="9975957"/>
            <a:ext cx="2962622" cy="43933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[Phone Number]</a:t>
            </a:r>
          </a:p>
        </p:txBody>
      </p:sp>
      <p:sp>
        <p:nvSpPr>
          <p:cNvPr id="306" name="Text Placeholder 25" hidden="1">
            <a:extLst>
              <a:ext uri="{FF2B5EF4-FFF2-40B4-BE49-F238E27FC236}">
                <a16:creationId xmlns:a16="http://schemas.microsoft.com/office/drawing/2014/main" id="{F296C2BF-1825-2C45-A87E-72A783A27B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963744" y="5093190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POWERPOINT</a:t>
            </a:r>
          </a:p>
        </p:txBody>
      </p:sp>
      <p:sp>
        <p:nvSpPr>
          <p:cNvPr id="310" name="Text Placeholder 25" hidden="1">
            <a:extLst>
              <a:ext uri="{FF2B5EF4-FFF2-40B4-BE49-F238E27FC236}">
                <a16:creationId xmlns:a16="http://schemas.microsoft.com/office/drawing/2014/main" id="{847127D0-A2CA-244C-B0BB-449CC673F0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963744" y="5298796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SOCIAL MEDIA</a:t>
            </a:r>
          </a:p>
        </p:txBody>
      </p:sp>
      <p:sp>
        <p:nvSpPr>
          <p:cNvPr id="312" name="Text Placeholder 25" hidden="1">
            <a:extLst>
              <a:ext uri="{FF2B5EF4-FFF2-40B4-BE49-F238E27FC236}">
                <a16:creationId xmlns:a16="http://schemas.microsoft.com/office/drawing/2014/main" id="{977FAA94-5605-AD4B-8EC7-19418B74B7F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963744" y="5498412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TEAM MANAGEMENT</a:t>
            </a:r>
          </a:p>
        </p:txBody>
      </p:sp>
      <p:sp>
        <p:nvSpPr>
          <p:cNvPr id="317" name="Text Placeholder 25" hidden="1">
            <a:extLst>
              <a:ext uri="{FF2B5EF4-FFF2-40B4-BE49-F238E27FC236}">
                <a16:creationId xmlns:a16="http://schemas.microsoft.com/office/drawing/2014/main" id="{55B31FD5-2D4E-FB40-8D3B-9D64BB06ACE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963744" y="4901474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EXCEL</a:t>
            </a:r>
          </a:p>
        </p:txBody>
      </p:sp>
      <p:sp>
        <p:nvSpPr>
          <p:cNvPr id="318" name="Text Placeholder 25" hidden="1">
            <a:extLst>
              <a:ext uri="{FF2B5EF4-FFF2-40B4-BE49-F238E27FC236}">
                <a16:creationId xmlns:a16="http://schemas.microsoft.com/office/drawing/2014/main" id="{ACC18595-C5AA-D643-9CE9-8E035BE3CBC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963744" y="4687638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WORD</a:t>
            </a:r>
          </a:p>
        </p:txBody>
      </p:sp>
      <p:sp>
        <p:nvSpPr>
          <p:cNvPr id="336" name="Text Placeholder 25" hidden="1">
            <a:extLst>
              <a:ext uri="{FF2B5EF4-FFF2-40B4-BE49-F238E27FC236}">
                <a16:creationId xmlns:a16="http://schemas.microsoft.com/office/drawing/2014/main" id="{8AE7172C-56DA-214E-A8DD-40FE0388312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963744" y="6295985"/>
            <a:ext cx="1462937" cy="218820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ENGLISH</a:t>
            </a:r>
          </a:p>
        </p:txBody>
      </p:sp>
      <p:sp>
        <p:nvSpPr>
          <p:cNvPr id="337" name="Text Placeholder 25" hidden="1">
            <a:extLst>
              <a:ext uri="{FF2B5EF4-FFF2-40B4-BE49-F238E27FC236}">
                <a16:creationId xmlns:a16="http://schemas.microsoft.com/office/drawing/2014/main" id="{A97B1250-9241-564A-A4AB-2492DD96A3E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63744" y="6609368"/>
            <a:ext cx="1462937" cy="218820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FRENCH</a:t>
            </a:r>
          </a:p>
        </p:txBody>
      </p:sp>
      <p:sp>
        <p:nvSpPr>
          <p:cNvPr id="338" name="Text Placeholder 25" hidden="1">
            <a:extLst>
              <a:ext uri="{FF2B5EF4-FFF2-40B4-BE49-F238E27FC236}">
                <a16:creationId xmlns:a16="http://schemas.microsoft.com/office/drawing/2014/main" id="{B200B1D1-4434-5E49-8BFF-B6FF720E1D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963744" y="6925580"/>
            <a:ext cx="1462937" cy="218820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SPANISH</a:t>
            </a:r>
          </a:p>
        </p:txBody>
      </p:sp>
      <p:sp>
        <p:nvSpPr>
          <p:cNvPr id="339" name="Text Placeholder 25" hidden="1">
            <a:extLst>
              <a:ext uri="{FF2B5EF4-FFF2-40B4-BE49-F238E27FC236}">
                <a16:creationId xmlns:a16="http://schemas.microsoft.com/office/drawing/2014/main" id="{C4DC3A9C-1AC5-5343-ACF6-AFB45AB7A46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59049" y="9526649"/>
            <a:ext cx="1597897" cy="30724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MANAGEMENT</a:t>
            </a:r>
          </a:p>
        </p:txBody>
      </p:sp>
      <p:sp>
        <p:nvSpPr>
          <p:cNvPr id="340" name="Text Placeholder 25" hidden="1">
            <a:extLst>
              <a:ext uri="{FF2B5EF4-FFF2-40B4-BE49-F238E27FC236}">
                <a16:creationId xmlns:a16="http://schemas.microsoft.com/office/drawing/2014/main" id="{6004AFFB-6BAF-924B-A5F2-CA7B7E10E57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59049" y="9840033"/>
            <a:ext cx="1597897" cy="30724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DESIGN</a:t>
            </a:r>
          </a:p>
        </p:txBody>
      </p:sp>
      <p:sp>
        <p:nvSpPr>
          <p:cNvPr id="341" name="Text Placeholder 25" hidden="1">
            <a:extLst>
              <a:ext uri="{FF2B5EF4-FFF2-40B4-BE49-F238E27FC236}">
                <a16:creationId xmlns:a16="http://schemas.microsoft.com/office/drawing/2014/main" id="{1E9B43B5-9A43-B448-95A4-FDD649321FC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59049" y="10170210"/>
            <a:ext cx="1597897" cy="27931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DEVELOPMENT</a:t>
            </a:r>
          </a:p>
        </p:txBody>
      </p:sp>
      <p:sp>
        <p:nvSpPr>
          <p:cNvPr id="342" name="Text Placeholder 25" hidden="1">
            <a:extLst>
              <a:ext uri="{FF2B5EF4-FFF2-40B4-BE49-F238E27FC236}">
                <a16:creationId xmlns:a16="http://schemas.microsoft.com/office/drawing/2014/main" id="{1ACF054A-3D21-D642-B4C6-DB5BDAC1927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59049" y="8879303"/>
            <a:ext cx="1597897" cy="337973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ABILITIES</a:t>
            </a:r>
          </a:p>
        </p:txBody>
      </p:sp>
      <p:sp>
        <p:nvSpPr>
          <p:cNvPr id="343" name="Text Placeholder 25" hidden="1">
            <a:extLst>
              <a:ext uri="{FF2B5EF4-FFF2-40B4-BE49-F238E27FC236}">
                <a16:creationId xmlns:a16="http://schemas.microsoft.com/office/drawing/2014/main" id="{7C941C70-D057-D04B-BD74-348163471A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59049" y="9211556"/>
            <a:ext cx="1597897" cy="30724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MARKETING</a:t>
            </a:r>
          </a:p>
        </p:txBody>
      </p:sp>
      <p:sp>
        <p:nvSpPr>
          <p:cNvPr id="344" name="Text Placeholder 25" hidden="1">
            <a:extLst>
              <a:ext uri="{FF2B5EF4-FFF2-40B4-BE49-F238E27FC236}">
                <a16:creationId xmlns:a16="http://schemas.microsoft.com/office/drawing/2014/main" id="{CF61B5C1-8C61-1143-9083-AD58E1C749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308444" y="9542074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10</a:t>
            </a:r>
          </a:p>
        </p:txBody>
      </p:sp>
      <p:sp>
        <p:nvSpPr>
          <p:cNvPr id="345" name="Text Placeholder 25" hidden="1">
            <a:extLst>
              <a:ext uri="{FF2B5EF4-FFF2-40B4-BE49-F238E27FC236}">
                <a16:creationId xmlns:a16="http://schemas.microsoft.com/office/drawing/2014/main" id="{0B7D9C94-0A2C-3B4E-8B05-B7547A9A0E7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308444" y="9864684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7</a:t>
            </a:r>
          </a:p>
        </p:txBody>
      </p:sp>
      <p:sp>
        <p:nvSpPr>
          <p:cNvPr id="346" name="Text Placeholder 25" hidden="1">
            <a:extLst>
              <a:ext uri="{FF2B5EF4-FFF2-40B4-BE49-F238E27FC236}">
                <a16:creationId xmlns:a16="http://schemas.microsoft.com/office/drawing/2014/main" id="{CCE3AE9C-BC12-B743-BF3F-A8308EFB290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308444" y="10171423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3.5</a:t>
            </a:r>
          </a:p>
        </p:txBody>
      </p:sp>
      <p:sp>
        <p:nvSpPr>
          <p:cNvPr id="347" name="Text Placeholder 25" hidden="1">
            <a:extLst>
              <a:ext uri="{FF2B5EF4-FFF2-40B4-BE49-F238E27FC236}">
                <a16:creationId xmlns:a16="http://schemas.microsoft.com/office/drawing/2014/main" id="{F1D2929D-A8D7-274A-A253-E4556D470E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308444" y="9243446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8</a:t>
            </a:r>
          </a:p>
        </p:txBody>
      </p:sp>
      <p:sp>
        <p:nvSpPr>
          <p:cNvPr id="348" name="Text Placeholder 25" hidden="1">
            <a:extLst>
              <a:ext uri="{FF2B5EF4-FFF2-40B4-BE49-F238E27FC236}">
                <a16:creationId xmlns:a16="http://schemas.microsoft.com/office/drawing/2014/main" id="{E4C42072-2D54-8942-9963-4138F93D9F7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308846" y="8879303"/>
            <a:ext cx="1203730" cy="345881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YEARS OF EXPERIENCE</a:t>
            </a:r>
          </a:p>
        </p:txBody>
      </p:sp>
      <p:cxnSp>
        <p:nvCxnSpPr>
          <p:cNvPr id="355" name="Straight Connector 354" hidden="1">
            <a:extLst>
              <a:ext uri="{FF2B5EF4-FFF2-40B4-BE49-F238E27FC236}">
                <a16:creationId xmlns:a16="http://schemas.microsoft.com/office/drawing/2014/main" id="{DF98499B-F2A5-CA4E-943A-53F88D825970}"/>
              </a:ext>
            </a:extLst>
          </p:cNvPr>
          <p:cNvCxnSpPr>
            <a:cxnSpLocks/>
          </p:cNvCxnSpPr>
          <p:nvPr userDrawn="1"/>
        </p:nvCxnSpPr>
        <p:spPr>
          <a:xfrm>
            <a:off x="0" y="1311543"/>
            <a:ext cx="75596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60" hidden="1">
            <a:extLst>
              <a:ext uri="{FF2B5EF4-FFF2-40B4-BE49-F238E27FC236}">
                <a16:creationId xmlns:a16="http://schemas.microsoft.com/office/drawing/2014/main" id="{17521193-60AC-664A-A033-8AA4404C6AA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819317" y="1340189"/>
            <a:ext cx="2934705" cy="351374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INTERNATIONAL EXPERIENCE</a:t>
            </a:r>
          </a:p>
        </p:txBody>
      </p:sp>
      <p:sp>
        <p:nvSpPr>
          <p:cNvPr id="359" name="Text Placeholder 60" hidden="1">
            <a:extLst>
              <a:ext uri="{FF2B5EF4-FFF2-40B4-BE49-F238E27FC236}">
                <a16:creationId xmlns:a16="http://schemas.microsoft.com/office/drawing/2014/main" id="{412CE960-3495-1F42-80A3-840D05EC91C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819317" y="4235204"/>
            <a:ext cx="2934705" cy="351374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SKILLS</a:t>
            </a:r>
          </a:p>
        </p:txBody>
      </p:sp>
      <p:sp>
        <p:nvSpPr>
          <p:cNvPr id="360" name="Text Placeholder 60" hidden="1">
            <a:extLst>
              <a:ext uri="{FF2B5EF4-FFF2-40B4-BE49-F238E27FC236}">
                <a16:creationId xmlns:a16="http://schemas.microsoft.com/office/drawing/2014/main" id="{08F6B783-82B6-B242-AA40-D9F7AE3B8CE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819317" y="5863650"/>
            <a:ext cx="2934705" cy="351374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LANGUAGES</a:t>
            </a:r>
          </a:p>
        </p:txBody>
      </p:sp>
    </p:spTree>
    <p:extLst>
      <p:ext uri="{BB962C8B-B14F-4D97-AF65-F5344CB8AC3E}">
        <p14:creationId xmlns:p14="http://schemas.microsoft.com/office/powerpoint/2010/main" val="2072580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9" y="569244"/>
            <a:ext cx="6520220" cy="20665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9" y="2846201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30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E597E-2F4F-2747-A9DF-6BACAD15E325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4" y="9909730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1" y="9909730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D580D-DD1F-2749-85C8-F9883E4B5E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1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inkedin.com/in/InonBaasov" TargetMode="External"/><Relationship Id="rId3" Type="http://schemas.openxmlformats.org/officeDocument/2006/relationships/hyperlink" Target="https://www.philtel.co.il/" TargetMode="External"/><Relationship Id="rId4" Type="http://schemas.openxmlformats.org/officeDocument/2006/relationships/hyperlink" Target="https://www.blau-p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2FD50699-45B5-88EC-1B42-E5597AB067C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387159" y="921338"/>
            <a:ext cx="1379219" cy="227110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+972-54-444-5856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23DA089B-1D05-556D-253C-262F0FA50B6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721204" y="922732"/>
            <a:ext cx="1451313" cy="207705"/>
          </a:xfrm>
        </p:spPr>
        <p:txBody>
          <a:bodyPr/>
          <a:lstStyle/>
          <a:p>
            <a:r>
              <a:rPr lang="en-US" dirty="0">
                <a:solidFill/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</a:t>
            </a:r>
            <a:r>
              <a:rPr lang="en-US" dirty="0" err="1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inonbaasov</a:t>
            </a:r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0F18B5-1245-2B4C-AA47-F39938FA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865" y="513374"/>
            <a:ext cx="6858000" cy="502338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 BAASOV</a:t>
            </a:r>
            <a:endParaRPr lang="en-IL" sz="2400" dirty="0">
              <a:solidFill>
                <a:schemeClr val="tx1"/>
              </a:solidFill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132E1DF2-8DF7-6940-4374-52DB65EC376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031102" y="922284"/>
            <a:ext cx="1545026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Inonbaasov@gmail.com</a:t>
            </a:r>
          </a:p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BA846034-E5B0-1F9D-ABEB-DA7831B54ABD}"/>
              </a:ext>
            </a:extLst>
          </p:cNvPr>
          <p:cNvGrpSpPr/>
          <p:nvPr/>
        </p:nvGrpSpPr>
        <p:grpSpPr>
          <a:xfrm>
            <a:off x="466520" y="9263407"/>
            <a:ext cx="6645792" cy="936311"/>
            <a:chOff x="93673" y="1854031"/>
            <a:chExt cx="2936874" cy="349897"/>
          </a:xfrm>
        </p:grpSpPr>
        <p:sp>
          <p:nvSpPr>
            <p:cNvPr id="174" name="Text Placeholder 71">
              <a:extLst>
                <a:ext uri="{FF2B5EF4-FFF2-40B4-BE49-F238E27FC236}">
                  <a16:creationId xmlns:a16="http://schemas.microsoft.com/office/drawing/2014/main" id="{67D1E309-1ED9-E676-89A4-61C198105A97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924991"/>
              <a:ext cx="2936874" cy="278937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Executive MBA 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(Entrepreneurship &amp; High-Tech Management),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 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– Israel Institute of Technology,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2016–2018</a:t>
              </a:r>
            </a:p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B.Sc., Biotechnology &amp; Food Engineering, Technion 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– Israel Institute of Technology,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2005–2008</a:t>
              </a:r>
            </a:p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Chemical Engineering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– McGill University, Montreal, Canada,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2004–2005</a:t>
              </a:r>
              <a:endParaRPr lang="en-US" sz="1050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31" name="Text Placeholder 46">
              <a:extLst>
                <a:ext uri="{FF2B5EF4-FFF2-40B4-BE49-F238E27FC236}">
                  <a16:creationId xmlns:a16="http://schemas.microsoft.com/office/drawing/2014/main" id="{341669B1-8344-D7A4-D12E-8D04FAB5F455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854031"/>
              <a:ext cx="629175" cy="12702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sz="1500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Education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8F3DD04-3596-890A-0289-4F6EC51FBB48}"/>
              </a:ext>
            </a:extLst>
          </p:cNvPr>
          <p:cNvGrpSpPr/>
          <p:nvPr/>
        </p:nvGrpSpPr>
        <p:grpSpPr>
          <a:xfrm>
            <a:off x="446088" y="1303882"/>
            <a:ext cx="6666225" cy="1631423"/>
            <a:chOff x="2730795" y="1315393"/>
            <a:chExt cx="4090720" cy="2269810"/>
          </a:xfrm>
        </p:grpSpPr>
        <p:sp>
          <p:nvSpPr>
            <p:cNvPr id="4" name="Text Placeholder 45">
              <a:extLst>
                <a:ext uri="{FF2B5EF4-FFF2-40B4-BE49-F238E27FC236}">
                  <a16:creationId xmlns:a16="http://schemas.microsoft.com/office/drawing/2014/main" id="{A14E25B9-74B7-1D86-F100-61C9666B8B8B}"/>
                </a:ext>
              </a:extLst>
            </p:cNvPr>
            <p:cNvSpPr txBox="1">
              <a:spLocks/>
            </p:cNvSpPr>
            <p:nvPr/>
          </p:nvSpPr>
          <p:spPr>
            <a:xfrm>
              <a:off x="2733799" y="1315393"/>
              <a:ext cx="1514170" cy="40957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500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Professional summary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D85A639-1B8A-878B-04BB-3EE82339007A}"/>
                </a:ext>
              </a:extLst>
            </p:cNvPr>
            <p:cNvSpPr txBox="1"/>
            <p:nvPr/>
          </p:nvSpPr>
          <p:spPr>
            <a:xfrm>
              <a:off x="2730795" y="1650496"/>
              <a:ext cx="4090720" cy="19347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b="1" dirty="0">
                  <a:latin typeface="Overpass" pitchFamily="2" charset="0"/>
                </a:rPr>
                <a:t>Principal Product Owner </a:t>
              </a:r>
              <a:r>
                <a:rPr lang="en-US" sz="1100" dirty="0">
                  <a:latin typeface="Overpass" pitchFamily="2" charset="0"/>
                </a:rPr>
                <a:t>with 10+ years leading cross-functional teams to deliver SaaS and cloud-based solutions. Proven record in translating complex </a:t>
              </a:r>
              <a:r>
                <a:rPr lang="en-US" sz="1100" b="1" dirty="0">
                  <a:latin typeface="Overpass" pitchFamily="2" charset="0"/>
                </a:rPr>
                <a:t>system architecture </a:t>
              </a:r>
              <a:r>
                <a:rPr lang="en-US" sz="1100" dirty="0">
                  <a:latin typeface="Overpass" pitchFamily="2" charset="0"/>
                </a:rPr>
                <a:t>requirements into actionable product roadmaps for high-availability platforms. Experienced in bridging business, engineering, and algorithm teams to prioritize </a:t>
              </a:r>
              <a:r>
                <a:rPr lang="en-US" sz="1100" b="1" dirty="0">
                  <a:latin typeface="Overpass" pitchFamily="2" charset="0"/>
                </a:rPr>
                <a:t>backend services, microservices</a:t>
              </a:r>
              <a:r>
                <a:rPr lang="en-US" sz="1100" dirty="0">
                  <a:latin typeface="Overpass" pitchFamily="2" charset="0"/>
                </a:rPr>
                <a:t>, and data distribution mechanisms. Passionate about building robust infrastructure for </a:t>
              </a:r>
              <a:r>
                <a:rPr lang="en-US" sz="1100" b="1" dirty="0">
                  <a:latin typeface="Overpass" pitchFamily="2" charset="0"/>
                </a:rPr>
                <a:t>regulated, mission-critical</a:t>
              </a:r>
              <a:r>
                <a:rPr lang="en-US" sz="1100" dirty="0">
                  <a:latin typeface="Overpass" pitchFamily="2" charset="0"/>
                </a:rPr>
                <a:t> ecosystems.</a:t>
              </a:r>
            </a:p>
            <a:p>
              <a:r>
                <a:rPr lang="en-US" sz="1100" dirty="0">
                  <a:latin typeface="Overpass" pitchFamily="2" charset="0"/>
                </a:rPr>
                <a:t>Key Skills: Technical Product Management | API Lifecycle Management | Cloud Infrastructure (AWS) | System Architecture Alignment | Microservices Strategy | Backend Roadmap Prioritization | Identity Management (IAM)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706554B-DAEA-F04A-7818-F1555F0613DF}"/>
              </a:ext>
            </a:extLst>
          </p:cNvPr>
          <p:cNvGrpSpPr/>
          <p:nvPr/>
        </p:nvGrpSpPr>
        <p:grpSpPr>
          <a:xfrm>
            <a:off x="359504" y="2989292"/>
            <a:ext cx="6726870" cy="6350669"/>
            <a:chOff x="161926" y="3425452"/>
            <a:chExt cx="6590843" cy="465618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A96F9C5-B4EE-2CE6-5E39-6D2B06DDBAA4}"/>
                </a:ext>
              </a:extLst>
            </p:cNvPr>
            <p:cNvGrpSpPr/>
            <p:nvPr/>
          </p:nvGrpSpPr>
          <p:grpSpPr>
            <a:xfrm>
              <a:off x="161926" y="3425452"/>
              <a:ext cx="6590843" cy="4656183"/>
              <a:chOff x="78398" y="3403413"/>
              <a:chExt cx="6718755" cy="3496306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D943FD8F-B645-F5DD-0443-9670451D8FB5}"/>
                  </a:ext>
                </a:extLst>
              </p:cNvPr>
              <p:cNvGrpSpPr/>
              <p:nvPr/>
            </p:nvGrpSpPr>
            <p:grpSpPr>
              <a:xfrm>
                <a:off x="78398" y="3403413"/>
                <a:ext cx="6718755" cy="3496306"/>
                <a:chOff x="-24741" y="2575123"/>
                <a:chExt cx="6949855" cy="2711605"/>
              </a:xfrm>
            </p:grpSpPr>
            <p:sp>
              <p:nvSpPr>
                <p:cNvPr id="154" name="Text Placeholder 52">
                  <a:extLst>
                    <a:ext uri="{FF2B5EF4-FFF2-40B4-BE49-F238E27FC236}">
                      <a16:creationId xmlns:a16="http://schemas.microsoft.com/office/drawing/2014/main" id="{7B120799-BCC3-8E46-2EA5-CFAE368C1FC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24741" y="4192938"/>
                  <a:ext cx="6943718" cy="66548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en-IL" sz="1200" b="1" u="sng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Arena Plus</a:t>
                  </a:r>
                  <a:r>
                    <a:rPr lang="en-IL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en-IL" sz="1050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Financial Services</a:t>
                  </a:r>
                  <a:r>
                    <a:rPr lang="en-US" sz="1050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en-US" sz="1050" b="1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| </a:t>
                  </a:r>
                  <a:r>
                    <a:rPr lang="en-US" sz="1050" b="1" i="1" dirty="0">
                      <a:latin typeface="Overpass" pitchFamily="2" charset="0"/>
                    </a:rPr>
                    <a:t>Senior Product/Project Manager 	</a:t>
                  </a:r>
                  <a:r>
                    <a:rPr lang="en-US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	               </a:t>
                  </a:r>
                  <a:r>
                    <a:rPr lang="en-US" sz="1200" b="1" dirty="0">
                      <a:latin typeface="Overpass" pitchFamily="2" charset="0"/>
                    </a:rPr>
                    <a:t> 2013 - 2018 </a:t>
                  </a:r>
                  <a:endParaRPr lang="en-US" sz="1100" b="1" dirty="0">
                    <a:latin typeface="Overpass" pitchFamily="2" charset="0"/>
                  </a:endParaRPr>
                </a:p>
                <a:p>
                  <a:pPr marL="85725" indent="-85725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Promoted from Product Manager (2013-2015) to Senior PM (2015-2018)</a:t>
                  </a:r>
                </a:p>
                <a:p>
                  <a:pPr marL="85725" indent="-85725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Managed delivery of secure financial platform projects, introducing Agile frameworks that cut time-to-market by 20%.</a:t>
                  </a:r>
                </a:p>
                <a:p>
                  <a:pPr marL="85725" indent="-85725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Oversaw global development and external UX teams, ensuring roadmap execution and stakeholder alignment for high-volume transaction systems.</a:t>
                  </a:r>
                </a:p>
                <a:p>
                  <a:pPr marL="85725" indent="-85725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Monitored budgets and risks while delivering measurable performance improvements (+22% quarterly usage, +15% revenue expansion).</a:t>
                  </a:r>
                </a:p>
              </p:txBody>
            </p:sp>
            <p:sp>
              <p:nvSpPr>
                <p:cNvPr id="242" name="Text Placeholder 45">
                  <a:extLst>
                    <a:ext uri="{FF2B5EF4-FFF2-40B4-BE49-F238E27FC236}">
                      <a16:creationId xmlns:a16="http://schemas.microsoft.com/office/drawing/2014/main" id="{736313EA-3C2D-C5A9-2ED3-22681A16B47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19577" y="2575123"/>
                  <a:ext cx="2719752" cy="199157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600" b="1" kern="1200">
                      <a:solidFill>
                        <a:schemeClr val="accent5"/>
                      </a:solidFill>
                      <a:latin typeface="+mj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500" u="sng" dirty="0">
                      <a:solidFill>
                        <a:srgbClr val="10ABE2"/>
                      </a:solidFill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Professional experience</a:t>
                  </a:r>
                </a:p>
              </p:txBody>
            </p:sp>
            <p:sp>
              <p:nvSpPr>
                <p:cNvPr id="9" name="Text Placeholder 52">
                  <a:extLst>
                    <a:ext uri="{FF2B5EF4-FFF2-40B4-BE49-F238E27FC236}">
                      <a16:creationId xmlns:a16="http://schemas.microsoft.com/office/drawing/2014/main" id="{6871FAD5-DAC9-2E88-43EE-71DE2313B5B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18603" y="4820463"/>
                  <a:ext cx="6943717" cy="23646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it-IT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3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Pharmabest Inc. &amp; Philtel Inc.</a:t>
                  </a:r>
                  <a:r>
                    <a:rPr lang="it-IT" sz="105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| </a:t>
                  </a:r>
                  <a:r>
                    <a:rPr lang="it-IT" sz="1050" b="1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Exec. QA Manager </a:t>
                  </a:r>
                  <a:r>
                    <a:rPr lang="it-IT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	      		</a:t>
                  </a:r>
                  <a:r>
                    <a:rPr lang="it-IT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               2011 - 2013</a:t>
                  </a:r>
                  <a:endParaRPr lang="it-IT" sz="11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marL="85725" indent="-85725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Managed QA processes for medical devices, ensuring compliance (ISO standards) under strict deadlines.</a:t>
                  </a:r>
                  <a:endParaRPr lang="it-IT" sz="1600" i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10" name="Text Placeholder 52">
                  <a:extLst>
                    <a:ext uri="{FF2B5EF4-FFF2-40B4-BE49-F238E27FC236}">
                      <a16:creationId xmlns:a16="http://schemas.microsoft.com/office/drawing/2014/main" id="{BA499EBC-730C-6472-42B1-4FBCAD1BA55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6035" y="5050262"/>
                  <a:ext cx="6931149" cy="23646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it-IT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4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Blau Pharmaceuticals Services Inc.</a:t>
                  </a:r>
                  <a:r>
                    <a:rPr lang="it-IT" sz="1050" b="1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| Regulatory Affairs Consultant </a:t>
                  </a:r>
                  <a:r>
                    <a:rPr lang="it-IT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	</a:t>
                  </a:r>
                  <a:r>
                    <a:rPr lang="it-IT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               2009 - 2011</a:t>
                  </a:r>
                </a:p>
                <a:p>
                  <a:pPr marL="85725" indent="-85725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Advised pharma companies on regulatory project documentation and compliance affairs</a:t>
                  </a:r>
                  <a:r>
                    <a:rPr lang="it-IT" sz="1100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.</a:t>
                  </a:r>
                </a:p>
              </p:txBody>
            </p: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C75DF8-197B-BFD3-34D2-297D5EA3D21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399" y="4415821"/>
                <a:ext cx="6713716" cy="11409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u="sng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TouchE</a:t>
                </a:r>
                <a:r>
                  <a:rPr lang="en-US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050" i="1" dirty="0">
                    <a:latin typeface="Overpass" pitchFamily="2" charset="0"/>
                  </a:rPr>
                  <a:t>AI interactive video SaaS</a:t>
                </a:r>
                <a:r>
                  <a:rPr lang="en-US" sz="1050" b="1" i="1" dirty="0">
                    <a:latin typeface="Overpass" pitchFamily="2" charset="0"/>
                  </a:rPr>
                  <a:t>  </a:t>
                </a:r>
                <a:r>
                  <a:rPr lang="en-US" sz="1050" b="1" i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| </a:t>
                </a:r>
                <a:r>
                  <a:rPr lang="en-US" sz="1050" b="1" i="1" dirty="0">
                    <a:latin typeface="Overpass" pitchFamily="2" charset="0"/>
                  </a:rPr>
                  <a:t>Co-Founder &amp; Product/Project Lead </a:t>
                </a:r>
                <a:r>
                  <a:rPr lang="en-US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	     2018 - 2024</a:t>
                </a:r>
              </a:p>
              <a:p>
                <a:pPr marL="85725" indent="-85725">
                  <a:spcBef>
                    <a:spcPts val="200"/>
                  </a:spcBef>
                  <a:buFont typeface="Arial" panose="020B0604020202020204" pitchFamily="34" charset="0"/>
                  <a:buChar char="•"/>
                </a:pPr>
                <a:r>
                  <a:rPr lang="en-US" sz="1100" b="1" dirty="0">
                    <a:latin typeface="Overpass" pitchFamily="2" charset="0"/>
                  </a:rPr>
                  <a:t>Backend Strategy</a:t>
                </a:r>
                <a:r>
                  <a:rPr lang="en-US" sz="1100" dirty="0">
                    <a:latin typeface="Overpass" pitchFamily="2" charset="0"/>
                  </a:rPr>
                  <a:t>: Led the product strategy for a high-throughput video PaaS. Defined roadmap for core infrastructure, </a:t>
                </a:r>
                <a:r>
                  <a:rPr lang="en-US" sz="1100" b="1" dirty="0">
                    <a:latin typeface="Overpass" pitchFamily="2" charset="0"/>
                  </a:rPr>
                  <a:t>API distribution</a:t>
                </a:r>
                <a:r>
                  <a:rPr lang="en-US" sz="1100" dirty="0">
                    <a:latin typeface="Overpass" pitchFamily="2" charset="0"/>
                  </a:rPr>
                  <a:t>, and cloud scalability (AWS) to support real-time streaming, securing $2.5M in funding.</a:t>
                </a:r>
                <a:endParaRPr lang="he-IL" sz="1100" dirty="0">
                  <a:latin typeface="Overpass" pitchFamily="2" charset="0"/>
                </a:endParaRPr>
              </a:p>
              <a:p>
                <a:pPr marL="85725" indent="-85725">
                  <a:spcBef>
                    <a:spcPts val="200"/>
                  </a:spcBef>
                  <a:buFont typeface="Arial" panose="020B0604020202020204" pitchFamily="34" charset="0"/>
                  <a:buChar char="•"/>
                </a:pPr>
                <a:r>
                  <a:rPr lang="en-US" sz="1100" b="1" dirty="0">
                    <a:latin typeface="Overpass" pitchFamily="2" charset="0"/>
                  </a:rPr>
                  <a:t>Architecture &amp; Microservices</a:t>
                </a:r>
                <a:r>
                  <a:rPr lang="en-US" sz="1100" dirty="0">
                    <a:latin typeface="Overpass" pitchFamily="2" charset="0"/>
                  </a:rPr>
                  <a:t>: Managed prioritization of </a:t>
                </a:r>
                <a:r>
                  <a:rPr lang="en-US" sz="1100" b="1" dirty="0">
                    <a:latin typeface="Overpass" pitchFamily="2" charset="0"/>
                  </a:rPr>
                  <a:t>microservices</a:t>
                </a:r>
                <a:r>
                  <a:rPr lang="en-US" sz="1100" dirty="0">
                    <a:latin typeface="Overpass" pitchFamily="2" charset="0"/>
                  </a:rPr>
                  <a:t> and data pipelines for Web, Mobile, and Smart-TV endpoints. Collaborated with System Architects to define </a:t>
                </a:r>
                <a:r>
                  <a:rPr lang="en-US" sz="1100" b="1" dirty="0">
                    <a:latin typeface="Overpass" pitchFamily="2" charset="0"/>
                  </a:rPr>
                  <a:t>API contracts </a:t>
                </a:r>
                <a:r>
                  <a:rPr lang="en-US" sz="1100" dirty="0">
                    <a:latin typeface="Overpass" pitchFamily="2" charset="0"/>
                  </a:rPr>
                  <a:t>and data flow requirements.</a:t>
                </a:r>
                <a:endParaRPr lang="he-IL" sz="1100" dirty="0">
                  <a:latin typeface="Overpass" pitchFamily="2" charset="0"/>
                </a:endParaRPr>
              </a:p>
              <a:p>
                <a:pPr marL="85725" indent="-85725">
                  <a:spcBef>
                    <a:spcPts val="200"/>
                  </a:spcBef>
                  <a:buFont typeface="Arial" panose="020B0604020202020204" pitchFamily="34" charset="0"/>
                  <a:buChar char="•"/>
                </a:pPr>
                <a:r>
                  <a:rPr lang="en-US" sz="1100" b="1" dirty="0">
                    <a:latin typeface="Overpass" pitchFamily="2" charset="0"/>
                  </a:rPr>
                  <a:t>Security &amp; Identity</a:t>
                </a:r>
                <a:r>
                  <a:rPr lang="en-US" sz="1100" dirty="0">
                    <a:latin typeface="Overpass" pitchFamily="2" charset="0"/>
                  </a:rPr>
                  <a:t>: Directed complex 3rd-party integrations and </a:t>
                </a:r>
                <a:r>
                  <a:rPr lang="en-US" sz="1100" b="1" dirty="0">
                    <a:latin typeface="Overpass" pitchFamily="2" charset="0"/>
                  </a:rPr>
                  <a:t>Identity Management (IAM) </a:t>
                </a:r>
                <a:r>
                  <a:rPr lang="en-US" sz="1100" dirty="0">
                    <a:latin typeface="Overpass" pitchFamily="2" charset="0"/>
                  </a:rPr>
                  <a:t>workflows (SSO/Auth) for enterprise partners, ensuring secure data distribution.</a:t>
                </a:r>
                <a:endParaRPr lang="he-IL" sz="1100" dirty="0">
                  <a:latin typeface="Overpass" pitchFamily="2" charset="0"/>
                </a:endParaRPr>
              </a:p>
              <a:p>
                <a:pPr marL="85725" indent="-85725">
                  <a:spcBef>
                    <a:spcPts val="200"/>
                  </a:spcBef>
                  <a:buFont typeface="Arial" panose="020B0604020202020204" pitchFamily="34" charset="0"/>
                  <a:buChar char="•"/>
                </a:pPr>
                <a:r>
                  <a:rPr lang="en-US" sz="1100" b="1" dirty="0">
                    <a:latin typeface="Overpass" pitchFamily="2" charset="0"/>
                  </a:rPr>
                  <a:t>Agile Leadership: </a:t>
                </a:r>
                <a:r>
                  <a:rPr lang="en-US" sz="1100" dirty="0">
                    <a:latin typeface="Overpass" pitchFamily="2" charset="0"/>
                  </a:rPr>
                  <a:t>Led development processes, defining user stories and acceptance criteria in collaboration with engineering and algorithm teams, boosting efficiency by </a:t>
                </a:r>
                <a:r>
                  <a:rPr lang="en-US" sz="1100">
                    <a:latin typeface="Overpass" pitchFamily="2" charset="0"/>
                  </a:rPr>
                  <a:t>38%.</a:t>
                </a:r>
                <a:endParaRPr lang="en-US" sz="1100" dirty="0">
                  <a:latin typeface="Overpass" pitchFamily="2" charset="0"/>
                </a:endParaRPr>
              </a:p>
            </p:txBody>
          </p:sp>
        </p:grpSp>
        <p:sp>
          <p:nvSpPr>
            <p:cNvPr id="7" name="Text Placeholder 52">
              <a:extLst>
                <a:ext uri="{FF2B5EF4-FFF2-40B4-BE49-F238E27FC236}">
                  <a16:creationId xmlns:a16="http://schemas.microsoft.com/office/drawing/2014/main" id="{C74AC998-3F7B-596D-682D-63841FD8BC26}"/>
                </a:ext>
              </a:extLst>
            </p:cNvPr>
            <p:cNvSpPr txBox="1">
              <a:spLocks/>
            </p:cNvSpPr>
            <p:nvPr/>
          </p:nvSpPr>
          <p:spPr>
            <a:xfrm>
              <a:off x="179665" y="3582181"/>
              <a:ext cx="6568161" cy="1216609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it-IT" sz="1200" b="1" u="sng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Inon Baasov Ltd</a:t>
              </a:r>
              <a:r>
                <a:rPr lang="it-IT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 </a:t>
              </a:r>
              <a:r>
                <a:rPr lang="it-IT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|</a:t>
              </a:r>
              <a:r>
                <a:rPr lang="it-IT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it-IT" sz="1050" b="1" i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Product Strategy Consultant  </a:t>
              </a:r>
              <a:r>
                <a:rPr lang="it-IT" sz="1050" i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		              </a:t>
              </a:r>
              <a:r>
                <a:rPr lang="it-IT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2024 - Present</a:t>
              </a:r>
            </a:p>
            <a:p>
              <a:pPr marL="85725" indent="-85725">
                <a:lnSpc>
                  <a:spcPct val="1000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Designing </a:t>
              </a:r>
              <a:r>
                <a:rPr lang="en-US" sz="1100" b="1" dirty="0">
                  <a:latin typeface="Overpass" pitchFamily="2" charset="0"/>
                </a:rPr>
                <a:t>model orchestration layers </a:t>
              </a:r>
              <a:r>
                <a:rPr lang="en-US" sz="1100" dirty="0">
                  <a:latin typeface="Overpass" pitchFamily="2" charset="0"/>
                </a:rPr>
                <a:t>and data pipelines for AI startups, focusing on latency, cost-optimization, and backend stability.</a:t>
              </a:r>
            </a:p>
            <a:p>
              <a:pPr marL="85725" indent="-85725">
                <a:lnSpc>
                  <a:spcPct val="1000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Defining technical product strategy for GenAI models, including </a:t>
              </a:r>
              <a:r>
                <a:rPr lang="en-US" sz="1100" b="1" dirty="0">
                  <a:latin typeface="Overpass" pitchFamily="2" charset="0"/>
                </a:rPr>
                <a:t>API usage patterns </a:t>
              </a:r>
              <a:r>
                <a:rPr lang="en-US" sz="1100" dirty="0">
                  <a:latin typeface="Overpass" pitchFamily="2" charset="0"/>
                </a:rPr>
                <a:t>and data evaluation loops to ensure system quality and performance.</a:t>
              </a:r>
            </a:p>
            <a:p>
              <a:pPr marL="85725" indent="-85725">
                <a:lnSpc>
                  <a:spcPct val="1000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Leading project delivery for digital ventures (</a:t>
              </a:r>
              <a:r>
                <a:rPr lang="en-US" sz="1100" dirty="0" err="1">
                  <a:latin typeface="Overpass" pitchFamily="2" charset="0"/>
                </a:rPr>
                <a:t>AiRakoon</a:t>
              </a:r>
              <a:r>
                <a:rPr lang="en-US" sz="1100" dirty="0">
                  <a:latin typeface="Overpass" pitchFamily="2" charset="0"/>
                </a:rPr>
                <a:t>, </a:t>
              </a:r>
              <a:r>
                <a:rPr lang="en-US" sz="1100" dirty="0" err="1">
                  <a:latin typeface="Overpass" pitchFamily="2" charset="0"/>
                </a:rPr>
                <a:t>Medicrowd</a:t>
              </a:r>
              <a:r>
                <a:rPr lang="en-US" sz="1100" dirty="0">
                  <a:latin typeface="Overpass" pitchFamily="2" charset="0"/>
                </a:rPr>
                <a:t>), translating complex operational needs into scalable </a:t>
              </a:r>
              <a:r>
                <a:rPr lang="en-US" sz="1100" b="1" dirty="0">
                  <a:latin typeface="Overpass" pitchFamily="2" charset="0"/>
                </a:rPr>
                <a:t>backend architectures</a:t>
              </a:r>
              <a:r>
                <a:rPr lang="en-US" sz="1100" dirty="0">
                  <a:latin typeface="Overpass" pitchFamily="2" charset="0"/>
                </a:rPr>
                <a:t>.</a:t>
              </a:r>
            </a:p>
            <a:p>
              <a:pPr marL="85725" indent="-85725">
                <a:lnSpc>
                  <a:spcPct val="1000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Defining project milestones and resource allocation for </a:t>
              </a:r>
              <a:r>
                <a:rPr lang="en-US" sz="1100" b="1" dirty="0">
                  <a:latin typeface="Overpass" pitchFamily="2" charset="0"/>
                </a:rPr>
                <a:t>cloud-based solutions</a:t>
              </a:r>
              <a:r>
                <a:rPr lang="en-US" sz="1100" dirty="0">
                  <a:latin typeface="Overpass" pitchFamily="2" charset="0"/>
                </a:rPr>
                <a:t>, ensuring alignment with regulatory and security standards.</a:t>
              </a:r>
              <a:endParaRPr lang="it-IT" sz="1100" i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243" name="TextBox 242"/>
          <p:cNvSpPr txBox="1"/>
          <p:nvPr/>
        </p:nvSpPr>
        <p:spPr>
          <a:xfrm>
            <a:off x="365760" y="1176157"/>
            <a:ext cx="6828155" cy="2077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latin typeface="Overpass"/>
              </a:rPr>
              <a:t>Portfolio  </a:t>
            </a:r>
            <a:r>
              <a:rPr sz="1100">
                <a:latin typeface="Overpass"/>
              </a:rPr>
              <a:t>inonbaasov-website.base44.app</a:t>
            </a:r>
          </a:p>
        </p:txBody>
      </p:sp>
    </p:spTree>
    <p:extLst>
      <p:ext uri="{BB962C8B-B14F-4D97-AF65-F5344CB8AC3E}">
        <p14:creationId xmlns:p14="http://schemas.microsoft.com/office/powerpoint/2010/main" val="1945325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0073E6"/>
      </a:dk2>
      <a:lt2>
        <a:srgbClr val="ECECEC"/>
      </a:lt2>
      <a:accent1>
        <a:srgbClr val="4253B3"/>
      </a:accent1>
      <a:accent2>
        <a:srgbClr val="9C93FF"/>
      </a:accent2>
      <a:accent3>
        <a:srgbClr val="AD547C"/>
      </a:accent3>
      <a:accent4>
        <a:srgbClr val="934DA5"/>
      </a:accent4>
      <a:accent5>
        <a:srgbClr val="6E50B4"/>
      </a:accent5>
      <a:accent6>
        <a:srgbClr val="4F5BB7"/>
      </a:accent6>
      <a:hlink>
        <a:srgbClr val="F83837"/>
      </a:hlink>
      <a:folHlink>
        <a:srgbClr val="58ACF6"/>
      </a:folHlink>
    </a:clrScheme>
    <a:fontScheme name="Custom 31">
      <a:majorFont>
        <a:latin typeface="Georgia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-orchid-resume_win32_SL_v7.potx" id="{A787C318-3181-4A77-B7C8-5722A7A19F30}" vid="{C19FF49A-4F30-46C6-8079-C77920ACD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orchid resume</Template>
  <TotalTime>131164</TotalTime>
  <Words>549</Words>
  <Application>Microsoft Office PowerPoint</Application>
  <PresentationFormat>Custom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Franklin Gothic Book</vt:lpstr>
      <vt:lpstr>Georgia</vt:lpstr>
      <vt:lpstr>Overpass</vt:lpstr>
      <vt:lpstr>Office Theme</vt:lpstr>
      <vt:lpstr>INON BAASOV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Inon Baasov</dc:creator>
  <cp:lastModifiedBy>Inon Baasov</cp:lastModifiedBy>
  <cp:revision>15</cp:revision>
  <dcterms:created xsi:type="dcterms:W3CDTF">2024-07-25T09:15:15Z</dcterms:created>
  <dcterms:modified xsi:type="dcterms:W3CDTF">2026-01-25T09:42:34Z</dcterms:modified>
</cp:coreProperties>
</file>