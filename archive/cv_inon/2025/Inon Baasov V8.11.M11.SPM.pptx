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8B05D-CE3D-4A02-82D4-19A4DC0EE2BD}" v="3" dt="2025-11-26T09:43:42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67" autoAdjust="0"/>
  </p:normalViewPr>
  <p:slideViewPr>
    <p:cSldViewPr snapToGrid="0" snapToObjects="1" showGuides="1">
      <p:cViewPr>
        <p:scale>
          <a:sx n="150" d="100"/>
          <a:sy n="150" d="100"/>
        </p:scale>
        <p:origin x="1392" y="-2052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custSel modSld">
      <pc:chgData name="Inon Baasov" userId="675f8575db202d33" providerId="LiveId" clId="{6535A8C2-D6D1-40A6-B57B-6CAB1510FB70}" dt="2025-11-26T10:00:00.128" v="77" actId="20577"/>
      <pc:docMkLst>
        <pc:docMk/>
      </pc:docMkLst>
      <pc:sldChg chg="modSp mod">
        <pc:chgData name="Inon Baasov" userId="675f8575db202d33" providerId="LiveId" clId="{6535A8C2-D6D1-40A6-B57B-6CAB1510FB70}" dt="2025-11-26T10:00:00.128" v="77" actId="20577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1-26T10:00:00.128" v="77" actId="20577"/>
          <ac:spMkLst>
            <pc:docMk/>
            <pc:sldMk cId="1945325877" sldId="260"/>
            <ac:spMk id="246" creationId="{5148B39D-CF2F-CCD7-1E4A-B285019DF27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orsetherapy.ravpage.co.il/matanproject" TargetMode="External"/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protalix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au-ps.com/" TargetMode="External"/><Relationship Id="rId5" Type="http://schemas.openxmlformats.org/officeDocument/2006/relationships/hyperlink" Target="https://www.philtel.co.il/" TargetMode="External"/><Relationship Id="rId4" Type="http://schemas.openxmlformats.org/officeDocument/2006/relationships/hyperlink" Target="https://www.touchetv.com/" TargetMode="External"/><Relationship Id="rId9" Type="http://schemas.openxmlformats.org/officeDocument/2006/relationships/hyperlink" Target="https://www.asat.org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29">
            <a:extLst>
              <a:ext uri="{FF2B5EF4-FFF2-40B4-BE49-F238E27FC236}">
                <a16:creationId xmlns:a16="http://schemas.microsoft.com/office/drawing/2014/main" id="{D6E71490-AE7A-4BBD-5B76-597A16EF0E2D}"/>
              </a:ext>
            </a:extLst>
          </p:cNvPr>
          <p:cNvSpPr>
            <a:spLocks/>
          </p:cNvSpPr>
          <p:nvPr/>
        </p:nvSpPr>
        <p:spPr>
          <a:xfrm>
            <a:off x="5549407" y="-1"/>
            <a:ext cx="1296439" cy="9144001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760" y="459350"/>
            <a:ext cx="1436870" cy="219514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22108" y="466840"/>
            <a:ext cx="1543238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712210" y="473638"/>
            <a:ext cx="1370185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082"/>
            <a:ext cx="5487810" cy="4645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0" dirty="0">
                <a:solidFill>
                  <a:srgbClr val="5E429C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</a:t>
            </a:r>
            <a:r>
              <a:rPr lang="en-US" sz="28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BAASOV</a:t>
            </a:r>
            <a:endParaRPr lang="en-IL" sz="2800" b="0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7CA4CF9-29BD-84AE-72EC-198E60915FC3}"/>
              </a:ext>
            </a:extLst>
          </p:cNvPr>
          <p:cNvGrpSpPr/>
          <p:nvPr/>
        </p:nvGrpSpPr>
        <p:grpSpPr>
          <a:xfrm>
            <a:off x="70479" y="620836"/>
            <a:ext cx="5460731" cy="1713226"/>
            <a:chOff x="2575122" y="1414660"/>
            <a:chExt cx="4265788" cy="2064034"/>
          </a:xfrm>
        </p:grpSpPr>
        <p:sp>
          <p:nvSpPr>
            <p:cNvPr id="20" name="Text Placeholder 45">
              <a:extLst>
                <a:ext uri="{FF2B5EF4-FFF2-40B4-BE49-F238E27FC236}">
                  <a16:creationId xmlns:a16="http://schemas.microsoft.com/office/drawing/2014/main" id="{B0CE87CB-90EB-8285-0D0E-12A17D1D6AF9}"/>
                </a:ext>
              </a:extLst>
            </p:cNvPr>
            <p:cNvSpPr txBox="1">
              <a:spLocks/>
            </p:cNvSpPr>
            <p:nvPr/>
          </p:nvSpPr>
          <p:spPr>
            <a:xfrm>
              <a:off x="2578642" y="1414660"/>
              <a:ext cx="1799347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F49235-28DB-3ADB-983D-F862C267FC22}"/>
                </a:ext>
              </a:extLst>
            </p:cNvPr>
            <p:cNvSpPr txBox="1"/>
            <p:nvPr/>
          </p:nvSpPr>
          <p:spPr>
            <a:xfrm>
              <a:off x="2575122" y="1615432"/>
              <a:ext cx="4265788" cy="18632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Overpass" pitchFamily="2" charset="0"/>
                </a:rPr>
                <a:t>Results-driven Product Leader with over 10 years of experience in </a:t>
              </a:r>
              <a:r>
                <a:rPr lang="en-US" sz="1050" b="1" dirty="0">
                  <a:latin typeface="Overpass" pitchFamily="2" charset="0"/>
                </a:rPr>
                <a:t>AdTech</a:t>
              </a:r>
              <a:r>
                <a:rPr lang="en-US" sz="1050" dirty="0">
                  <a:latin typeface="Overpass" pitchFamily="2" charset="0"/>
                </a:rPr>
                <a:t>, </a:t>
              </a:r>
              <a:r>
                <a:rPr lang="en-US" sz="1050" b="1" dirty="0">
                  <a:latin typeface="Overpass" pitchFamily="2" charset="0"/>
                </a:rPr>
                <a:t>E-commerce</a:t>
              </a:r>
              <a:r>
                <a:rPr lang="en-US" sz="1050" dirty="0">
                  <a:latin typeface="Overpass" pitchFamily="2" charset="0"/>
                </a:rPr>
                <a:t>, and scalable B2C software solutions. Proven expertise in User Journey Optimization and driving full product lifecycles, from ideation to delivery, using </a:t>
              </a:r>
              <a:r>
                <a:rPr lang="en-US" sz="1050" b="1" dirty="0">
                  <a:latin typeface="Overpass" pitchFamily="2" charset="0"/>
                </a:rPr>
                <a:t>Agile</a:t>
              </a:r>
              <a:r>
                <a:rPr lang="en-US" sz="1050" dirty="0">
                  <a:latin typeface="Overpass" pitchFamily="2" charset="0"/>
                </a:rPr>
                <a:t> methodologies and UI/UX principles (Adobe XD, </a:t>
              </a:r>
              <a:r>
                <a:rPr lang="en-US" sz="1050" b="1" dirty="0">
                  <a:latin typeface="Overpass" pitchFamily="2" charset="0"/>
                </a:rPr>
                <a:t>Figma</a:t>
              </a:r>
              <a:r>
                <a:rPr lang="en-US" sz="1050" dirty="0">
                  <a:latin typeface="Overpass" pitchFamily="2" charset="0"/>
                </a:rPr>
                <a:t>). Successfully delivered cloud-based platforms (</a:t>
              </a:r>
              <a:r>
                <a:rPr lang="en-US" sz="1050" b="1" dirty="0">
                  <a:latin typeface="Overpass" pitchFamily="2" charset="0"/>
                </a:rPr>
                <a:t>AWS</a:t>
              </a:r>
              <a:r>
                <a:rPr lang="en-US" sz="1050" dirty="0">
                  <a:latin typeface="Overpass" pitchFamily="2" charset="0"/>
                </a:rPr>
                <a:t>) and analytics dashboards, increasing product adoption rates by 22% and driving +$2.5M in funding. Collaborated with industry leaders like HOT, Eros now, JVP, and Paramount to create innovative, data-driven solutions. Adept at managing cross-functional teams and aligning product </a:t>
              </a:r>
              <a:r>
                <a:rPr lang="en-US" sz="1050" b="1" dirty="0">
                  <a:latin typeface="Overpass" pitchFamily="2" charset="0"/>
                </a:rPr>
                <a:t>strategy</a:t>
              </a:r>
              <a:r>
                <a:rPr lang="en-US" sz="1050" dirty="0">
                  <a:latin typeface="Overpass" pitchFamily="2" charset="0"/>
                </a:rPr>
                <a:t> with business objectives to achieve measurable growth in fast-paced environments. </a:t>
              </a: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5559052" y="235240"/>
            <a:ext cx="1259336" cy="5789693"/>
            <a:chOff x="99293" y="1837572"/>
            <a:chExt cx="2965829" cy="1603384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9293" y="1890015"/>
              <a:ext cx="2965829" cy="155094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product development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global leadership and high-tech innovation.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en-US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and Food Engineering </a:t>
              </a: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University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 Faculty</a:t>
              </a: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Montreal, Canada</a:t>
              </a: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108001" y="1837572"/>
              <a:ext cx="2591011" cy="135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672A4A-6C29-DCF3-BEE8-C31B38E48458}"/>
              </a:ext>
            </a:extLst>
          </p:cNvPr>
          <p:cNvGrpSpPr/>
          <p:nvPr/>
        </p:nvGrpSpPr>
        <p:grpSpPr>
          <a:xfrm>
            <a:off x="5567363" y="6100110"/>
            <a:ext cx="1270713" cy="853065"/>
            <a:chOff x="112122" y="3874635"/>
            <a:chExt cx="2089955" cy="483043"/>
          </a:xfrm>
        </p:grpSpPr>
        <p:sp>
          <p:nvSpPr>
            <p:cNvPr id="13" name="Text Placeholder 46">
              <a:extLst>
                <a:ext uri="{FF2B5EF4-FFF2-40B4-BE49-F238E27FC236}">
                  <a16:creationId xmlns:a16="http://schemas.microsoft.com/office/drawing/2014/main" id="{5B4377CE-4F6A-3E1A-FF91-C92E8EEEB15D}"/>
                </a:ext>
              </a:extLst>
            </p:cNvPr>
            <p:cNvSpPr>
              <a:spLocks noGrp="1"/>
            </p:cNvSpPr>
            <p:nvPr>
              <p:ph type="body" sz="quarter" idx="13"/>
            </p:nvPr>
          </p:nvSpPr>
          <p:spPr>
            <a:xfrm>
              <a:off x="129403" y="3874635"/>
              <a:ext cx="2072674" cy="148513"/>
            </a:xfrm>
          </p:spPr>
          <p:txBody>
            <a:bodyPr/>
            <a:lstStyle/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Languages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Text Placeholder 65">
              <a:extLst>
                <a:ext uri="{FF2B5EF4-FFF2-40B4-BE49-F238E27FC236}">
                  <a16:creationId xmlns:a16="http://schemas.microsoft.com/office/drawing/2014/main" id="{55D99D62-CA63-6601-5A01-2B2AC93B2D1C}"/>
                </a:ext>
              </a:extLst>
            </p:cNvPr>
            <p:cNvSpPr>
              <a:spLocks noGrp="1"/>
            </p:cNvSpPr>
            <p:nvPr>
              <p:ph type="body" sz="quarter" idx="32"/>
            </p:nvPr>
          </p:nvSpPr>
          <p:spPr>
            <a:xfrm>
              <a:off x="112122" y="4010668"/>
              <a:ext cx="2084357" cy="347010"/>
            </a:xfrm>
          </p:spPr>
          <p:txBody>
            <a:bodyPr anchor="ctr"/>
            <a:lstStyle/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Hebrew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English</a:t>
              </a: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French - basic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11869A-71AB-457B-9139-603F2E676192}"/>
              </a:ext>
            </a:extLst>
          </p:cNvPr>
          <p:cNvGrpSpPr/>
          <p:nvPr/>
        </p:nvGrpSpPr>
        <p:grpSpPr>
          <a:xfrm>
            <a:off x="73971" y="2263765"/>
            <a:ext cx="5508432" cy="5362264"/>
            <a:chOff x="-6072" y="2750821"/>
            <a:chExt cx="5533356" cy="369912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E1DD67-57D0-F5C3-974B-3E17BEFC237D}"/>
                </a:ext>
              </a:extLst>
            </p:cNvPr>
            <p:cNvGrpSpPr/>
            <p:nvPr/>
          </p:nvGrpSpPr>
          <p:grpSpPr>
            <a:xfrm>
              <a:off x="-6072" y="2750821"/>
              <a:ext cx="5529547" cy="3405079"/>
              <a:chOff x="2140471" y="3589243"/>
              <a:chExt cx="4718693" cy="326694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0AF526B-3F4B-D96E-55A8-390A470370EB}"/>
                  </a:ext>
                </a:extLst>
              </p:cNvPr>
              <p:cNvGrpSpPr/>
              <p:nvPr/>
            </p:nvGrpSpPr>
            <p:grpSpPr>
              <a:xfrm>
                <a:off x="2145679" y="3589243"/>
                <a:ext cx="4713485" cy="2741146"/>
                <a:chOff x="2145679" y="3753073"/>
                <a:chExt cx="4713485" cy="2741146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5679" y="5891078"/>
                  <a:ext cx="4681053" cy="60314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Arena Plus Financial Services Ltd.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 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		       </a:t>
                  </a: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Product Manager</a:t>
                  </a:r>
                  <a:endParaRPr kumimoji="0" lang="en-US" sz="1100" b="0" i="1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ct val="1000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Established an Agile culture, cutting product rollout </a:t>
                  </a:r>
                  <a:r>
                    <a:rPr lang="en-US" sz="1000" b="1" dirty="0">
                      <a:latin typeface="Overpass" pitchFamily="2" charset="0"/>
                    </a:rPr>
                    <a:t>TTM</a:t>
                  </a:r>
                  <a:r>
                    <a:rPr lang="en-US" sz="1000" dirty="0">
                      <a:latin typeface="Overpass" pitchFamily="2" charset="0"/>
                    </a:rPr>
                    <a:t> by 20%. Managed lifecycles, global development teams, and 3rd-party UI/UX via JIRA while driving 15% business </a:t>
                  </a:r>
                  <a:r>
                    <a:rPr lang="en-US" sz="1000" b="1" dirty="0">
                      <a:latin typeface="Overpass" pitchFamily="2" charset="0"/>
                    </a:rPr>
                    <a:t>growth</a:t>
                  </a:r>
                  <a:r>
                    <a:rPr lang="en-US" sz="1000" dirty="0">
                      <a:latin typeface="Overpass" pitchFamily="2" charset="0"/>
                    </a:rPr>
                    <a:t> and +22% adoption through strategic roadmaps.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71701" y="3753073"/>
                  <a:ext cx="1928260" cy="20265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148B39D-CF2F-CCD7-1E4A-B285019DF27D}"/>
                    </a:ext>
                  </a:extLst>
                </p:cNvPr>
                <p:cNvSpPr txBox="1"/>
                <p:nvPr/>
              </p:nvSpPr>
              <p:spPr>
                <a:xfrm>
                  <a:off x="2145679" y="3888946"/>
                  <a:ext cx="4713485" cy="2074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TouchE TV</a:t>
                  </a: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 	        			     2018 - 2024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0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Co-Founder, CPO, </a:t>
                  </a:r>
                  <a:r>
                    <a:rPr lang="en-US" sz="10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Raised funds +</a:t>
                  </a:r>
                  <a:r>
                    <a:rPr lang="en-US" sz="10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$2.5M </a:t>
                  </a:r>
                  <a:endParaRPr lang="en-US" sz="100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b="0" i="0" dirty="0">
                      <a:effectLst/>
                      <a:latin typeface="Overpass" pitchFamily="2" charset="0"/>
                    </a:rPr>
                    <a:t>As the CPO, I d</a:t>
                  </a:r>
                  <a:r>
                    <a:rPr lang="en-US" sz="1000" dirty="0">
                      <a:latin typeface="Overpass" pitchFamily="2" charset="0"/>
                    </a:rPr>
                    <a:t>irected </a:t>
                  </a:r>
                  <a:r>
                    <a:rPr lang="en-US" sz="1000" b="1" dirty="0">
                      <a:latin typeface="Overpass" pitchFamily="2" charset="0"/>
                    </a:rPr>
                    <a:t>vision</a:t>
                  </a:r>
                  <a:r>
                    <a:rPr lang="en-US" sz="1000" dirty="0">
                      <a:latin typeface="Overpass" pitchFamily="2" charset="0"/>
                    </a:rPr>
                    <a:t>, </a:t>
                  </a:r>
                  <a:r>
                    <a:rPr lang="en-US" sz="1000" b="1" dirty="0">
                      <a:latin typeface="Overpass" pitchFamily="2" charset="0"/>
                    </a:rPr>
                    <a:t>strategy</a:t>
                  </a:r>
                  <a:r>
                    <a:rPr lang="en-US" sz="1000" dirty="0">
                      <a:latin typeface="Overpass" pitchFamily="2" charset="0"/>
                    </a:rPr>
                    <a:t>, and </a:t>
                  </a:r>
                  <a:r>
                    <a:rPr lang="en-US" sz="1000" b="1" dirty="0">
                      <a:latin typeface="Overpass" pitchFamily="2" charset="0"/>
                    </a:rPr>
                    <a:t>execution</a:t>
                  </a:r>
                  <a:r>
                    <a:rPr lang="en-US" sz="1000" dirty="0">
                      <a:latin typeface="Overpass" pitchFamily="2" charset="0"/>
                    </a:rPr>
                    <a:t> for the TouchE suite of products, managing full product lifecycles using Agile/Scrum methodologies, product analytics (GA/</a:t>
                  </a:r>
                  <a:r>
                    <a:rPr lang="en-US" sz="1000">
                      <a:latin typeface="Overpass" pitchFamily="2" charset="0"/>
                    </a:rPr>
                    <a:t>SQL), </a:t>
                  </a:r>
                  <a:r>
                    <a:rPr lang="en-US" sz="1000" dirty="0">
                      <a:latin typeface="Overpass" pitchFamily="2" charset="0"/>
                    </a:rPr>
                    <a:t>and UI/</a:t>
                  </a:r>
                  <a:r>
                    <a:rPr lang="en-US" sz="1000">
                      <a:latin typeface="Overpass" pitchFamily="2" charset="0"/>
                    </a:rPr>
                    <a:t>UX principles</a:t>
                  </a:r>
                  <a:r>
                    <a:rPr lang="en-US" sz="1000" b="0" i="0">
                      <a:effectLst/>
                      <a:latin typeface="Overpass" pitchFamily="2" charset="0"/>
                    </a:rPr>
                    <a:t>.</a:t>
                  </a:r>
                  <a:endParaRPr lang="en-US" sz="1000" b="0" i="0" dirty="0">
                    <a:effectLst/>
                    <a:latin typeface="Overpass" pitchFamily="2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Designed and launched an integrated video player (Android, iOS, WEB, Smart TV), custom video editor, AWS-powered CMS &amp; marketplace, increasing Ad and E-commerce revenue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Conducted competitive analysis and GTM strategies, driving Onboarding optimizations and A/B testing. 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Led pricing strategy and feature packaging for multi-tier subscription models, directly increasing average revenue per user (ARPU) and adoption in B2B2C markets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Collaborated with offshore and 3rd-party design, R&amp;D, and Algorithm teams, delivering </a:t>
                  </a:r>
                  <a:r>
                    <a:rPr lang="en-US" sz="1000" b="1" dirty="0">
                      <a:latin typeface="Overpass" pitchFamily="2" charset="0"/>
                    </a:rPr>
                    <a:t>scalable</a:t>
                  </a:r>
                  <a:r>
                    <a:rPr lang="en-US" sz="1000" dirty="0">
                      <a:latin typeface="Overpass" pitchFamily="2" charset="0"/>
                    </a:rPr>
                    <a:t>, innovative solutions on tight timelines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Utilized Adobe XD, Figma, and </a:t>
                  </a:r>
                  <a:r>
                    <a:rPr lang="en-US" sz="1000" b="1" dirty="0">
                      <a:latin typeface="Overpass" pitchFamily="2" charset="0"/>
                    </a:rPr>
                    <a:t>JIRA</a:t>
                  </a:r>
                  <a:r>
                    <a:rPr lang="en-US" sz="1000" dirty="0">
                      <a:latin typeface="Overpass" pitchFamily="2" charset="0"/>
                    </a:rPr>
                    <a:t> to oversee UI/UX design, sprint management, and quality assurance, achieving 90% sprint completion on time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Fostered partnerships with global enterprises like Eros Now, JVP, Lion’s Gate, and Paramount, driving market penetration and product innovation</a:t>
                  </a:r>
                  <a:endParaRPr lang="en-IL" sz="1000" kern="10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" name="Text Placeholder 52">
                <a:extLst>
                  <a:ext uri="{FF2B5EF4-FFF2-40B4-BE49-F238E27FC236}">
                    <a16:creationId xmlns:a16="http://schemas.microsoft.com/office/drawing/2014/main" id="{185EBDC0-9B7C-2150-E428-6083DC2811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0471" y="6322702"/>
                <a:ext cx="4713485" cy="2882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</a:t>
                </a:r>
                <a:r>
                  <a:rPr lang="he-IL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82D09191-D253-5D6F-D365-3ACC56261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5679" y="6577554"/>
                <a:ext cx="4708277" cy="278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he-IL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6" name="Text Placeholder 52">
              <a:extLst>
                <a:ext uri="{FF2B5EF4-FFF2-40B4-BE49-F238E27FC236}">
                  <a16:creationId xmlns:a16="http://schemas.microsoft.com/office/drawing/2014/main" id="{C808E312-8B22-7589-285A-1A61537E2842}"/>
                </a:ext>
              </a:extLst>
            </p:cNvPr>
            <p:cNvSpPr txBox="1">
              <a:spLocks/>
            </p:cNvSpPr>
            <p:nvPr/>
          </p:nvSpPr>
          <p:spPr>
            <a:xfrm>
              <a:off x="25782" y="6155909"/>
              <a:ext cx="5501502" cy="29403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  <a:spcBef>
                  <a:spcPts val="600"/>
                </a:spcBef>
              </a:pPr>
              <a:r>
                <a:rPr lang="en-IL" sz="1100" b="1" u="sng" kern="0" dirty="0" err="1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Protalix</a:t>
              </a:r>
              <a:r>
                <a:rPr lang="en-IL" sz="1100" b="1" u="sng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Biopharmaceuticals Inc.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he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L" sz="1100" b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2008 - 2009</a:t>
              </a:r>
              <a:endParaRPr lang="en-US" sz="1100" b="1" u="sng" kern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lab </a:t>
              </a:r>
              <a:r>
                <a:rPr lang="en-IL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QC and QA Analyst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lang="en-IL" sz="1100" kern="100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FB9634-08EE-5BAC-BB38-D4349B97CBF7}"/>
              </a:ext>
            </a:extLst>
          </p:cNvPr>
          <p:cNvGrpSpPr/>
          <p:nvPr/>
        </p:nvGrpSpPr>
        <p:grpSpPr>
          <a:xfrm>
            <a:off x="5558100" y="6946305"/>
            <a:ext cx="1287827" cy="1873865"/>
            <a:chOff x="76854" y="1828715"/>
            <a:chExt cx="2574077" cy="1659468"/>
          </a:xfrm>
        </p:grpSpPr>
        <p:sp>
          <p:nvSpPr>
            <p:cNvPr id="37" name="Text Placeholder 71">
              <a:extLst>
                <a:ext uri="{FF2B5EF4-FFF2-40B4-BE49-F238E27FC236}">
                  <a16:creationId xmlns:a16="http://schemas.microsoft.com/office/drawing/2014/main" id="{0634E0FC-BFF0-0613-D00F-7439C617F1BF}"/>
                </a:ext>
              </a:extLst>
            </p:cNvPr>
            <p:cNvSpPr txBox="1">
              <a:spLocks/>
            </p:cNvSpPr>
            <p:nvPr/>
          </p:nvSpPr>
          <p:spPr>
            <a:xfrm>
              <a:off x="76854" y="2019479"/>
              <a:ext cx="2574077" cy="146870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2000-200</a:t>
              </a:r>
              <a:r>
                <a:rPr lang="he-IL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Israeli Air Force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Planning and Control Department of the Air Force Equipment Group,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Overseeing a 27-soldier roster</a:t>
              </a:r>
            </a:p>
          </p:txBody>
        </p:sp>
        <p:sp>
          <p:nvSpPr>
            <p:cNvPr id="41" name="Text Placeholder 46">
              <a:extLst>
                <a:ext uri="{FF2B5EF4-FFF2-40B4-BE49-F238E27FC236}">
                  <a16:creationId xmlns:a16="http://schemas.microsoft.com/office/drawing/2014/main" id="{BD126F1D-679D-114C-D793-2E053738FEA2}"/>
                </a:ext>
              </a:extLst>
            </p:cNvPr>
            <p:cNvSpPr txBox="1">
              <a:spLocks/>
            </p:cNvSpPr>
            <p:nvPr/>
          </p:nvSpPr>
          <p:spPr>
            <a:xfrm>
              <a:off x="83544" y="1828715"/>
              <a:ext cx="2567387" cy="2424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Military service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2C7D14-6473-C58B-4684-40E574D32C20}"/>
              </a:ext>
            </a:extLst>
          </p:cNvPr>
          <p:cNvGrpSpPr/>
          <p:nvPr/>
        </p:nvGrpSpPr>
        <p:grpSpPr>
          <a:xfrm>
            <a:off x="54335" y="7618814"/>
            <a:ext cx="5434354" cy="1101826"/>
            <a:chOff x="2641380" y="5469010"/>
            <a:chExt cx="4189923" cy="403946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1DFD10-D323-826F-7A7C-1833B48F6D5C}"/>
                </a:ext>
              </a:extLst>
            </p:cNvPr>
            <p:cNvSpPr txBox="1"/>
            <p:nvPr/>
          </p:nvSpPr>
          <p:spPr>
            <a:xfrm>
              <a:off x="2641380" y="6118844"/>
              <a:ext cx="4189923" cy="3389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Ride to Freedom Horse Farm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   	          </a:t>
              </a:r>
              <a:r>
                <a:rPr lang="he-IL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Jan 2024 – Present 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latin typeface="Overpass" pitchFamily="2" charset="0"/>
                </a:rPr>
                <a:t>Project Volunteer: Collaborating with a farm to establish a mental health center for soldiers, 'Nova' party victims, and their families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Technion - Israel Institute of Technology-ASAT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2006 - 2008</a:t>
              </a:r>
            </a:p>
            <a:p>
              <a:pPr defTabSz="685800">
                <a:lnSpc>
                  <a:spcPts val="1400"/>
                </a:lnSpc>
              </a:pP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Chairman, Student Faculty Committee, ASAT Technion</a:t>
              </a:r>
            </a:p>
          </p:txBody>
        </p:sp>
        <p:sp>
          <p:nvSpPr>
            <p:cNvPr id="49" name="Text Placeholder 45">
              <a:extLst>
                <a:ext uri="{FF2B5EF4-FFF2-40B4-BE49-F238E27FC236}">
                  <a16:creationId xmlns:a16="http://schemas.microsoft.com/office/drawing/2014/main" id="{E32A2FC0-CC81-8A27-85B4-1522455EA9EF}"/>
                </a:ext>
              </a:extLst>
            </p:cNvPr>
            <p:cNvSpPr txBox="1">
              <a:spLocks/>
            </p:cNvSpPr>
            <p:nvPr/>
          </p:nvSpPr>
          <p:spPr>
            <a:xfrm>
              <a:off x="2699277" y="5469010"/>
              <a:ext cx="1514113" cy="73094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Volunteering 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30095</TotalTime>
  <Words>606</Words>
  <Application>Microsoft Office PowerPoint</Application>
  <PresentationFormat>Letter Paper (8.5x11 in)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7</cp:revision>
  <dcterms:created xsi:type="dcterms:W3CDTF">2024-07-25T09:15:15Z</dcterms:created>
  <dcterms:modified xsi:type="dcterms:W3CDTF">2025-11-26T10:00:01Z</dcterms:modified>
</cp:coreProperties>
</file>