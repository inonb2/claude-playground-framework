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5533B-C8F4-46B9-A8EA-9C21A751002D}" v="7" dt="2025-07-06T11:10:58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5223" autoAdjust="0"/>
  </p:normalViewPr>
  <p:slideViewPr>
    <p:cSldViewPr snapToGrid="0" snapToObjects="1" showGuides="1">
      <p:cViewPr>
        <p:scale>
          <a:sx n="100" d="100"/>
          <a:sy n="100" d="100"/>
        </p:scale>
        <p:origin x="1670" y="-1495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0CE5533B-C8F4-46B9-A8EA-9C21A751002D}"/>
    <pc:docChg chg="undo custSel modSld">
      <pc:chgData name="Inon Baasov" userId="675f8575db202d33" providerId="LiveId" clId="{0CE5533B-C8F4-46B9-A8EA-9C21A751002D}" dt="2025-07-06T14:17:30.556" v="378" actId="20577"/>
      <pc:docMkLst>
        <pc:docMk/>
      </pc:docMkLst>
      <pc:sldChg chg="delSp modSp mod">
        <pc:chgData name="Inon Baasov" userId="675f8575db202d33" providerId="LiveId" clId="{0CE5533B-C8F4-46B9-A8EA-9C21A751002D}" dt="2025-07-06T14:17:30.556" v="378" actId="20577"/>
        <pc:sldMkLst>
          <pc:docMk/>
          <pc:sldMk cId="1945325877" sldId="260"/>
        </pc:sldMkLst>
        <pc:spChg chg="mod">
          <ac:chgData name="Inon Baasov" userId="675f8575db202d33" providerId="LiveId" clId="{0CE5533B-C8F4-46B9-A8EA-9C21A751002D}" dt="2025-07-06T11:10:58.775" v="237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0CE5533B-C8F4-46B9-A8EA-9C21A751002D}" dt="2025-07-06T11:10:58.775" v="237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0CE5533B-C8F4-46B9-A8EA-9C21A751002D}" dt="2025-07-06T14:17:30.556" v="378" actId="20577"/>
          <ac:spMkLst>
            <pc:docMk/>
            <pc:sldMk cId="1945325877" sldId="260"/>
            <ac:spMk id="11" creationId="{D6C75DF8-197B-BFD3-34D2-297D5EA3D213}"/>
          </ac:spMkLst>
        </pc:spChg>
        <pc:spChg chg="del">
          <ac:chgData name="Inon Baasov" userId="675f8575db202d33" providerId="LiveId" clId="{0CE5533B-C8F4-46B9-A8EA-9C21A751002D}" dt="2025-07-06T11:12:51.947" v="269"/>
          <ac:spMkLst>
            <pc:docMk/>
            <pc:sldMk cId="1945325877" sldId="260"/>
            <ac:spMk id="14" creationId="{A6DAF56C-424A-53AF-D3F0-4B866CB7E67E}"/>
          </ac:spMkLst>
        </pc:spChg>
        <pc:spChg chg="mod">
          <ac:chgData name="Inon Baasov" userId="675f8575db202d33" providerId="LiveId" clId="{0CE5533B-C8F4-46B9-A8EA-9C21A751002D}" dt="2025-07-06T11:12:50.029" v="267" actId="1036"/>
          <ac:spMkLst>
            <pc:docMk/>
            <pc:sldMk cId="1945325877" sldId="260"/>
            <ac:spMk id="154" creationId="{7B120799-BCC3-8E46-2EA5-CFAE368C1FC7}"/>
          </ac:spMkLst>
        </pc:spChg>
        <pc:spChg chg="mod">
          <ac:chgData name="Inon Baasov" userId="675f8575db202d33" providerId="LiveId" clId="{0CE5533B-C8F4-46B9-A8EA-9C21A751002D}" dt="2025-07-06T11:10:58.775" v="237"/>
          <ac:spMkLst>
            <pc:docMk/>
            <pc:sldMk cId="1945325877" sldId="260"/>
            <ac:spMk id="242" creationId="{736313EA-3C2D-C5A9-2ED3-22681A16B477}"/>
          </ac:spMkLst>
        </pc:spChg>
        <pc:grpChg chg="mod">
          <ac:chgData name="Inon Baasov" userId="675f8575db202d33" providerId="LiveId" clId="{0CE5533B-C8F4-46B9-A8EA-9C21A751002D}" dt="2025-07-06T11:10:58.775" v="237"/>
          <ac:grpSpMkLst>
            <pc:docMk/>
            <pc:sldMk cId="1945325877" sldId="260"/>
            <ac:grpSpMk id="6" creationId="{D943FD8F-B645-F5DD-0443-9670451D8FB5}"/>
          </ac:grpSpMkLst>
        </pc:grpChg>
        <pc:grpChg chg="mod">
          <ac:chgData name="Inon Baasov" userId="675f8575db202d33" providerId="LiveId" clId="{0CE5533B-C8F4-46B9-A8EA-9C21A751002D}" dt="2025-07-06T11:11:57.803" v="241" actId="14100"/>
          <ac:grpSpMkLst>
            <pc:docMk/>
            <pc:sldMk cId="1945325877" sldId="260"/>
            <ac:grpSpMk id="12" creationId="{CA96F9C5-B4EE-2CE6-5E39-6D2B06DDBAA4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arena-plus-financial-services-ltd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ouchetv.com/" TargetMode="External"/><Relationship Id="rId5" Type="http://schemas.openxmlformats.org/officeDocument/2006/relationships/hyperlink" Target="https://www.blau-ps.com/" TargetMode="External"/><Relationship Id="rId4" Type="http://schemas.openxmlformats.org/officeDocument/2006/relationships/hyperlink" Target="https://www.philtel.co.i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7729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7738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7743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3077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65833" y="2542821"/>
            <a:ext cx="6430240" cy="1213193"/>
            <a:chOff x="93673" y="1854031"/>
            <a:chExt cx="2936874" cy="523978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68232"/>
              <a:ext cx="2936874" cy="40977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E.MBA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Entrepreneurship and Management in High-Tech Industries,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Israel institute of technology. Focused on strategic product development, global leadership and high-tech innovation.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Biotechnology and Food Engineering,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Chemical Engineering Faculty, McGill University, Montreal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65834" y="933654"/>
            <a:ext cx="6486937" cy="1678697"/>
            <a:chOff x="2730795" y="1315393"/>
            <a:chExt cx="4090720" cy="2335584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38381"/>
              <a:ext cx="4090720" cy="2012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Overpass" pitchFamily="2" charset="0"/>
                </a:rPr>
                <a:t>Senior Product Executive</a:t>
              </a:r>
              <a:r>
                <a:rPr lang="en-US" sz="1100" dirty="0">
                  <a:latin typeface="Overpass" pitchFamily="2" charset="0"/>
                </a:rPr>
                <a:t> with 10+ years of experience leading diverse digital products for B2B2C cloud-based SaaS, AdTech, and E-commerce. My team and I achieved +22%/quarter adoption growth and secured $2.5 million in seed funding. Proven experience as </a:t>
              </a:r>
              <a:r>
                <a:rPr lang="en-US" sz="1100" b="1" dirty="0">
                  <a:latin typeface="Overpass" pitchFamily="2" charset="0"/>
                </a:rPr>
                <a:t>CPO</a:t>
              </a:r>
              <a:r>
                <a:rPr lang="en-US" sz="1100" dirty="0">
                  <a:latin typeface="Overpass" pitchFamily="2" charset="0"/>
                </a:rPr>
                <a:t> and </a:t>
              </a:r>
              <a:r>
                <a:rPr lang="en-US" sz="1100" b="1" dirty="0">
                  <a:latin typeface="Overpass" pitchFamily="2" charset="0"/>
                </a:rPr>
                <a:t>senior product owner/manager</a:t>
              </a:r>
              <a:r>
                <a:rPr lang="en-US" sz="1100" dirty="0">
                  <a:latin typeface="Overpass" pitchFamily="2" charset="0"/>
                </a:rPr>
                <a:t> - defining Product Strategy, marketing, pricing, product ROI, executing data-driven roadmaps, and driving user engagement through integrative product design, engineering, and data analytics. Expert in scaling cloud-based platforms, leveraging AI-powered insights, and optimizing </a:t>
              </a:r>
              <a:r>
                <a:rPr lang="en-US" sz="1100" b="1" dirty="0">
                  <a:latin typeface="Overpass" pitchFamily="2" charset="0"/>
                </a:rPr>
                <a:t>product-market fit</a:t>
              </a:r>
              <a:r>
                <a:rPr lang="en-US" sz="1100" dirty="0">
                  <a:latin typeface="Overpass" pitchFamily="2" charset="0"/>
                </a:rPr>
                <a:t>. Passionate about mentoring, solving complex challenges, building user-centric experiences, and driving </a:t>
              </a:r>
              <a:r>
                <a:rPr lang="en-US" sz="1100" b="1" dirty="0">
                  <a:latin typeface="Overpass" pitchFamily="2" charset="0"/>
                </a:rPr>
                <a:t>revenue</a:t>
              </a:r>
              <a:endParaRPr lang="en-US" sz="1100" dirty="0">
                <a:latin typeface="Overpass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A96F9C5-B4EE-2CE6-5E39-6D2B06DDBAA4}"/>
              </a:ext>
            </a:extLst>
          </p:cNvPr>
          <p:cNvGrpSpPr/>
          <p:nvPr/>
        </p:nvGrpSpPr>
        <p:grpSpPr>
          <a:xfrm>
            <a:off x="265833" y="3701235"/>
            <a:ext cx="6413072" cy="5306693"/>
            <a:chOff x="78398" y="3474258"/>
            <a:chExt cx="6718755" cy="412237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43FD8F-B645-F5DD-0443-9670451D8FB5}"/>
                </a:ext>
              </a:extLst>
            </p:cNvPr>
            <p:cNvGrpSpPr/>
            <p:nvPr/>
          </p:nvGrpSpPr>
          <p:grpSpPr>
            <a:xfrm>
              <a:off x="78398" y="3474258"/>
              <a:ext cx="6718755" cy="4122378"/>
              <a:chOff x="-24741" y="2630067"/>
              <a:chExt cx="6949855" cy="3197158"/>
            </a:xfrm>
          </p:grpSpPr>
          <p:sp>
            <p:nvSpPr>
              <p:cNvPr id="154" name="Text Placeholder 52">
                <a:extLst>
                  <a:ext uri="{FF2B5EF4-FFF2-40B4-BE49-F238E27FC236}">
                    <a16:creationId xmlns:a16="http://schemas.microsoft.com/office/drawing/2014/main" id="{7B120799-BCC3-8E46-2EA5-CFAE368C1F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4741" y="4391611"/>
                <a:ext cx="6943718" cy="10056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Arena Plus Financial Services Ltd.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</a:t>
                </a: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2013 - 2018</a:t>
                </a:r>
                <a:endPara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Senior </a:t>
                </a: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Product Manager</a:t>
                </a:r>
                <a:endParaRPr lang="en-US" sz="1200" b="1" kern="10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Established Agile practices that reduced time-to-market by 20% while managing global development teams and third-party UI/UX partners</a:t>
                </a: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Driving 15% business growth and +22% user adoption. Developed and executed data-driven roadmaps to optimize product performance and elevate user engagement.</a:t>
                </a: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Leveraged hands-on product management expertise that laid the foundation for my later advanced roles as Co-Founder &amp; CPO, ensuring seamless strategic and operational continuity. </a:t>
                </a:r>
                <a:endPara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42" name="Text Placeholder 45">
                <a:extLst>
                  <a:ext uri="{FF2B5EF4-FFF2-40B4-BE49-F238E27FC236}">
                    <a16:creationId xmlns:a16="http://schemas.microsoft.com/office/drawing/2014/main" id="{736313EA-3C2D-C5A9-2ED3-22681A16B4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9577" y="2630067"/>
                <a:ext cx="2719751" cy="1991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5"/>
                    </a:solidFill>
                    <a:latin typeface="+mj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u="sng" dirty="0">
                    <a:solidFill>
                      <a:srgbClr val="10ABE2"/>
                    </a:solidFill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Professional experience</a:t>
                </a:r>
              </a:p>
            </p:txBody>
          </p:sp>
          <p:sp>
            <p:nvSpPr>
              <p:cNvPr id="9" name="Text Placeholder 52">
                <a:extLst>
                  <a:ext uri="{FF2B5EF4-FFF2-40B4-BE49-F238E27FC236}">
                    <a16:creationId xmlns:a16="http://schemas.microsoft.com/office/drawing/2014/main" id="{6871FAD5-DAC9-2E88-43EE-71DE2313B5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8603" y="5238601"/>
                <a:ext cx="6943717" cy="2973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Pharmabest Inc. &amp; Philtel Inc.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	        2011 - 2013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Exec. QA Manager</a:t>
                </a:r>
              </a:p>
            </p:txBody>
          </p:sp>
          <p:sp>
            <p:nvSpPr>
              <p:cNvPr id="10" name="Text Placeholder 52">
                <a:extLst>
                  <a:ext uri="{FF2B5EF4-FFF2-40B4-BE49-F238E27FC236}">
                    <a16:creationId xmlns:a16="http://schemas.microsoft.com/office/drawing/2014/main" id="{BA499EBC-730C-6472-42B1-4FBCAD1BA5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035" y="5529874"/>
                <a:ext cx="6931149" cy="2973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Blau Pharmaceuticals Services Inc.</a:t>
                </a: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2009 - 2011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Pharmaceuticals Regulatory Affairs Consultant 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C75DF8-197B-BFD3-34D2-297D5EA3D213}"/>
                </a:ext>
              </a:extLst>
            </p:cNvPr>
            <p:cNvSpPr txBox="1">
              <a:spLocks/>
            </p:cNvSpPr>
            <p:nvPr/>
          </p:nvSpPr>
          <p:spPr>
            <a:xfrm>
              <a:off x="78399" y="3695817"/>
              <a:ext cx="6713716" cy="2088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TouchE TV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 	        		      2018 - 2024</a:t>
              </a: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sz="1200" b="1" dirty="0">
                  <a:latin typeface="Overpass" pitchFamily="2" charset="0"/>
                </a:rPr>
                <a:t>Co-Founder &amp; Chief Product Officer</a:t>
              </a: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IL" altLang="en-IL" sz="1100" dirty="0">
                  <a:latin typeface="Overpass" pitchFamily="2" charset="0"/>
                </a:rPr>
                <a:t>Crafted and executed a visionary product strategy for an AI-infused </a:t>
              </a:r>
              <a:r>
                <a:rPr lang="en-US" altLang="en-IL" sz="1100" dirty="0">
                  <a:latin typeface="Overpass" pitchFamily="2" charset="0"/>
                </a:rPr>
                <a:t>interactive </a:t>
              </a:r>
              <a:r>
                <a:rPr lang="en-IL" altLang="en-IL" sz="1100" dirty="0">
                  <a:latin typeface="Overpass" pitchFamily="2" charset="0"/>
                </a:rPr>
                <a:t>video platform</a:t>
              </a:r>
              <a:r>
                <a:rPr lang="en-US" altLang="en-IL" sz="1100" dirty="0">
                  <a:latin typeface="Overpass" pitchFamily="2" charset="0"/>
                </a:rPr>
                <a:t>.</a:t>
              </a:r>
              <a:r>
                <a:rPr lang="en-IL" altLang="en-IL" sz="1100" dirty="0">
                  <a:latin typeface="Overpass" pitchFamily="2" charset="0"/>
                </a:rPr>
                <a:t> </a:t>
              </a:r>
              <a:r>
                <a:rPr lang="en-US" altLang="en-IL" sz="1100" dirty="0">
                  <a:latin typeface="Overpass" pitchFamily="2" charset="0"/>
                </a:rPr>
                <a:t>Securing</a:t>
              </a:r>
              <a:r>
                <a:rPr lang="en-IL" altLang="en-IL" sz="1100" dirty="0">
                  <a:latin typeface="Overpass" pitchFamily="2" charset="0"/>
                </a:rPr>
                <a:t> </a:t>
              </a:r>
              <a:r>
                <a:rPr lang="en-IL" altLang="en-IL" sz="1100" b="1" dirty="0">
                  <a:latin typeface="Overpass" pitchFamily="2" charset="0"/>
                </a:rPr>
                <a:t>$2.5M </a:t>
              </a:r>
              <a:r>
                <a:rPr lang="en-IL" altLang="en-IL" sz="1100" dirty="0">
                  <a:latin typeface="Overpass" pitchFamily="2" charset="0"/>
                </a:rPr>
                <a:t>in seed funding</a:t>
              </a:r>
              <a:r>
                <a:rPr lang="en-US" altLang="en-IL" sz="1100" dirty="0">
                  <a:latin typeface="Overpass" pitchFamily="2" charset="0"/>
                </a:rPr>
                <a:t>. </a:t>
              </a:r>
              <a:r>
                <a:rPr lang="en-US" sz="1100" dirty="0">
                  <a:latin typeface="Overpass" pitchFamily="2" charset="0"/>
                </a:rPr>
                <a:t>Engaging with investors and articulating product vision in a high-uncertainty startup context.</a:t>
              </a:r>
              <a:endParaRPr lang="en-IL" altLang="en-IL" sz="1100" dirty="0">
                <a:latin typeface="Overpass" pitchFamily="2" charset="0"/>
              </a:endParaRP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Built and scaled cross‑functional teams (design, engineering, product, QA, data analytics), recruiting, mentoring, and empowering team leads to own delivery and outcomes</a:t>
              </a:r>
              <a:r>
                <a:rPr lang="en-IL" altLang="en-IL" sz="1100" dirty="0">
                  <a:latin typeface="Overpass" pitchFamily="2" charset="0"/>
                </a:rPr>
                <a:t>.</a:t>
              </a:r>
              <a:r>
                <a:rPr lang="en-US" altLang="en-IL" sz="1100" dirty="0">
                  <a:latin typeface="Overpass" pitchFamily="2" charset="0"/>
                </a:rPr>
                <a:t> </a:t>
              </a: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Defined and led </a:t>
              </a:r>
              <a:r>
                <a:rPr lang="en-US" sz="1100" b="1" dirty="0">
                  <a:latin typeface="Overpass" pitchFamily="2" charset="0"/>
                </a:rPr>
                <a:t>product strategy</a:t>
              </a:r>
              <a:r>
                <a:rPr lang="en-US" sz="1100" dirty="0">
                  <a:latin typeface="Overpass" pitchFamily="2" charset="0"/>
                </a:rPr>
                <a:t> across Web, Mobile &amp; Smart‑TV, </a:t>
              </a:r>
              <a:r>
                <a:rPr lang="en-IL" altLang="en-IL" sz="1100" dirty="0">
                  <a:latin typeface="Overpass" pitchFamily="2" charset="0"/>
                </a:rPr>
                <a:t>under an Agile framework</a:t>
              </a:r>
              <a:r>
                <a:rPr lang="en-US" altLang="en-IL" sz="1100" dirty="0">
                  <a:latin typeface="Overpass" pitchFamily="2" charset="0"/>
                </a:rPr>
                <a:t>.</a:t>
              </a:r>
              <a:r>
                <a:rPr lang="en-US" sz="1100" dirty="0">
                  <a:latin typeface="Overpass" pitchFamily="2" charset="0"/>
                </a:rPr>
                <a:t> Unifying the product to a cohesive </a:t>
              </a:r>
              <a:r>
                <a:rPr lang="en-US" sz="1100">
                  <a:latin typeface="Overpass" pitchFamily="2" charset="0"/>
                </a:rPr>
                <a:t>user experience - </a:t>
              </a:r>
              <a:r>
                <a:rPr lang="en-US" sz="1100" dirty="0">
                  <a:latin typeface="Overpass" pitchFamily="2" charset="0"/>
                </a:rPr>
                <a:t>ensuring consistency across platforms, while guiding product development amidst uncertain conditions</a:t>
              </a:r>
              <a:r>
                <a:rPr lang="en-IL" altLang="en-IL" sz="1100" dirty="0">
                  <a:latin typeface="Overpass" pitchFamily="2" charset="0"/>
                </a:rPr>
                <a:t>.</a:t>
              </a: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Partnered with enterprise clients and tech vendors, accelerating go-to-market and expanding platform reach through strategic alliances.</a:t>
              </a:r>
              <a:r>
                <a:rPr lang="en-US" sz="1100" b="1" dirty="0">
                  <a:latin typeface="Overpass" pitchFamily="2" charset="0"/>
                </a:rPr>
                <a:t> </a:t>
              </a:r>
              <a:r>
                <a:rPr lang="en-US" sz="1100" dirty="0">
                  <a:latin typeface="Overpass" pitchFamily="2" charset="0"/>
                </a:rPr>
                <a:t>While ensuring platform scalability, resiliency, and integrability via a simple integration process and optimized cloud infrastructure.</a:t>
              </a:r>
              <a:endParaRPr lang="en-US" altLang="en-IL" sz="1100" dirty="0">
                <a:latin typeface="Overpass" pitchFamily="2" charset="0"/>
              </a:endParaRP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IL" altLang="en-IL" sz="1100" dirty="0">
                  <a:latin typeface="Overpass" pitchFamily="2" charset="0"/>
                </a:rPr>
                <a:t>Forged key </a:t>
              </a:r>
              <a:r>
                <a:rPr lang="en-IL" altLang="en-IL" sz="1100" b="1" dirty="0">
                  <a:latin typeface="Overpass" pitchFamily="2" charset="0"/>
                </a:rPr>
                <a:t>partnerships</a:t>
              </a:r>
              <a:r>
                <a:rPr lang="en-IL" altLang="en-IL" sz="1100" dirty="0">
                  <a:latin typeface="Overpass" pitchFamily="2" charset="0"/>
                </a:rPr>
                <a:t> with enterprise clients and tech platforms, accelerating GTM strategy and expanding market reach.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105535</TotalTime>
  <Words>488</Words>
  <Application>Microsoft Office PowerPoint</Application>
  <PresentationFormat>Letter Paper (8.5x11 in)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10</cp:revision>
  <dcterms:created xsi:type="dcterms:W3CDTF">2024-07-25T09:15:15Z</dcterms:created>
  <dcterms:modified xsi:type="dcterms:W3CDTF">2025-07-06T14:17:33Z</dcterms:modified>
</cp:coreProperties>
</file>