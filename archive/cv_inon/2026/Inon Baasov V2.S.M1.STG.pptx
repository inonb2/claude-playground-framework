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7559675" cy="10691813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398" userDrawn="1">
          <p15:clr>
            <a:srgbClr val="A4A3A4"/>
          </p15:clr>
        </p15:guide>
        <p15:guide id="2" pos="291" userDrawn="1">
          <p15:clr>
            <a:srgbClr val="A4A3A4"/>
          </p15:clr>
        </p15:guide>
        <p15:guide id="3" pos="4471" userDrawn="1">
          <p15:clr>
            <a:srgbClr val="A4A3A4"/>
          </p15:clr>
        </p15:guide>
        <p15:guide id="4" orient="horz" pos="561" userDrawn="1">
          <p15:clr>
            <a:srgbClr val="A4A3A4"/>
          </p15:clr>
        </p15:guide>
        <p15:guide id="5" pos="2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4A7711-7E10-4880-874A-31D219F2D678}" v="15" dt="2026-01-05T13:43:40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2" autoAdjust="0"/>
    <p:restoredTop sz="95223" autoAdjust="0"/>
  </p:normalViewPr>
  <p:slideViewPr>
    <p:cSldViewPr snapToGrid="0" snapToObjects="1" showGuides="1">
      <p:cViewPr>
        <p:scale>
          <a:sx n="200" d="100"/>
          <a:sy n="200" d="100"/>
        </p:scale>
        <p:origin x="390" y="-1866"/>
      </p:cViewPr>
      <p:guideLst>
        <p:guide orient="horz" pos="6398"/>
        <p:guide pos="291"/>
        <p:guide pos="4471"/>
        <p:guide orient="horz" pos="561"/>
        <p:guide pos="24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undo custSel modSld">
      <pc:chgData name="Inon Baasov" userId="675f8575db202d33" providerId="LiveId" clId="{6535A8C2-D6D1-40A6-B57B-6CAB1510FB70}" dt="2026-01-05T14:04:17.616" v="794" actId="20577"/>
      <pc:docMkLst>
        <pc:docMk/>
      </pc:docMkLst>
      <pc:sldChg chg="addSp delSp modSp mod">
        <pc:chgData name="Inon Baasov" userId="675f8575db202d33" providerId="LiveId" clId="{6535A8C2-D6D1-40A6-B57B-6CAB1510FB70}" dt="2026-01-05T14:04:17.616" v="794" actId="20577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6-01-05T13:11:40.943" v="71" actId="1035"/>
          <ac:spMkLst>
            <pc:docMk/>
            <pc:sldMk cId="1945325877" sldId="260"/>
            <ac:spMk id="3" creationId="{550F18B5-1245-2B4C-AA47-F39938FA615F}"/>
          </ac:spMkLst>
        </pc:spChg>
        <pc:spChg chg="mod">
          <ac:chgData name="Inon Baasov" userId="675f8575db202d33" providerId="LiveId" clId="{6535A8C2-D6D1-40A6-B57B-6CAB1510FB70}" dt="2026-01-05T13:06:23.750" v="25" actId="3064"/>
          <ac:spMkLst>
            <pc:docMk/>
            <pc:sldMk cId="1945325877" sldId="260"/>
            <ac:spMk id="4" creationId="{A14E25B9-74B7-1D86-F100-61C9666B8B8B}"/>
          </ac:spMkLst>
        </pc:spChg>
        <pc:spChg chg="mod">
          <ac:chgData name="Inon Baasov" userId="675f8575db202d33" providerId="LiveId" clId="{6535A8C2-D6D1-40A6-B57B-6CAB1510FB70}" dt="2026-01-05T13:14:12.633" v="186" actId="113"/>
          <ac:spMkLst>
            <pc:docMk/>
            <pc:sldMk cId="1945325877" sldId="260"/>
            <ac:spMk id="5" creationId="{CD85A639-1B8A-878B-04BB-3EE82339007A}"/>
          </ac:spMkLst>
        </pc:spChg>
        <pc:spChg chg="mod">
          <ac:chgData name="Inon Baasov" userId="675f8575db202d33" providerId="LiveId" clId="{6535A8C2-D6D1-40A6-B57B-6CAB1510FB70}" dt="2026-01-05T14:04:17.616" v="794" actId="20577"/>
          <ac:spMkLst>
            <pc:docMk/>
            <pc:sldMk cId="1945325877" sldId="260"/>
            <ac:spMk id="7" creationId="{C74AC998-3F7B-596D-682D-63841FD8BC26}"/>
          </ac:spMkLst>
        </pc:spChg>
        <pc:spChg chg="mod">
          <ac:chgData name="Inon Baasov" userId="675f8575db202d33" providerId="LiveId" clId="{6535A8C2-D6D1-40A6-B57B-6CAB1510FB70}" dt="2026-01-05T13:55:15.241" v="743" actId="1035"/>
          <ac:spMkLst>
            <pc:docMk/>
            <pc:sldMk cId="1945325877" sldId="260"/>
            <ac:spMk id="9" creationId="{6871FAD5-DAC9-2E88-43EE-71DE2313B5BC}"/>
          </ac:spMkLst>
        </pc:spChg>
        <pc:spChg chg="mod">
          <ac:chgData name="Inon Baasov" userId="675f8575db202d33" providerId="LiveId" clId="{6535A8C2-D6D1-40A6-B57B-6CAB1510FB70}" dt="2026-01-05T13:55:15.241" v="743" actId="1035"/>
          <ac:spMkLst>
            <pc:docMk/>
            <pc:sldMk cId="1945325877" sldId="260"/>
            <ac:spMk id="10" creationId="{BA499EBC-730C-6472-42B1-4FBCAD1BA552}"/>
          </ac:spMkLst>
        </pc:spChg>
        <pc:spChg chg="mod">
          <ac:chgData name="Inon Baasov" userId="675f8575db202d33" providerId="LiveId" clId="{6535A8C2-D6D1-40A6-B57B-6CAB1510FB70}" dt="2026-01-05T13:55:15.241" v="743" actId="1035"/>
          <ac:spMkLst>
            <pc:docMk/>
            <pc:sldMk cId="1945325877" sldId="260"/>
            <ac:spMk id="11" creationId="{D6C75DF8-197B-BFD3-34D2-297D5EA3D213}"/>
          </ac:spMkLst>
        </pc:spChg>
        <pc:spChg chg="del mod topLvl">
          <ac:chgData name="Inon Baasov" userId="675f8575db202d33" providerId="LiveId" clId="{6535A8C2-D6D1-40A6-B57B-6CAB1510FB70}" dt="2026-01-05T13:12:10.268" v="169" actId="478"/>
          <ac:spMkLst>
            <pc:docMk/>
            <pc:sldMk cId="1945325877" sldId="260"/>
            <ac:spMk id="14" creationId="{08FB85AE-DDDC-DEE3-69B5-7CDFD458CE99}"/>
          </ac:spMkLst>
        </pc:spChg>
        <pc:spChg chg="add del">
          <ac:chgData name="Inon Baasov" userId="675f8575db202d33" providerId="LiveId" clId="{6535A8C2-D6D1-40A6-B57B-6CAB1510FB70}" dt="2026-01-05T14:02:27.636" v="792" actId="478"/>
          <ac:spMkLst>
            <pc:docMk/>
            <pc:sldMk cId="1945325877" sldId="260"/>
            <ac:spMk id="14" creationId="{594156F0-80DB-5422-183F-484B1B605734}"/>
          </ac:spMkLst>
        </pc:spChg>
        <pc:spChg chg="mod topLvl">
          <ac:chgData name="Inon Baasov" userId="675f8575db202d33" providerId="LiveId" clId="{6535A8C2-D6D1-40A6-B57B-6CAB1510FB70}" dt="2026-01-05T13:46:41.556" v="623" actId="14100"/>
          <ac:spMkLst>
            <pc:docMk/>
            <pc:sldMk cId="1945325877" sldId="260"/>
            <ac:spMk id="15" creationId="{0E720D97-3110-CB60-B24C-F3AA2D9C9476}"/>
          </ac:spMkLst>
        </pc:spChg>
        <pc:spChg chg="add mod">
          <ac:chgData name="Inon Baasov" userId="675f8575db202d33" providerId="LiveId" clId="{6535A8C2-D6D1-40A6-B57B-6CAB1510FB70}" dt="2026-01-05T13:55:54.373" v="783" actId="1036"/>
          <ac:spMkLst>
            <pc:docMk/>
            <pc:sldMk cId="1945325877" sldId="260"/>
            <ac:spMk id="16" creationId="{21CF99D9-56A9-5A12-E1B2-4D8E6AC972CE}"/>
          </ac:spMkLst>
        </pc:spChg>
        <pc:spChg chg="mod">
          <ac:chgData name="Inon Baasov" userId="675f8575db202d33" providerId="LiveId" clId="{6535A8C2-D6D1-40A6-B57B-6CAB1510FB70}" dt="2026-01-05T13:11:40.943" v="71" actId="1035"/>
          <ac:spMkLst>
            <pc:docMk/>
            <pc:sldMk cId="1945325877" sldId="260"/>
            <ac:spMk id="73" creationId="{2FD50699-45B5-88EC-1B42-E5597AB067CD}"/>
          </ac:spMkLst>
        </pc:spChg>
        <pc:spChg chg="mod">
          <ac:chgData name="Inon Baasov" userId="675f8575db202d33" providerId="LiveId" clId="{6535A8C2-D6D1-40A6-B57B-6CAB1510FB70}" dt="2026-01-05T13:11:40.943" v="71" actId="1035"/>
          <ac:spMkLst>
            <pc:docMk/>
            <pc:sldMk cId="1945325877" sldId="260"/>
            <ac:spMk id="74" creationId="{132E1DF2-8DF7-6940-4374-52DB65EC3761}"/>
          </ac:spMkLst>
        </pc:spChg>
        <pc:spChg chg="mod">
          <ac:chgData name="Inon Baasov" userId="675f8575db202d33" providerId="LiveId" clId="{6535A8C2-D6D1-40A6-B57B-6CAB1510FB70}" dt="2026-01-05T13:11:40.943" v="71" actId="1035"/>
          <ac:spMkLst>
            <pc:docMk/>
            <pc:sldMk cId="1945325877" sldId="260"/>
            <ac:spMk id="75" creationId="{23DA089B-1D05-556D-253C-262F0FA50B68}"/>
          </ac:spMkLst>
        </pc:spChg>
        <pc:spChg chg="mod">
          <ac:chgData name="Inon Baasov" userId="675f8575db202d33" providerId="LiveId" clId="{6535A8C2-D6D1-40A6-B57B-6CAB1510FB70}" dt="2026-01-05T13:55:15.241" v="743" actId="1035"/>
          <ac:spMkLst>
            <pc:docMk/>
            <pc:sldMk cId="1945325877" sldId="260"/>
            <ac:spMk id="154" creationId="{7B120799-BCC3-8E46-2EA5-CFAE368C1FC7}"/>
          </ac:spMkLst>
        </pc:spChg>
        <pc:spChg chg="mod">
          <ac:chgData name="Inon Baasov" userId="675f8575db202d33" providerId="LiveId" clId="{6535A8C2-D6D1-40A6-B57B-6CAB1510FB70}" dt="2026-01-05T14:03:40.038" v="793" actId="20577"/>
          <ac:spMkLst>
            <pc:docMk/>
            <pc:sldMk cId="1945325877" sldId="260"/>
            <ac:spMk id="174" creationId="{67D1E309-1ED9-E676-89A4-61C198105A97}"/>
          </ac:spMkLst>
        </pc:spChg>
        <pc:spChg chg="mod">
          <ac:chgData name="Inon Baasov" userId="675f8575db202d33" providerId="LiveId" clId="{6535A8C2-D6D1-40A6-B57B-6CAB1510FB70}" dt="2026-01-05T13:05:49.442" v="17" actId="3064"/>
          <ac:spMkLst>
            <pc:docMk/>
            <pc:sldMk cId="1945325877" sldId="260"/>
            <ac:spMk id="231" creationId="{341669B1-8344-D7A4-D12E-8D04FAB5F455}"/>
          </ac:spMkLst>
        </pc:spChg>
        <pc:spChg chg="mod">
          <ac:chgData name="Inon Baasov" userId="675f8575db202d33" providerId="LiveId" clId="{6535A8C2-D6D1-40A6-B57B-6CAB1510FB70}" dt="2026-01-05T13:06:00.790" v="21" actId="3064"/>
          <ac:spMkLst>
            <pc:docMk/>
            <pc:sldMk cId="1945325877" sldId="260"/>
            <ac:spMk id="242" creationId="{736313EA-3C2D-C5A9-2ED3-22681A16B477}"/>
          </ac:spMkLst>
        </pc:spChg>
        <pc:grpChg chg="mod">
          <ac:chgData name="Inon Baasov" userId="675f8575db202d33" providerId="LiveId" clId="{6535A8C2-D6D1-40A6-B57B-6CAB1510FB70}" dt="2026-01-05T13:47:59.197" v="668" actId="14100"/>
          <ac:grpSpMkLst>
            <pc:docMk/>
            <pc:sldMk cId="1945325877" sldId="260"/>
            <ac:grpSpMk id="2" creationId="{E8F3DD04-3596-890A-0289-4F6EC51FBB48}"/>
          </ac:grpSpMkLst>
        </pc:grpChg>
        <pc:grpChg chg="mod">
          <ac:chgData name="Inon Baasov" userId="675f8575db202d33" providerId="LiveId" clId="{6535A8C2-D6D1-40A6-B57B-6CAB1510FB70}" dt="2026-01-05T13:55:49.833" v="780" actId="1036"/>
          <ac:grpSpMkLst>
            <pc:docMk/>
            <pc:sldMk cId="1945325877" sldId="260"/>
            <ac:grpSpMk id="8" creationId="{0706554B-DAEA-F04A-7818-F1555F0613DF}"/>
          </ac:grpSpMkLst>
        </pc:grpChg>
        <pc:grpChg chg="add del mod">
          <ac:chgData name="Inon Baasov" userId="675f8575db202d33" providerId="LiveId" clId="{6535A8C2-D6D1-40A6-B57B-6CAB1510FB70}" dt="2026-01-05T13:12:10.268" v="169" actId="478"/>
          <ac:grpSpMkLst>
            <pc:docMk/>
            <pc:sldMk cId="1945325877" sldId="260"/>
            <ac:grpSpMk id="13" creationId="{969462D3-9E29-6407-F78C-5A51C34B373D}"/>
          </ac:grpSpMkLst>
        </pc:grpChg>
        <pc:grpChg chg="mod">
          <ac:chgData name="Inon Baasov" userId="675f8575db202d33" providerId="LiveId" clId="{6535A8C2-D6D1-40A6-B57B-6CAB1510FB70}" dt="2026-01-05T13:55:59.853" v="786" actId="1036"/>
          <ac:grpSpMkLst>
            <pc:docMk/>
            <pc:sldMk cId="1945325877" sldId="260"/>
            <ac:grpSpMk id="236" creationId="{BA846034-E5B0-1F9D-ABEB-DA7831B54ABD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427053" cy="1069181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3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427" y="391048"/>
            <a:ext cx="2808595" cy="2066589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3427" y="2526988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3914" y="2963717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70872" y="296052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33914" y="3254448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0872" y="325343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33914" y="3558544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0872" y="355364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3427" y="4158175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1978" y="461232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3785" y="4834106"/>
            <a:ext cx="2486644" cy="659880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505" y="5675743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81142" y="6182131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81142" y="6182131"/>
            <a:ext cx="144137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9988" y="6247118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81142" y="6604379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81142" y="6604379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9988" y="6670335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81142" y="7032218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81142" y="7032218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9988" y="7111203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81142" y="7460784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81142" y="7460784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3427" y="7533471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81142" y="7890056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81142" y="7890056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0505" y="7959197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2670" y="855763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3785" y="899716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3785" y="9306334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3785" y="957613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0251" y="850719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60251" y="13110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60251" y="15327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0251" y="1787216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60252" y="2049679"/>
            <a:ext cx="3260109" cy="1491815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60251" y="360392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60251" y="3861348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60251" y="4115765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60251" y="4399611"/>
            <a:ext cx="3362938" cy="127613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60251" y="57141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60251" y="59358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60251" y="620457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60252" y="6481290"/>
            <a:ext cx="3356597" cy="127613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60251" y="802722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60251" y="8471838"/>
            <a:ext cx="2486644" cy="15071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532" y="475488"/>
            <a:ext cx="5656172" cy="62618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9318" y="7362192"/>
            <a:ext cx="1691461" cy="27398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0073" y="7721705"/>
            <a:ext cx="1499124" cy="316959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0073" y="8001634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20073" y="8227082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08545" y="8231936"/>
            <a:ext cx="764678" cy="236789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8545" y="7779653"/>
            <a:ext cx="764678" cy="46016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8532" y="1834989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8532" y="2175261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8532" y="2404349"/>
            <a:ext cx="3224945" cy="80022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532" y="1339314"/>
            <a:ext cx="3224947" cy="342890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8532" y="3321421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8532" y="3661693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8532" y="3890780"/>
            <a:ext cx="3224945" cy="782231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8532" y="4802265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532" y="5142538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8532" y="5371625"/>
            <a:ext cx="3224945" cy="82947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83244" y="8880129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3244" y="9425001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83244" y="9975957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63744" y="5093190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63744" y="5298796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963744" y="5498412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963744" y="4901474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963744" y="4687638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63744" y="6295985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63744" y="6609368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963744" y="6925580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59049" y="9526649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59049" y="9840033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59049" y="10170210"/>
            <a:ext cx="1597897" cy="27931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59049" y="8879303"/>
            <a:ext cx="1597897" cy="337973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59049" y="9211556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308444" y="954207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08444" y="986468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308444" y="10171423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308444" y="9243446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308846" y="8879303"/>
            <a:ext cx="1203730" cy="345881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311543"/>
            <a:ext cx="75596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819317" y="1340189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819317" y="4235204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819317" y="5863650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9" y="569244"/>
            <a:ext cx="6520220" cy="2066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9" y="2846201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4" y="9909730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1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tel.co.il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lau-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87159" y="657813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031102" y="658759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695043" y="659207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65" y="192699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212556" y="2486140"/>
            <a:ext cx="7115758" cy="938671"/>
            <a:chOff x="93673" y="1854031"/>
            <a:chExt cx="2936874" cy="350779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24991"/>
              <a:ext cx="2936874" cy="279819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 </a:t>
              </a:r>
              <a:r>
                <a:rPr lang="en-US" sz="1200" b="1" dirty="0">
                  <a:latin typeface="Overpass" pitchFamily="2" charset="0"/>
                </a:rPr>
                <a:t>Executive MBA, </a:t>
              </a:r>
              <a:r>
                <a:rPr lang="en-US" sz="1200" dirty="0">
                  <a:latin typeface="Overpass" pitchFamily="2" charset="0"/>
                </a:rPr>
                <a:t>Entrepreneurship &amp; Management - </a:t>
              </a:r>
              <a:r>
                <a:rPr lang="en-US" sz="120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strategic product development, global leadership, and high-tech innovation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. Technion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he-IL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-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Israel Institute of Technology.			</a:t>
              </a: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 B.Sc.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Biotechnology and Food Engineering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Technion - Israel Institute of Technology.</a:t>
              </a:r>
              <a:endParaRPr lang="he-IL" sz="12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 Chemical Engineering - 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McGill University, Montreal,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Canada </a:t>
              </a:r>
              <a:r>
                <a:rPr lang="he-IL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		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176666" y="1374185"/>
            <a:ext cx="7151648" cy="1072601"/>
            <a:chOff x="2730795" y="1315393"/>
            <a:chExt cx="4090720" cy="1588899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50497"/>
              <a:ext cx="4090720" cy="12537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>
                  <a:latin typeface="Overpass" pitchFamily="2" charset="0"/>
                </a:rPr>
                <a:t>Senior Business &amp; Program Manager with 10+ years of experience leading complex operational units and strategic business domains. </a:t>
              </a:r>
              <a:r>
                <a:rPr lang="en-US" sz="1100" b="1" dirty="0">
                  <a:latin typeface="Overpass" pitchFamily="2" charset="0"/>
                </a:rPr>
                <a:t>B.Sc. in Engineering and Executive MBA graduate</a:t>
              </a:r>
              <a:r>
                <a:rPr lang="en-US" sz="1100" dirty="0">
                  <a:latin typeface="Overpass" pitchFamily="2" charset="0"/>
                </a:rPr>
                <a:t>. Proven record in managing large-scale budgets (</a:t>
              </a:r>
              <a:r>
                <a:rPr lang="en-US" sz="1100" b="1" dirty="0">
                  <a:latin typeface="Overpass" pitchFamily="2" charset="0"/>
                </a:rPr>
                <a:t>P&amp;L</a:t>
              </a:r>
              <a:r>
                <a:rPr lang="en-US" sz="1100" dirty="0">
                  <a:latin typeface="Overpass" pitchFamily="2" charset="0"/>
                </a:rPr>
                <a:t>), leading cross-functional teams, and driving market expansion for high-end strategic clients. Expert in translating business goals into operational plans, managing subcontractors, and leading matrix teams in dynamic, regulated environments.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706554B-DAEA-F04A-7818-F1555F0613DF}"/>
              </a:ext>
            </a:extLst>
          </p:cNvPr>
          <p:cNvGrpSpPr/>
          <p:nvPr/>
        </p:nvGrpSpPr>
        <p:grpSpPr>
          <a:xfrm>
            <a:off x="176002" y="3456028"/>
            <a:ext cx="7140332" cy="5228140"/>
            <a:chOff x="161926" y="3400043"/>
            <a:chExt cx="6590843" cy="413403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A96F9C5-B4EE-2CE6-5E39-6D2B06DDBAA4}"/>
                </a:ext>
              </a:extLst>
            </p:cNvPr>
            <p:cNvGrpSpPr/>
            <p:nvPr/>
          </p:nvGrpSpPr>
          <p:grpSpPr>
            <a:xfrm>
              <a:off x="161926" y="3400043"/>
              <a:ext cx="6590843" cy="4134033"/>
              <a:chOff x="78398" y="3384334"/>
              <a:chExt cx="6718755" cy="3104223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943FD8F-B645-F5DD-0443-9670451D8FB5}"/>
                  </a:ext>
                </a:extLst>
              </p:cNvPr>
              <p:cNvGrpSpPr/>
              <p:nvPr/>
            </p:nvGrpSpPr>
            <p:grpSpPr>
              <a:xfrm>
                <a:off x="78398" y="3384334"/>
                <a:ext cx="6718755" cy="3104223"/>
                <a:chOff x="-24741" y="2560328"/>
                <a:chExt cx="6949855" cy="2407510"/>
              </a:xfrm>
            </p:grpSpPr>
            <p:sp>
              <p:nvSpPr>
                <p:cNvPr id="154" name="Text Placeholder 52">
                  <a:extLst>
                    <a:ext uri="{FF2B5EF4-FFF2-40B4-BE49-F238E27FC236}">
                      <a16:creationId xmlns:a16="http://schemas.microsoft.com/office/drawing/2014/main" id="{7B120799-BCC3-8E46-2EA5-CFAE368C1F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4741" y="3791691"/>
                  <a:ext cx="6943718" cy="746038"/>
                </a:xfrm>
                <a:prstGeom prst="rect">
                  <a:avLst/>
                </a:prstGeom>
              </p:spPr>
              <p:txBody>
                <a:bodyPr vert="horz" lIns="0" tIns="0" rIns="0" bIns="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en-IL" sz="1200" b="1" u="sng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Arena Plus</a:t>
                  </a:r>
                  <a:r>
                    <a:rPr lang="en-IL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-</a:t>
                  </a:r>
                  <a:r>
                    <a:rPr lang="en-US" sz="105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IL" sz="105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Financial Services</a:t>
                  </a:r>
                  <a:r>
                    <a:rPr lang="en-US" sz="1200" b="1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		</a:t>
                  </a:r>
                  <a:r>
                    <a:rPr lang="en-IL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2013 - 2018</a:t>
                  </a:r>
                  <a:endPara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en-US" sz="1100" b="1" dirty="0">
                      <a:latin typeface="Overpass" pitchFamily="2" charset="0"/>
                    </a:rPr>
                    <a:t>Senior Program &amp; Product Manager           			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Promoted from Product Manager (2013-2015) to Senior PM (2015-2018). 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Matrix Management</a:t>
                  </a:r>
                  <a:r>
                    <a:rPr lang="en-US" sz="1100" dirty="0">
                      <a:latin typeface="Overpass" pitchFamily="2" charset="0"/>
                    </a:rPr>
                    <a:t>: Managed global development teams and external subcontractors, ensuring alignment with strategic priorities and strict timelines. 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Financial Growth</a:t>
                  </a:r>
                  <a:r>
                    <a:rPr lang="en-US" sz="1100" dirty="0">
                      <a:latin typeface="Overpass" pitchFamily="2" charset="0"/>
                    </a:rPr>
                    <a:t>: Drove </a:t>
                  </a:r>
                  <a:r>
                    <a:rPr lang="en-US" sz="1100" b="1" dirty="0">
                      <a:latin typeface="Overpass" pitchFamily="2" charset="0"/>
                    </a:rPr>
                    <a:t>15% revenue growth </a:t>
                  </a:r>
                  <a:r>
                    <a:rPr lang="en-US" sz="1100" dirty="0">
                      <a:latin typeface="Overpass" pitchFamily="2" charset="0"/>
                    </a:rPr>
                    <a:t>through precise execution of business roadmaps and operational efficiencies. 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Process Improvement</a:t>
                  </a:r>
                  <a:r>
                    <a:rPr lang="en-US" sz="1100" dirty="0">
                      <a:latin typeface="Overpass" pitchFamily="2" charset="0"/>
                    </a:rPr>
                    <a:t>: Introduced structured methodologies (Agile), reducing delivery times by 20% and improving budget predictability.</a:t>
                  </a:r>
                </a:p>
              </p:txBody>
            </p:sp>
            <p:sp>
              <p:nvSpPr>
                <p:cNvPr id="242" name="Text Placeholder 45">
                  <a:extLst>
                    <a:ext uri="{FF2B5EF4-FFF2-40B4-BE49-F238E27FC236}">
                      <a16:creationId xmlns:a16="http://schemas.microsoft.com/office/drawing/2014/main" id="{736313EA-3C2D-C5A9-2ED3-22681A16B4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9577" y="2560328"/>
                  <a:ext cx="2719752" cy="199157"/>
                </a:xfrm>
                <a:prstGeom prst="rect">
                  <a:avLst/>
                </a:prstGeom>
              </p:spPr>
              <p:txBody>
                <a:bodyPr vert="horz" lIns="0" tIns="0" rIns="0" bIns="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600" b="1" kern="1200">
                      <a:solidFill>
                        <a:schemeClr val="accent5"/>
                      </a:solidFill>
                      <a:latin typeface="+mj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500" u="sng" dirty="0">
                      <a:solidFill>
                        <a:srgbClr val="10ABE2"/>
                      </a:solidFill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Professional experience</a:t>
                  </a:r>
                </a:p>
              </p:txBody>
            </p:sp>
            <p:sp>
              <p:nvSpPr>
                <p:cNvPr id="9" name="Text Placeholder 52">
                  <a:extLst>
                    <a:ext uri="{FF2B5EF4-FFF2-40B4-BE49-F238E27FC236}">
                      <a16:creationId xmlns:a16="http://schemas.microsoft.com/office/drawing/2014/main" id="{6871FAD5-DAC9-2E88-43EE-71DE2313B5B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8603" y="4535159"/>
                  <a:ext cx="6943717" cy="236466"/>
                </a:xfrm>
                <a:prstGeom prst="rect">
                  <a:avLst/>
                </a:prstGeom>
              </p:spPr>
              <p:txBody>
                <a:bodyPr vert="horz" lIns="0" tIns="0" rIns="0" bIns="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Pharmabest Inc. &amp; Philtel Inc.</a:t>
                  </a:r>
                  <a:r>
                    <a:rPr lang="it-IT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	 	</a:t>
                  </a:r>
                  <a:r>
                    <a:rPr lang="he-IL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it-IT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2011 - 2013</a:t>
                  </a: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it-IT" sz="110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Exec. QA Manager</a:t>
                  </a:r>
                </a:p>
              </p:txBody>
            </p:sp>
            <p:sp>
              <p:nvSpPr>
                <p:cNvPr id="10" name="Text Placeholder 52">
                  <a:extLst>
                    <a:ext uri="{FF2B5EF4-FFF2-40B4-BE49-F238E27FC236}">
                      <a16:creationId xmlns:a16="http://schemas.microsoft.com/office/drawing/2014/main" id="{BA499EBC-730C-6472-42B1-4FBCAD1BA55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6035" y="4731372"/>
                  <a:ext cx="6931149" cy="236466"/>
                </a:xfrm>
                <a:prstGeom prst="rect">
                  <a:avLst/>
                </a:prstGeom>
              </p:spPr>
              <p:txBody>
                <a:bodyPr vert="horz" lIns="0" tIns="0" rIns="0" bIns="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4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Blau Pharmaceuticals Services Inc.</a:t>
                  </a:r>
                  <a:r>
                    <a:rPr lang="it-IT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	2009 - 2011</a:t>
                  </a: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it-IT" sz="110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Pharmaceuticals Regulatory Affairs Consultant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C75DF8-197B-BFD3-34D2-297D5EA3D2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399" y="3947164"/>
                <a:ext cx="6713716" cy="10162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b="1" u="sng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TouchE 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-</a:t>
                </a:r>
                <a:r>
                  <a:rPr lang="en-US" sz="1200" i="1" dirty="0">
                    <a:latin typeface="Overpass" pitchFamily="2" charset="0"/>
                  </a:rPr>
                  <a:t> </a:t>
                </a:r>
                <a:r>
                  <a:rPr lang="en-US" sz="1050" i="1" dirty="0">
                    <a:latin typeface="Overpass" pitchFamily="2" charset="0"/>
                  </a:rPr>
                  <a:t>AI-powered interactive video platform 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 2018 - 2024</a:t>
                </a:r>
              </a:p>
              <a:p>
                <a:pPr>
                  <a:spcBef>
                    <a:spcPts val="200"/>
                  </a:spcBef>
                </a:pPr>
                <a:r>
                  <a:rPr lang="en-US" sz="1100" b="1" dirty="0">
                    <a:latin typeface="Overpass" pitchFamily="2" charset="0"/>
                  </a:rPr>
                  <a:t>Co-Founder &amp; Business Domain Lead</a:t>
                </a:r>
                <a:endParaRPr lang="en-US" sz="1100" i="1" dirty="0">
                  <a:latin typeface="Overpass" pitchFamily="2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Overpass" pitchFamily="2" charset="0"/>
                  </a:rPr>
                  <a:t>Business Domain Management</a:t>
                </a:r>
                <a:r>
                  <a:rPr lang="en-US" sz="1100" dirty="0">
                    <a:latin typeface="Overpass" pitchFamily="2" charset="0"/>
                  </a:rPr>
                  <a:t>: Managed the full business lifecycle of a complex technological unit. Held full </a:t>
                </a:r>
                <a:r>
                  <a:rPr lang="en-US" sz="1100" b="1" dirty="0">
                    <a:latin typeface="Overpass" pitchFamily="2" charset="0"/>
                  </a:rPr>
                  <a:t>P&amp;L responsibility</a:t>
                </a:r>
                <a:r>
                  <a:rPr lang="en-US" sz="1100" dirty="0">
                    <a:latin typeface="Overpass" pitchFamily="2" charset="0"/>
                  </a:rPr>
                  <a:t>, managing a </a:t>
                </a:r>
                <a:r>
                  <a:rPr lang="en-US" sz="1100" b="1" dirty="0">
                    <a:latin typeface="Overpass" pitchFamily="2" charset="0"/>
                  </a:rPr>
                  <a:t>$2.5M budget</a:t>
                </a:r>
                <a:r>
                  <a:rPr lang="en-US" sz="1100" dirty="0">
                    <a:latin typeface="Overpass" pitchFamily="2" charset="0"/>
                  </a:rPr>
                  <a:t>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Overpass" pitchFamily="2" charset="0"/>
                  </a:rPr>
                  <a:t>Program Leadership</a:t>
                </a:r>
                <a:r>
                  <a:rPr lang="en-US" sz="1100" dirty="0">
                    <a:latin typeface="Overpass" pitchFamily="2" charset="0"/>
                  </a:rPr>
                  <a:t>: Directed the work of team leads and Program Managers across Engineering, QA, and Operations to ensure delivery of multi-disciplinary plans.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Overpass" pitchFamily="2" charset="0"/>
                  </a:rPr>
                  <a:t>Strategic Customers</a:t>
                </a:r>
                <a:r>
                  <a:rPr lang="en-US" sz="1100" dirty="0">
                    <a:latin typeface="Overpass" pitchFamily="2" charset="0"/>
                  </a:rPr>
                  <a:t>: Led strategic relationships with </a:t>
                </a:r>
                <a:r>
                  <a:rPr lang="en-US" sz="1100" b="1" dirty="0">
                    <a:latin typeface="Overpass" pitchFamily="2" charset="0"/>
                  </a:rPr>
                  <a:t>high-end enterprise clients </a:t>
                </a:r>
                <a:r>
                  <a:rPr lang="en-US" sz="1100" dirty="0">
                    <a:latin typeface="Overpass" pitchFamily="2" charset="0"/>
                  </a:rPr>
                  <a:t>(e.g., Eros Now, HOT), negotiating contracts and ensuring compliance with operational goals.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Overpass" pitchFamily="2" charset="0"/>
                  </a:rPr>
                  <a:t>Operations &amp; Matrix Management</a:t>
                </a:r>
                <a:r>
                  <a:rPr lang="en-US" sz="1100" dirty="0">
                    <a:latin typeface="Overpass" pitchFamily="2" charset="0"/>
                  </a:rPr>
                  <a:t>: Defined annual work plans and milestones, managing activity in a matrix structure with partners and suppliers to meet financial targets.</a:t>
                </a:r>
              </a:p>
            </p:txBody>
          </p:sp>
        </p:grpSp>
        <p:sp>
          <p:nvSpPr>
            <p:cNvPr id="7" name="Text Placeholder 52">
              <a:extLst>
                <a:ext uri="{FF2B5EF4-FFF2-40B4-BE49-F238E27FC236}">
                  <a16:creationId xmlns:a16="http://schemas.microsoft.com/office/drawing/2014/main" id="{C74AC998-3F7B-596D-682D-63841FD8BC26}"/>
                </a:ext>
              </a:extLst>
            </p:cNvPr>
            <p:cNvSpPr txBox="1">
              <a:spLocks/>
            </p:cNvSpPr>
            <p:nvPr/>
          </p:nvSpPr>
          <p:spPr>
            <a:xfrm>
              <a:off x="179665" y="3596116"/>
              <a:ext cx="6568161" cy="790888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200" b="1" u="sng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Inon Baasov Ltd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- </a:t>
              </a:r>
              <a:r>
                <a:rPr lang="it-IT" sz="105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		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2024 - Present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100" b="1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Strategic Business &amp; Product Consultant</a:t>
              </a:r>
              <a:endParaRPr lang="en-US" sz="1100" b="1" dirty="0">
                <a:latin typeface="Overpass" pitchFamily="2" charset="0"/>
              </a:endParaRPr>
            </a:p>
            <a:p>
              <a:pPr marL="171450" indent="-1714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Advising startups on </a:t>
              </a:r>
              <a:r>
                <a:rPr lang="en-US" sz="1100" b="1" dirty="0">
                  <a:latin typeface="Overpass" pitchFamily="2" charset="0"/>
                </a:rPr>
                <a:t>business strategy</a:t>
              </a:r>
              <a:r>
                <a:rPr lang="en-US" sz="1100" dirty="0">
                  <a:latin typeface="Overpass" pitchFamily="2" charset="0"/>
                </a:rPr>
                <a:t>, financial modeling, and go-to-market execution. </a:t>
              </a:r>
            </a:p>
            <a:p>
              <a:pPr marL="171450" indent="-1714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Conducting competitive landscape analysis and defining KPIs for operational growth.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E720D97-3110-CB60-B24C-F3AA2D9C9476}"/>
              </a:ext>
            </a:extLst>
          </p:cNvPr>
          <p:cNvSpPr txBox="1"/>
          <p:nvPr/>
        </p:nvSpPr>
        <p:spPr>
          <a:xfrm>
            <a:off x="176667" y="1127324"/>
            <a:ext cx="725739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>
                <a:latin typeface="Overpass" pitchFamily="2" charset="0"/>
              </a:rPr>
              <a:t>SENIOR PROGRAM &amp; BUSINESS MANAGER B.Sc. Engineering | Executive MBA | Strategic Business Leadership</a:t>
            </a:r>
          </a:p>
        </p:txBody>
      </p:sp>
      <p:sp>
        <p:nvSpPr>
          <p:cNvPr id="16" name="Text Placeholder 52">
            <a:extLst>
              <a:ext uri="{FF2B5EF4-FFF2-40B4-BE49-F238E27FC236}">
                <a16:creationId xmlns:a16="http://schemas.microsoft.com/office/drawing/2014/main" id="{21CF99D9-56A9-5A12-E1B2-4D8E6AC972CE}"/>
              </a:ext>
            </a:extLst>
          </p:cNvPr>
          <p:cNvSpPr txBox="1">
            <a:spLocks/>
          </p:cNvSpPr>
          <p:nvPr/>
        </p:nvSpPr>
        <p:spPr>
          <a:xfrm>
            <a:off x="109992" y="8598418"/>
            <a:ext cx="7257396" cy="7078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ts val="15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sz="120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Military Service 				</a:t>
            </a:r>
            <a:r>
              <a:rPr lang="he-IL" sz="120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it-IT" sz="120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2000 - 2003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 b="1" i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Israeli Air Force | Planning and Control Department</a:t>
            </a:r>
            <a:endParaRPr lang="it-IT" sz="1100" b="1" i="1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100" b="1" i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Command &amp; Control</a:t>
            </a:r>
            <a:r>
              <a:rPr lang="en-US" sz="1100" i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: Oversaw a </a:t>
            </a:r>
            <a:r>
              <a:rPr lang="en-US" sz="1100" b="1" i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27-soldier roster</a:t>
            </a:r>
            <a:r>
              <a:rPr lang="en-US" sz="1100" i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, managing shift planning, operational readiness, and equipment logistics in a high-pressure environment.</a:t>
            </a:r>
            <a:endParaRPr lang="it-IT" sz="1100" i="1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116918</TotalTime>
  <Words>503</Words>
  <Application>Microsoft Office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14</cp:revision>
  <dcterms:created xsi:type="dcterms:W3CDTF">2024-07-25T09:15:15Z</dcterms:created>
  <dcterms:modified xsi:type="dcterms:W3CDTF">2026-01-05T14:04:26Z</dcterms:modified>
</cp:coreProperties>
</file>